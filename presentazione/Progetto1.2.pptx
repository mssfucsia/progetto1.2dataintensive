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7"/>
  </p:notesMasterIdLst>
  <p:sldIdLst>
    <p:sldId id="256" r:id="rId2"/>
    <p:sldId id="283"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8288000" cy="10287000"/>
  <p:notesSz cx="6858000" cy="9144000"/>
  <p:embeddedFontLst>
    <p:embeddedFont>
      <p:font typeface="Almarai" panose="020B0604020202020204" charset="-78"/>
      <p:regular r:id="rId28"/>
    </p:embeddedFont>
    <p:embeddedFont>
      <p:font typeface="Almarai Bold" panose="020B0604020202020204" charset="-78"/>
      <p:regular r:id="rId29"/>
    </p:embeddedFont>
    <p:embeddedFont>
      <p:font typeface="Open Sans" panose="020B0606030504020204" pitchFamily="34" charset="0"/>
      <p:regular r:id="rId30"/>
    </p:embeddedFont>
    <p:embeddedFont>
      <p:font typeface="Open Sans Bold" panose="020B0806030504020204" charset="0"/>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66" d="100"/>
          <a:sy n="66" d="100"/>
        </p:scale>
        <p:origin x="888" y="43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15.09.2026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Buongiorno a tutti. Con questo lavoro presentiamo il threat modeling di una pipeline agentica per un digital human embodied operante in tempo reale. L'obiettivo fondamentale del nostro progetto è analizzare come sia possibile mascherare l'intensa latenza di calcolo tipica dei modelli generativi multimediali senza sacrificare le garanzie di sicurezza. Vedremo come l'approccio agentico dual-brain introduca vettori di attacco del tutto peculiari e come abbiamo strutturato un'architettura sicura per mitigarli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Il caso di studio su cui è applicata la pipeline è Al-Hakima Umm Saif, un avatar embodied che impersona un'anziana figura tradizionale degli Emirati, caratterizzata da un registro linguistico materno ed empatico e dispensatrice di consigli erboristici. Questo elemento di design introduce un fattore critico di sicurezza: l'elevata persuasione e il forte Human-Agent Trust indotto dalla voce clonata e dall'iperrealismo visivo. Se l'avatar viene manipolato, l'utente è psicologicamente incline ad accettare persino prescrizioni sanitarie dannose. L'integrità dei contenuti diventa quindi un requisito di safety primario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L'agenda segue rigorosamente le fasi canoniche di threat modeling. Partiremo dall'inquadramento del contesto applicativo e dalla definizione dello scope. Esamineremo poi l'architettura della pipeline e i confini fiduciari, per formalizzare il nostro Asset Model secondo STRIDE-AI e le proprietà CIA³-R. Mapperemo quindi i rischi sulla tassonomia OWASP Agentic 2026, ne mostreremo la prioritizzazione qualitativa sulla baseline e illustreremo come le Sette Precauzioni intervengano a mitigare i cinque scenari di rischio più critici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Lo scope comprende l'intera pipeline di inferenza, i canali di coordinamento e i servizi multimediali downstream, escludendo interpreti di codice dinamico non presenti nel perimetro. Dal punto di vista metodologico, superiamo la FMEA tradizionale adottando STRIDE-AI, esteso alle sette proprietà del framework CIA³-R per catturare autenticazione, autorizzazione e accountability. I rischi sono strutturati attorno all'OWASP Agentic Top 10 del 2026. È cruciale sottolineare che valutiamo il rischio inerente sulla baseline pura, mentre l'efficacia dei controlli basati sulle Sette Precauzioni definisce la secure architecture e il rischio residuo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Ecco la vista funzionale del sistema. L'input utente viene instradato dal Request Router su due percorsi concorrenti. L'Instant Path elabora i primi token vocali in meno di 800 millisecondi tramite il Fast-Brain, selezionando clip pre-renderizzate di thinking e brevi frasi di filler. Parallelamente, il Background Path esegue la RAG su FAISS con Falcon-7E, invocando Veo 3.1 per il video cinematico e i modelli TTS con lip-sync. Quando il rendering termina, il Video Ready Signal notifica lo Swap Manager: una macchina a stati deterministica che esegue un seamless cut dal filler al video finale senza produrre glitch o salti posturali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Abbiamo identificato sei trust boundary critici. TB1 gestisce l'ingresso da utenti non autenticati. TB2 separa l'edge dallo streaming di token verso i due cervelli. TB3 è il confine più delicato del control plane: protegge l'Orchestratore e lo Swap Manager da messaggi agentici non validati. TB4 isola la Knowledge Base vettoriale per prevenire contaminazioni del contesto. Infine, TB5 e TB6 presidiano l'invocazione dei worker multimediali downstream e la trasmissione finale WebRTC verso l'utente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 13 Data Assets sono clusterizzati in tre macro-gruppi logici. I Flussi Conversazionali (D1-D3, D6) includono l'audio grezzo e i token parziali, soggetti a prompt injection o manomissione. Gli Asset di Identità e Multimediali (D5, D7-D9, D11) custodiscono i file sorgente della personalità e i riferimenti biometrici per la voce clonata, a rischio spoofing. Infine, Conoscenza, Stato e Credenziali (D4, D10, D12-D13) comprendono gli indici vettoriali FAISS, lo stato dello swap e le workload identity, bersagli primari per data poisoning ed escalation di privilegi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Parallelamente, gli 11 Model Assets coprono sia i modelli sia la logica decisionale. Troviamo gli Agenti Decisionali (M1-M3), ovvero Fast-Brain, Deep-Brain e system prompt, esposti a deviazioni di obiettivo. Seguono i Modelli Multimodali Downstream (M4-M8), responsabili di retrieval, sintesi vocale e generazione video. Infine, il Control Plane e Validation Layer (M9-M11), che racchiude Router, Swap Manager e il componente M11: modelliamo M11 già come asset poiché, introducendo guardrail e validazioni, deve essere difeso a sua volta da tentativi di bypass o DoS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Questa tabella sintetizza la copertura completa dell'OWASP Agentic Top 10 2026. Dimostra una mappatura sistematica su tutta la tassonomia: isoliamo chiaramente cinque scenari prioritari — due Critici e tre Alti — mentre categorizziamo minacce come il Tool Misuse o la Cascading Failure come Medie grazie alla sequenza funzionale predeterminata della pipeline. Da notare che ASI05 sulla Unexpected Code Execution risulta formalmente non applicabile, poiché l'architettura esclude a livello di scope qualsiasi interprete dinamico di codice o shell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Per formalizzare la prioritizzazione abbiamo adottato una matrice qualitativa 3x3 basata su Severity e Likelihood applicata alla sola baseline. La Likelihood misura l'accessibilità del vettore e la ripetibilità dell'attacco, distinguendo canali pubblici aperti da canali interni protetti. La Severity valuta l'impatto CIA³-R e include specifici amplificatori agentici: la persistenza del danno cross-sessione e l'effetto persuasivo dell'avatar Al-Hakima. L'incrocio tra queste due dimensioni isola oggettivamente le classi di rischio critiche e alte che richiedono contromisure obbligatorie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La secure architecture traduce i requisiti di sicurezza nelle Sette Precauzioni fondamentali per sistemi agentici. Applichiamo la Least Agency limitando l'autonomia dei due cervelli e isolando le memorie. Interponiamo guardrail deterministici con strict schema e fallback. Separiamo i workload con mTLS e sandboxing deny-by-default. Introduciamo audit log immutabili privi di catene di pensiero interne, verifica continua della supply chain tramite SBOM e AIBOM, monitoraggio runtime con circuit breaker e audit periodici ispirati alla conformità AIVSS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Il primo scenario critico è l'Agent Goal Hijack. Sfruttando l'input vocale aperto, l'attaccante inietta istruzioni malevole anche tramite chunk splitting, ovvero frammentando il payload su più turni di trascrizione parziale. Il Fast-Brain, vincolato alla soglia di 800 ms, esegue l'istruzione deviando filler e gesti; parallelamente il Deep-Brain produce una risposta erboristica tossica poi renderizzata in video. Mitighiamo confinando il Fast-Brain a un'allowlist gestuale chiusa tramite P1, validando gli I/O con guardrail M11 e fallback statico con P2, e isolando i container con RAG read-only tramite P3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Il secondo scenario critico è il Poisoning della memoria. Qui l'obiettivo è la persistenza: tramite ingestione o manipolazione reiterata dei feedback, vengono iniettati vettori avvelenati nell'indice FAISS o nel pool few-shot. L'impatto è subdolo e cross-sessione, poiché colpisce query future di utenti ignari. La mitigazione impone la Least Agency escludendo scritture dirette da parte di M2 e M4, applica rate-limiting sui feedback e revisione Human-in-the-Loop per la salute, rende FAISS read-only nel serving e monitora statisticamente le derive di ranking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Passando agli scenari di rischio Alto, SC3 riguarda l'abuso di identità. Qualora un componente a bassi privilegi come il Fast-Brain venga deviato, la mancanza di verifica contestuale può indurre l'Orchestratore ad agire come confused deputy, ereditando token con scope eccessivo per accedere ai profili biometrici di voce e video. Risolviamo segregando rigorosamente le identità tecniche con P1, imponendo verifiche deterministiche di sessione e job ID su ogni invocazione con P2, e adottando token crittografici short-lived vincolati al singolo task con P3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Nello Scenario 7 affrontiamo manomissioni e replay sui segnali interni. In una pipeline parallela, se l'Orchestratore valida la sola sintassi ma non la freschezza del Video Ready Signal, un messaggio ritardato o duplicato può portare lo Swap Manager ad associare alla sessione il video di un altro utente, con grave violazione di riservatezza. Mitighiamo limitando i permessi di emissione del segnale ai soli worker video con P1, imponendo verifiche di monotonicità e sequence number con P2, e blindando il control plane con mTLS e messaggi firmati per-job</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L'ultimo scenario prioritario integra la dimensione socio-tecnica. Quando una deviazione a monte genera consigli sanitari errati, la voce clonata calda e lo sguardo empatico di Al-Hakima disarmano il senso critico dell'utente, inducendolo ad assumere rimedi nocivi o a cedere dati sensibili. Oltre ai vincoli di dominio con P1 e alla protezione biometrica di P3, la contromisura chiave in P2 risiede in un'ispezione semantica pre-sintesi su M11 affiancata da indicatori visivi e disclaimer continui che ricordano la natura artificiale del sistema, prevenendo l'abuso di fiducia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La secure architecture mantiene la struttura della baseline, ma introduce controlli nei trust boundary principali. M11 valida input e output agentici prima che possano avere effetti downstream. Sessione, job, sequenza e timestamp sono gestiti dall’Orchestratore, mentre la Knowledge Base resta read-only durante il serving. Gli aggiornamenti persistenti seguono un percorso separato e controllato. Il principio chiave è separare il generation plane dall’enforcement plane: i modelli generano contenuti, ma non controllano stato, privilegi o transizioni.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 controlli di sicurezza devono rispettare il vincolo del Fast Path sotto gli 800 ms. Per questo adottiamo un comportamento fail-safe: se una verifica fallisce o supera la deadline, l’output non viene utilizzato. I controlli leggeri restano sul Fast Path, quelli più onerosi vengono spostati sul Background Path o fuori dal percorso real-time. L’obiettivo è quindi ottimizzare la latenza attraverso il corretto posizionamento dei controlli, senza mai eliminarli o bypassarli.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L'ultimo scenario prioritario integra la dimensione socio-tecnica. Quando una deviazione a monte genera consigli sanitari errati, la voce clonata calda e lo sguardo empatico di Al-Hakima disarmano il senso critico dell'utente, inducendolo ad assumere rimedi nocivi o a cedere dati sensibili. Oltre ai vincoli di dominio con P1 e alla protezione biometrica di P3, la contromisura chiave in P2 risiede in un'ispezione semantica pre-sintesi su M11 affiancata da indicatori visivi e disclaimer continui che ricordano la natura artificiale del sistema, prevenendo l'abuso di fiducia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L'ultimo scenario prioritario integra la dimensione socio-tecnica. Quando una deviazione a monte genera consigli sanitari errati, la voce clonata calda e lo sguardo empatico di Al-Hakima disarmano il senso critico dell'utente, inducendolo ad assumere rimedi nocivi o a cedere dati sensibili. Oltre ai vincoli di dominio con P1 e alla protezione biometrica di P3, la contromisura chiave in P2 risiede in un'ispezione semantica pre-sintesi su M11 affiancata da indicatori visivi e disclaimer continui che ricordano la natura artificiale del sistema, prevenendo l'abuso di fiducia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Questa slide mostra il passaggio dal rischio inerente al rischio residuo atteso dopo l’introduzione della secure architecture. In tutti gli scenari la likelihood si riduce, mentre la severity rimane elevata perché un eventuale bypass può ancora produrre conseguenze significative. SC1 resta quindi il rischio residuo più alto, poiché la difesa da input linguistici avversariali dipende anche da controlli semantici probabilistici. È importante sottolineare che questa è una valutazione preliminare, da confermare sperimentalmente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Questa slide evidenzia i principali limiti del lavoro. La secure architecture è definita a livello progettuale, quindi efficacia reale e overhead dei controlli devono ancora essere misurati. Anche la valutazione del rischio è qualitativa e dipende dall’implementazione concreta. Restano inoltre aperte la robustezza dei controlli semantici, la componente socio-tecnica legata alla fiducia dell’utente e il rischio della supply chain. Per questo il threat model deve essere aggiornato insieme all’evoluzione dell’architettura.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 conclusione, il lavoro ha applicato un threat modeling asset-centered alla pipeline Dual-Brain, integrando STRIDE-AI, CIA³-R e OWASP Agentic. L’analisi ha individuato cinque scenari prioritari e ha tradotto le sette precauzioni in una secure architecture con controlli di validazione, isolamento, autorizzazione e fail-safe. Il vincolo real-time viene preservato tramite il corretto posizionamento dei controlli. Infine, il threat model deve essere aggiornato nel tempo, perché la sicurezza resta una proprietà da verificare continuamente.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7.jpe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9.sv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12.sv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oleObject" Target="../embeddings/oleObject1.bin"/></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31E40"/>
        </a:solidFill>
        <a:effectLst/>
      </p:bgPr>
    </p:bg>
    <p:spTree>
      <p:nvGrpSpPr>
        <p:cNvPr id="1" name=""/>
        <p:cNvGrpSpPr/>
        <p:nvPr/>
      </p:nvGrpSpPr>
      <p:grpSpPr>
        <a:xfrm>
          <a:off x="0" y="0"/>
          <a:ext cx="0" cy="0"/>
          <a:chOff x="0" y="0"/>
          <a:chExt cx="0" cy="0"/>
        </a:xfrm>
      </p:grpSpPr>
      <p:sp>
        <p:nvSpPr>
          <p:cNvPr id="2" name="Freeform 2"/>
          <p:cNvSpPr/>
          <p:nvPr/>
        </p:nvSpPr>
        <p:spPr>
          <a:xfrm>
            <a:off x="3789115" y="-1038231"/>
            <a:ext cx="11325231" cy="11325231"/>
          </a:xfrm>
          <a:custGeom>
            <a:avLst/>
            <a:gdLst/>
            <a:ahLst/>
            <a:cxnLst/>
            <a:rect l="l" t="t" r="r" b="b"/>
            <a:pathLst>
              <a:path w="11325231" h="11325231">
                <a:moveTo>
                  <a:pt x="0" y="0"/>
                </a:moveTo>
                <a:lnTo>
                  <a:pt x="11325231" y="0"/>
                </a:lnTo>
                <a:lnTo>
                  <a:pt x="11325231" y="11325231"/>
                </a:lnTo>
                <a:lnTo>
                  <a:pt x="0" y="1132523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it-IT" dirty="0"/>
          </a:p>
        </p:txBody>
      </p:sp>
      <p:grpSp>
        <p:nvGrpSpPr>
          <p:cNvPr id="3" name="Group 3"/>
          <p:cNvGrpSpPr/>
          <p:nvPr/>
        </p:nvGrpSpPr>
        <p:grpSpPr>
          <a:xfrm>
            <a:off x="13654568" y="-781916"/>
            <a:ext cx="9665970" cy="10704007"/>
            <a:chOff x="0" y="0"/>
            <a:chExt cx="12887960" cy="14272010"/>
          </a:xfrm>
        </p:grpSpPr>
        <p:sp>
          <p:nvSpPr>
            <p:cNvPr id="4" name="Freeform 4"/>
            <p:cNvSpPr/>
            <p:nvPr/>
          </p:nvSpPr>
          <p:spPr>
            <a:xfrm>
              <a:off x="1215162" y="387099"/>
              <a:ext cx="11672798" cy="11672798"/>
            </a:xfrm>
            <a:custGeom>
              <a:avLst/>
              <a:gdLst/>
              <a:ahLst/>
              <a:cxnLst/>
              <a:rect l="l" t="t" r="r" b="b"/>
              <a:pathLst>
                <a:path w="11672798" h="11672798">
                  <a:moveTo>
                    <a:pt x="0" y="0"/>
                  </a:moveTo>
                  <a:lnTo>
                    <a:pt x="11672798" y="0"/>
                  </a:lnTo>
                  <a:lnTo>
                    <a:pt x="11672798" y="11672798"/>
                  </a:lnTo>
                  <a:lnTo>
                    <a:pt x="0" y="11672798"/>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it-IT"/>
            </a:p>
          </p:txBody>
        </p:sp>
        <p:grpSp>
          <p:nvGrpSpPr>
            <p:cNvPr id="5" name="Group 5"/>
            <p:cNvGrpSpPr/>
            <p:nvPr/>
          </p:nvGrpSpPr>
          <p:grpSpPr>
            <a:xfrm rot="-10800000">
              <a:off x="0" y="9386896"/>
              <a:ext cx="3419580" cy="4885114"/>
              <a:chOff x="0" y="0"/>
              <a:chExt cx="4445000" cy="6350000"/>
            </a:xfrm>
          </p:grpSpPr>
          <p:sp>
            <p:nvSpPr>
              <p:cNvPr id="6" name="Freeform 6"/>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stretch>
                  <a:fillRect l="-201730" r="-201730"/>
                </a:stretch>
              </a:blipFill>
            </p:spPr>
            <p:txBody>
              <a:bodyPr/>
              <a:lstStyle/>
              <a:p>
                <a:endParaRPr lang="it-IT"/>
              </a:p>
            </p:txBody>
          </p:sp>
        </p:grpSp>
        <p:grpSp>
          <p:nvGrpSpPr>
            <p:cNvPr id="7" name="Group 7"/>
            <p:cNvGrpSpPr/>
            <p:nvPr/>
          </p:nvGrpSpPr>
          <p:grpSpPr>
            <a:xfrm>
              <a:off x="2812520" y="0"/>
              <a:ext cx="2245310" cy="3207586"/>
              <a:chOff x="0" y="0"/>
              <a:chExt cx="4445000" cy="6350000"/>
            </a:xfrm>
          </p:grpSpPr>
          <p:sp>
            <p:nvSpPr>
              <p:cNvPr id="8" name="Freeform 8"/>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stretch>
                  <a:fillRect l="-201730" r="-201730"/>
                </a:stretch>
              </a:blipFill>
            </p:spPr>
            <p:txBody>
              <a:bodyPr/>
              <a:lstStyle/>
              <a:p>
                <a:endParaRPr lang="it-IT"/>
              </a:p>
            </p:txBody>
          </p:sp>
        </p:grpSp>
        <p:grpSp>
          <p:nvGrpSpPr>
            <p:cNvPr id="9" name="Group 9"/>
            <p:cNvGrpSpPr/>
            <p:nvPr/>
          </p:nvGrpSpPr>
          <p:grpSpPr>
            <a:xfrm rot="5400000">
              <a:off x="3935175" y="5662170"/>
              <a:ext cx="1122655" cy="1122655"/>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l="-126211" r="-126211"/>
                </a:stretch>
              </a:blipFill>
            </p:spPr>
            <p:txBody>
              <a:bodyPr/>
              <a:lstStyle/>
              <a:p>
                <a:endParaRPr lang="it-IT"/>
              </a:p>
            </p:txBody>
          </p:sp>
        </p:grpSp>
      </p:grpSp>
      <p:sp>
        <p:nvSpPr>
          <p:cNvPr id="11" name="Freeform 11"/>
          <p:cNvSpPr/>
          <p:nvPr/>
        </p:nvSpPr>
        <p:spPr>
          <a:xfrm>
            <a:off x="-5976625" y="4306703"/>
            <a:ext cx="8754599" cy="8754599"/>
          </a:xfrm>
          <a:custGeom>
            <a:avLst/>
            <a:gdLst/>
            <a:ahLst/>
            <a:cxnLst/>
            <a:rect l="l" t="t" r="r" b="b"/>
            <a:pathLst>
              <a:path w="8754599" h="8754599">
                <a:moveTo>
                  <a:pt x="0" y="0"/>
                </a:moveTo>
                <a:lnTo>
                  <a:pt x="8754599" y="0"/>
                </a:lnTo>
                <a:lnTo>
                  <a:pt x="8754599" y="8754599"/>
                </a:lnTo>
                <a:lnTo>
                  <a:pt x="0" y="875459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it-IT"/>
          </a:p>
        </p:txBody>
      </p:sp>
      <p:sp>
        <p:nvSpPr>
          <p:cNvPr id="12" name="TextBox 12"/>
          <p:cNvSpPr txBox="1"/>
          <p:nvPr/>
        </p:nvSpPr>
        <p:spPr>
          <a:xfrm>
            <a:off x="3619576" y="3913024"/>
            <a:ext cx="11048848" cy="2394278"/>
          </a:xfrm>
          <a:prstGeom prst="rect">
            <a:avLst/>
          </a:prstGeom>
        </p:spPr>
        <p:txBody>
          <a:bodyPr lIns="0" tIns="0" rIns="0" bIns="0" rtlCol="0" anchor="t">
            <a:spAutoFit/>
          </a:bodyPr>
          <a:lstStyle/>
          <a:p>
            <a:pPr algn="ctr">
              <a:lnSpc>
                <a:spcPts val="5339"/>
              </a:lnSpc>
              <a:spcBef>
                <a:spcPct val="0"/>
              </a:spcBef>
            </a:pPr>
            <a:r>
              <a:rPr lang="en-US" sz="3869" b="1">
                <a:solidFill>
                  <a:srgbClr val="FFFFFF"/>
                </a:solidFill>
                <a:latin typeface="Almarai Bold"/>
                <a:ea typeface="Almarai Bold"/>
                <a:cs typeface="Almarai Bold"/>
                <a:sym typeface="Almarai Bold"/>
              </a:rPr>
              <a:t>Threat Modeling di una Agentic Filler Pipeline per Digital Human in Tempo Reale</a:t>
            </a:r>
          </a:p>
        </p:txBody>
      </p:sp>
      <p:grpSp>
        <p:nvGrpSpPr>
          <p:cNvPr id="13" name="Group 13"/>
          <p:cNvGrpSpPr/>
          <p:nvPr/>
        </p:nvGrpSpPr>
        <p:grpSpPr>
          <a:xfrm rot="-10800000">
            <a:off x="1834030" y="6317527"/>
            <a:ext cx="2564685" cy="3663835"/>
            <a:chOff x="0" y="0"/>
            <a:chExt cx="4445000" cy="6350000"/>
          </a:xfrm>
        </p:grpSpPr>
        <p:sp>
          <p:nvSpPr>
            <p:cNvPr id="14" name="Freeform 14"/>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stretch>
                <a:fillRect l="-201730" r="-201730"/>
              </a:stretch>
            </a:blipFill>
          </p:spPr>
          <p:txBody>
            <a:bodyPr/>
            <a:lstStyle/>
            <a:p>
              <a:endParaRPr lang="it-IT"/>
            </a:p>
          </p:txBody>
        </p:sp>
      </p:grpSp>
      <p:grpSp>
        <p:nvGrpSpPr>
          <p:cNvPr id="15" name="Group 15"/>
          <p:cNvGrpSpPr/>
          <p:nvPr/>
        </p:nvGrpSpPr>
        <p:grpSpPr>
          <a:xfrm>
            <a:off x="992039" y="-622814"/>
            <a:ext cx="1683983" cy="2405689"/>
            <a:chOff x="0" y="0"/>
            <a:chExt cx="4445000" cy="6350000"/>
          </a:xfrm>
        </p:grpSpPr>
        <p:sp>
          <p:nvSpPr>
            <p:cNvPr id="16" name="Freeform 16"/>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4"/>
              <a:stretch>
                <a:fillRect l="-201730" r="-201730"/>
              </a:stretch>
            </a:blipFill>
          </p:spPr>
          <p:txBody>
            <a:bodyPr/>
            <a:lstStyle/>
            <a:p>
              <a:endParaRPr lang="it-IT"/>
            </a:p>
          </p:txBody>
        </p:sp>
      </p:grpSp>
      <p:grpSp>
        <p:nvGrpSpPr>
          <p:cNvPr id="17" name="Group 17"/>
          <p:cNvGrpSpPr/>
          <p:nvPr/>
        </p:nvGrpSpPr>
        <p:grpSpPr>
          <a:xfrm rot="-5400000">
            <a:off x="1125128" y="3629206"/>
            <a:ext cx="841991" cy="841991"/>
            <a:chOff x="0" y="0"/>
            <a:chExt cx="812800" cy="812800"/>
          </a:xfrm>
        </p:grpSpPr>
        <p:sp>
          <p:nvSpPr>
            <p:cNvPr id="18" name="Freeform 1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l="-126211" r="-126211"/>
              </a:stretch>
            </a:blipFill>
          </p:spPr>
          <p:txBody>
            <a:bodyPr/>
            <a:lstStyle/>
            <a:p>
              <a:endParaRPr lang="it-IT"/>
            </a:p>
          </p:txBody>
        </p:sp>
      </p:grpSp>
      <p:sp>
        <p:nvSpPr>
          <p:cNvPr id="19" name="TextBox 19"/>
          <p:cNvSpPr txBox="1"/>
          <p:nvPr/>
        </p:nvSpPr>
        <p:spPr>
          <a:xfrm>
            <a:off x="1082214" y="8838483"/>
            <a:ext cx="5697520" cy="335669"/>
          </a:xfrm>
          <a:prstGeom prst="rect">
            <a:avLst/>
          </a:prstGeom>
        </p:spPr>
        <p:txBody>
          <a:bodyPr wrap="square" lIns="0" tIns="0" rIns="0" bIns="0" rtlCol="0" anchor="t">
            <a:spAutoFit/>
          </a:bodyPr>
          <a:lstStyle/>
          <a:p>
            <a:pPr algn="just">
              <a:lnSpc>
                <a:spcPts val="2808"/>
              </a:lnSpc>
            </a:pPr>
            <a:r>
              <a:rPr lang="en-US" sz="2006" dirty="0">
                <a:solidFill>
                  <a:srgbClr val="FFFFFF"/>
                </a:solidFill>
                <a:latin typeface="Open Sans"/>
                <a:ea typeface="Open Sans"/>
                <a:cs typeface="Open Sans"/>
                <a:sym typeface="Open Sans"/>
              </a:rPr>
              <a:t>Alessio Bonora 84534A - Marta </a:t>
            </a:r>
            <a:r>
              <a:rPr lang="en-US" sz="2006" dirty="0" err="1">
                <a:solidFill>
                  <a:srgbClr val="FFFFFF"/>
                </a:solidFill>
                <a:latin typeface="Open Sans"/>
                <a:ea typeface="Open Sans"/>
                <a:cs typeface="Open Sans"/>
                <a:sym typeface="Open Sans"/>
              </a:rPr>
              <a:t>Finazzi</a:t>
            </a:r>
            <a:r>
              <a:rPr lang="en-US" sz="2006" dirty="0">
                <a:solidFill>
                  <a:srgbClr val="FFFFFF"/>
                </a:solidFill>
                <a:latin typeface="Open Sans"/>
                <a:ea typeface="Open Sans"/>
                <a:cs typeface="Open Sans"/>
                <a:sym typeface="Open Sans"/>
              </a:rPr>
              <a:t> 84401A</a:t>
            </a:r>
          </a:p>
        </p:txBody>
      </p:sp>
      <p:sp>
        <p:nvSpPr>
          <p:cNvPr id="20" name="TextBox 20"/>
          <p:cNvSpPr txBox="1"/>
          <p:nvPr/>
        </p:nvSpPr>
        <p:spPr>
          <a:xfrm>
            <a:off x="14985927" y="8838483"/>
            <a:ext cx="2273373" cy="419817"/>
          </a:xfrm>
          <a:prstGeom prst="rect">
            <a:avLst/>
          </a:prstGeom>
        </p:spPr>
        <p:txBody>
          <a:bodyPr lIns="0" tIns="0" rIns="0" bIns="0" rtlCol="0" anchor="t">
            <a:spAutoFit/>
          </a:bodyPr>
          <a:lstStyle/>
          <a:p>
            <a:pPr algn="just">
              <a:lnSpc>
                <a:spcPts val="2808"/>
              </a:lnSpc>
            </a:pPr>
            <a:r>
              <a:rPr lang="en-US" sz="2006">
                <a:solidFill>
                  <a:srgbClr val="FFFFFF"/>
                </a:solidFill>
                <a:latin typeface="Open Sans"/>
                <a:ea typeface="Open Sans"/>
                <a:cs typeface="Open Sans"/>
                <a:sym typeface="Open Sans"/>
              </a:rPr>
              <a:t>Settembre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a:extLst>
            <a:ext uri="{FF2B5EF4-FFF2-40B4-BE49-F238E27FC236}">
              <a16:creationId xmlns:a16="http://schemas.microsoft.com/office/drawing/2014/main" id="{5EE0D10E-AD44-1A56-278B-BBE3C13618B4}"/>
            </a:ext>
          </a:extLst>
        </p:cNvPr>
        <p:cNvGrpSpPr/>
        <p:nvPr/>
      </p:nvGrpSpPr>
      <p:grpSpPr>
        <a:xfrm>
          <a:off x="0" y="0"/>
          <a:ext cx="0" cy="0"/>
          <a:chOff x="0" y="0"/>
          <a:chExt cx="0" cy="0"/>
        </a:xfrm>
      </p:grpSpPr>
      <p:sp>
        <p:nvSpPr>
          <p:cNvPr id="76" name="Shape 0">
            <a:extLst>
              <a:ext uri="{FF2B5EF4-FFF2-40B4-BE49-F238E27FC236}">
                <a16:creationId xmlns:a16="http://schemas.microsoft.com/office/drawing/2014/main" id="{55764D91-B5EA-7A25-D403-A64DD99FF3CF}"/>
              </a:ext>
            </a:extLst>
          </p:cNvPr>
          <p:cNvSpPr/>
          <p:nvPr/>
        </p:nvSpPr>
        <p:spPr>
          <a:xfrm>
            <a:off x="0" y="0"/>
            <a:ext cx="4251960" cy="10287000"/>
          </a:xfrm>
          <a:prstGeom prst="rect">
            <a:avLst/>
          </a:prstGeom>
          <a:solidFill>
            <a:srgbClr val="092B4D">
              <a:alpha val="96000"/>
            </a:srgbClr>
          </a:solidFill>
          <a:ln w="12700">
            <a:solidFill>
              <a:srgbClr val="092B4D">
                <a:alpha val="0"/>
              </a:srgbClr>
            </a:solidFill>
            <a:prstDash val="solid"/>
          </a:ln>
        </p:spPr>
        <p:txBody>
          <a:bodyPr/>
          <a:lstStyle/>
          <a:p>
            <a:endParaRPr lang="it-IT"/>
          </a:p>
        </p:txBody>
      </p:sp>
      <p:sp>
        <p:nvSpPr>
          <p:cNvPr id="78" name="Shape 1">
            <a:extLst>
              <a:ext uri="{FF2B5EF4-FFF2-40B4-BE49-F238E27FC236}">
                <a16:creationId xmlns:a16="http://schemas.microsoft.com/office/drawing/2014/main" id="{F3848F4E-7D2F-E8D9-938A-90C73591137C}"/>
              </a:ext>
            </a:extLst>
          </p:cNvPr>
          <p:cNvSpPr/>
          <p:nvPr/>
        </p:nvSpPr>
        <p:spPr>
          <a:xfrm>
            <a:off x="4183380" y="1097280"/>
            <a:ext cx="48006" cy="8161020"/>
          </a:xfrm>
          <a:prstGeom prst="rect">
            <a:avLst/>
          </a:prstGeom>
          <a:solidFill>
            <a:srgbClr val="22E0C3"/>
          </a:solidFill>
          <a:ln w="12700">
            <a:solidFill>
              <a:srgbClr val="22E0C3">
                <a:alpha val="0"/>
              </a:srgbClr>
            </a:solidFill>
            <a:prstDash val="solid"/>
          </a:ln>
        </p:spPr>
        <p:txBody>
          <a:bodyPr/>
          <a:lstStyle/>
          <a:p>
            <a:endParaRPr lang="it-IT"/>
          </a:p>
        </p:txBody>
      </p:sp>
      <p:sp>
        <p:nvSpPr>
          <p:cNvPr id="80" name="Shape 2">
            <a:extLst>
              <a:ext uri="{FF2B5EF4-FFF2-40B4-BE49-F238E27FC236}">
                <a16:creationId xmlns:a16="http://schemas.microsoft.com/office/drawing/2014/main" id="{9D61E4D3-0764-A8CF-239C-CD80502D2766}"/>
              </a:ext>
            </a:extLst>
          </p:cNvPr>
          <p:cNvSpPr/>
          <p:nvPr/>
        </p:nvSpPr>
        <p:spPr>
          <a:xfrm>
            <a:off x="4251960" y="1097280"/>
            <a:ext cx="13716" cy="8161020"/>
          </a:xfrm>
          <a:prstGeom prst="rect">
            <a:avLst/>
          </a:prstGeom>
          <a:solidFill>
            <a:srgbClr val="FFFFFF">
              <a:alpha val="35000"/>
            </a:srgbClr>
          </a:solidFill>
          <a:ln w="12700">
            <a:solidFill>
              <a:srgbClr val="FFFFFF">
                <a:alpha val="0"/>
              </a:srgbClr>
            </a:solidFill>
            <a:prstDash val="solid"/>
          </a:ln>
        </p:spPr>
        <p:txBody>
          <a:bodyPr/>
          <a:lstStyle/>
          <a:p>
            <a:endParaRPr lang="it-IT"/>
          </a:p>
        </p:txBody>
      </p:sp>
      <p:sp>
        <p:nvSpPr>
          <p:cNvPr id="82" name="Text 3">
            <a:extLst>
              <a:ext uri="{FF2B5EF4-FFF2-40B4-BE49-F238E27FC236}">
                <a16:creationId xmlns:a16="http://schemas.microsoft.com/office/drawing/2014/main" id="{14617154-382A-4E42-2F58-7BF1FC29CA13}"/>
              </a:ext>
            </a:extLst>
          </p:cNvPr>
          <p:cNvSpPr/>
          <p:nvPr/>
        </p:nvSpPr>
        <p:spPr>
          <a:xfrm>
            <a:off x="754380" y="3497580"/>
            <a:ext cx="3086100" cy="754380"/>
          </a:xfrm>
          <a:prstGeom prst="rect">
            <a:avLst/>
          </a:prstGeom>
          <a:noFill/>
          <a:ln/>
        </p:spPr>
        <p:txBody>
          <a:bodyPr wrap="square" lIns="0" tIns="0" rIns="0" bIns="0" rtlCol="0" anchor="ctr">
            <a:normAutofit/>
          </a:bodyPr>
          <a:lstStyle/>
          <a:p>
            <a:r>
              <a:rPr lang="en-US" sz="4500" b="1" dirty="0">
                <a:solidFill>
                  <a:srgbClr val="FFFFFF"/>
                </a:solidFill>
                <a:latin typeface="Aptos Display" pitchFamily="34" charset="0"/>
                <a:ea typeface="Aptos Display" pitchFamily="34" charset="-122"/>
                <a:cs typeface="Aptos Display" pitchFamily="34" charset="-120"/>
              </a:rPr>
              <a:t>OVERVIEW</a:t>
            </a:r>
            <a:endParaRPr lang="en-US" sz="4500" dirty="0"/>
          </a:p>
        </p:txBody>
      </p:sp>
      <p:sp>
        <p:nvSpPr>
          <p:cNvPr id="84" name="Text 4">
            <a:extLst>
              <a:ext uri="{FF2B5EF4-FFF2-40B4-BE49-F238E27FC236}">
                <a16:creationId xmlns:a16="http://schemas.microsoft.com/office/drawing/2014/main" id="{E8F98EEF-CF1C-B9DE-0CD0-39D7D787513A}"/>
              </a:ext>
            </a:extLst>
          </p:cNvPr>
          <p:cNvSpPr/>
          <p:nvPr/>
        </p:nvSpPr>
        <p:spPr>
          <a:xfrm>
            <a:off x="795528" y="4416552"/>
            <a:ext cx="3017520" cy="850392"/>
          </a:xfrm>
          <a:prstGeom prst="rect">
            <a:avLst/>
          </a:prstGeom>
          <a:noFill/>
          <a:ln/>
        </p:spPr>
        <p:txBody>
          <a:bodyPr wrap="square" lIns="0" tIns="0" rIns="0" bIns="0" rtlCol="0" anchor="ctr">
            <a:normAutofit/>
          </a:bodyPr>
          <a:lstStyle/>
          <a:p>
            <a:r>
              <a:rPr lang="en-US" sz="2025" dirty="0">
                <a:solidFill>
                  <a:srgbClr val="9DB9CE"/>
                </a:solidFill>
                <a:latin typeface="Aptos" pitchFamily="34" charset="0"/>
                <a:ea typeface="Aptos" pitchFamily="34" charset="-122"/>
                <a:cs typeface="Aptos" pitchFamily="34" charset="-120"/>
              </a:rPr>
              <a:t>Dalla pipeline alla</a:t>
            </a:r>
            <a:endParaRPr lang="en-US" sz="2025" dirty="0"/>
          </a:p>
          <a:p>
            <a:r>
              <a:rPr lang="en-US" sz="2025" dirty="0">
                <a:solidFill>
                  <a:srgbClr val="9DB9CE"/>
                </a:solidFill>
                <a:latin typeface="Aptos" pitchFamily="34" charset="0"/>
                <a:ea typeface="Aptos" pitchFamily="34" charset="-122"/>
                <a:cs typeface="Aptos" pitchFamily="34" charset="-120"/>
              </a:rPr>
              <a:t>secure architecture</a:t>
            </a:r>
            <a:endParaRPr lang="en-US" sz="2025" dirty="0"/>
          </a:p>
        </p:txBody>
      </p:sp>
      <p:sp>
        <p:nvSpPr>
          <p:cNvPr id="86" name="Shape 5">
            <a:extLst>
              <a:ext uri="{FF2B5EF4-FFF2-40B4-BE49-F238E27FC236}">
                <a16:creationId xmlns:a16="http://schemas.microsoft.com/office/drawing/2014/main" id="{7026BBF3-F715-5A83-97E9-BF7141FFD868}"/>
              </a:ext>
            </a:extLst>
          </p:cNvPr>
          <p:cNvSpPr/>
          <p:nvPr/>
        </p:nvSpPr>
        <p:spPr>
          <a:xfrm>
            <a:off x="795528" y="5513832"/>
            <a:ext cx="2263140" cy="0"/>
          </a:xfrm>
          <a:prstGeom prst="line">
            <a:avLst/>
          </a:prstGeom>
          <a:noFill/>
          <a:ln w="17780">
            <a:solidFill>
              <a:srgbClr val="22E0C3"/>
            </a:solidFill>
            <a:prstDash val="solid"/>
          </a:ln>
        </p:spPr>
        <p:txBody>
          <a:bodyPr/>
          <a:lstStyle/>
          <a:p>
            <a:endParaRPr lang="it-IT"/>
          </a:p>
        </p:txBody>
      </p:sp>
      <p:sp>
        <p:nvSpPr>
          <p:cNvPr id="88" name="Text 6">
            <a:extLst>
              <a:ext uri="{FF2B5EF4-FFF2-40B4-BE49-F238E27FC236}">
                <a16:creationId xmlns:a16="http://schemas.microsoft.com/office/drawing/2014/main" id="{A4E61D29-9436-CBB6-EF83-BEDF617909E6}"/>
              </a:ext>
            </a:extLst>
          </p:cNvPr>
          <p:cNvSpPr/>
          <p:nvPr/>
        </p:nvSpPr>
        <p:spPr>
          <a:xfrm>
            <a:off x="4732020" y="713232"/>
            <a:ext cx="11521440" cy="521208"/>
          </a:xfrm>
          <a:prstGeom prst="rect">
            <a:avLst/>
          </a:prstGeom>
          <a:noFill/>
          <a:ln/>
        </p:spPr>
        <p:txBody>
          <a:bodyPr wrap="square" lIns="0" tIns="0" rIns="0" bIns="0" rtlCol="0" anchor="ctr"/>
          <a:lstStyle/>
          <a:p>
            <a:r>
              <a:rPr lang="en-US" sz="3450" b="1" dirty="0">
                <a:solidFill>
                  <a:srgbClr val="FFFFFF"/>
                </a:solidFill>
                <a:latin typeface="Aptos Display" pitchFamily="34" charset="0"/>
                <a:ea typeface="Aptos Display" pitchFamily="34" charset="-122"/>
                <a:cs typeface="Aptos Display" pitchFamily="34" charset="-120"/>
              </a:rPr>
              <a:t>Percorso della presentazione</a:t>
            </a:r>
            <a:endParaRPr lang="en-US" sz="3450" dirty="0"/>
          </a:p>
        </p:txBody>
      </p:sp>
      <p:sp>
        <p:nvSpPr>
          <p:cNvPr id="90" name="Text 7">
            <a:extLst>
              <a:ext uri="{FF2B5EF4-FFF2-40B4-BE49-F238E27FC236}">
                <a16:creationId xmlns:a16="http://schemas.microsoft.com/office/drawing/2014/main" id="{D1CABA6B-AE33-A4A4-A123-BD34EBB04EFF}"/>
              </a:ext>
            </a:extLst>
          </p:cNvPr>
          <p:cNvSpPr/>
          <p:nvPr/>
        </p:nvSpPr>
        <p:spPr>
          <a:xfrm>
            <a:off x="4745736" y="1316736"/>
            <a:ext cx="12070080" cy="384048"/>
          </a:xfrm>
          <a:prstGeom prst="rect">
            <a:avLst/>
          </a:prstGeom>
          <a:noFill/>
          <a:ln/>
        </p:spPr>
        <p:txBody>
          <a:bodyPr wrap="square" lIns="0" tIns="0" rIns="0" bIns="0" rtlCol="0" anchor="ctr"/>
          <a:lstStyle/>
          <a:p>
            <a:r>
              <a:rPr lang="en-US" sz="1920" dirty="0">
                <a:solidFill>
                  <a:srgbClr val="9DB9CE"/>
                </a:solidFill>
                <a:latin typeface="Aptos" pitchFamily="34" charset="0"/>
                <a:ea typeface="Aptos" pitchFamily="34" charset="-122"/>
                <a:cs typeface="Aptos" pitchFamily="34" charset="-120"/>
              </a:rPr>
              <a:t>Quattro fasi per collegare contesto, minacce, mitigazioni e validazione.</a:t>
            </a:r>
            <a:endParaRPr lang="en-US" sz="1920" dirty="0"/>
          </a:p>
        </p:txBody>
      </p:sp>
      <p:sp>
        <p:nvSpPr>
          <p:cNvPr id="92" name="Shape 8">
            <a:extLst>
              <a:ext uri="{FF2B5EF4-FFF2-40B4-BE49-F238E27FC236}">
                <a16:creationId xmlns:a16="http://schemas.microsoft.com/office/drawing/2014/main" id="{5412B2A2-1227-7A6F-ABC2-252E86DD2042}"/>
              </a:ext>
            </a:extLst>
          </p:cNvPr>
          <p:cNvSpPr/>
          <p:nvPr/>
        </p:nvSpPr>
        <p:spPr>
          <a:xfrm>
            <a:off x="5856732" y="2290572"/>
            <a:ext cx="2029968" cy="0"/>
          </a:xfrm>
          <a:prstGeom prst="line">
            <a:avLst/>
          </a:prstGeom>
          <a:noFill/>
          <a:ln w="17780">
            <a:solidFill>
              <a:srgbClr val="3B6E94">
                <a:alpha val="85000"/>
              </a:srgbClr>
            </a:solidFill>
            <a:prstDash val="solid"/>
          </a:ln>
        </p:spPr>
        <p:txBody>
          <a:bodyPr/>
          <a:lstStyle/>
          <a:p>
            <a:endParaRPr lang="it-IT"/>
          </a:p>
        </p:txBody>
      </p:sp>
      <p:sp>
        <p:nvSpPr>
          <p:cNvPr id="94" name="Shape 9">
            <a:extLst>
              <a:ext uri="{FF2B5EF4-FFF2-40B4-BE49-F238E27FC236}">
                <a16:creationId xmlns:a16="http://schemas.microsoft.com/office/drawing/2014/main" id="{D6EA9EC1-7E2A-7AC0-2853-9E689B27D8C4}"/>
              </a:ext>
            </a:extLst>
          </p:cNvPr>
          <p:cNvSpPr/>
          <p:nvPr/>
        </p:nvSpPr>
        <p:spPr>
          <a:xfrm>
            <a:off x="9011412" y="2290572"/>
            <a:ext cx="2029968" cy="0"/>
          </a:xfrm>
          <a:prstGeom prst="line">
            <a:avLst/>
          </a:prstGeom>
          <a:noFill/>
          <a:ln w="17780">
            <a:solidFill>
              <a:srgbClr val="3B6E94">
                <a:alpha val="85000"/>
              </a:srgbClr>
            </a:solidFill>
            <a:prstDash val="solid"/>
          </a:ln>
        </p:spPr>
        <p:txBody>
          <a:bodyPr/>
          <a:lstStyle/>
          <a:p>
            <a:endParaRPr lang="it-IT"/>
          </a:p>
        </p:txBody>
      </p:sp>
      <p:sp>
        <p:nvSpPr>
          <p:cNvPr id="96" name="Shape 10">
            <a:extLst>
              <a:ext uri="{FF2B5EF4-FFF2-40B4-BE49-F238E27FC236}">
                <a16:creationId xmlns:a16="http://schemas.microsoft.com/office/drawing/2014/main" id="{0FF467FB-B8F3-37DF-A1C0-2C66D09F35A3}"/>
              </a:ext>
            </a:extLst>
          </p:cNvPr>
          <p:cNvSpPr/>
          <p:nvPr/>
        </p:nvSpPr>
        <p:spPr>
          <a:xfrm>
            <a:off x="12166092" y="2290572"/>
            <a:ext cx="2029968" cy="0"/>
          </a:xfrm>
          <a:prstGeom prst="line">
            <a:avLst/>
          </a:prstGeom>
          <a:noFill/>
          <a:ln w="17780">
            <a:solidFill>
              <a:srgbClr val="3B6E94">
                <a:alpha val="85000"/>
              </a:srgbClr>
            </a:solidFill>
            <a:prstDash val="solid"/>
          </a:ln>
        </p:spPr>
        <p:txBody>
          <a:bodyPr/>
          <a:lstStyle/>
          <a:p>
            <a:endParaRPr lang="it-IT"/>
          </a:p>
        </p:txBody>
      </p:sp>
      <p:sp>
        <p:nvSpPr>
          <p:cNvPr id="98" name="Shape 11">
            <a:extLst>
              <a:ext uri="{FF2B5EF4-FFF2-40B4-BE49-F238E27FC236}">
                <a16:creationId xmlns:a16="http://schemas.microsoft.com/office/drawing/2014/main" id="{1A5B383A-95B8-A5CC-37A1-5D3379E585C0}"/>
              </a:ext>
            </a:extLst>
          </p:cNvPr>
          <p:cNvSpPr/>
          <p:nvPr/>
        </p:nvSpPr>
        <p:spPr>
          <a:xfrm>
            <a:off x="4869180" y="1865376"/>
            <a:ext cx="850392" cy="850392"/>
          </a:xfrm>
          <a:prstGeom prst="ellipse">
            <a:avLst/>
          </a:prstGeom>
          <a:solidFill>
            <a:srgbClr val="22E0C3"/>
          </a:solidFill>
          <a:ln w="12700">
            <a:solidFill>
              <a:srgbClr val="22E0C3"/>
            </a:solidFill>
            <a:prstDash val="solid"/>
          </a:ln>
          <a:effectLst>
            <a:outerShdw blurRad="25400" dist="12700" dir="2700000" algn="bl" rotWithShape="0">
              <a:srgbClr val="000000">
                <a:alpha val="22000"/>
              </a:srgbClr>
            </a:outerShdw>
          </a:effectLst>
        </p:spPr>
        <p:txBody>
          <a:bodyPr/>
          <a:lstStyle/>
          <a:p>
            <a:endParaRPr lang="it-IT"/>
          </a:p>
        </p:txBody>
      </p:sp>
      <p:sp>
        <p:nvSpPr>
          <p:cNvPr id="100" name="Text 12">
            <a:extLst>
              <a:ext uri="{FF2B5EF4-FFF2-40B4-BE49-F238E27FC236}">
                <a16:creationId xmlns:a16="http://schemas.microsoft.com/office/drawing/2014/main" id="{8BA12F9A-97A1-3954-73B8-09711529870D}"/>
              </a:ext>
            </a:extLst>
          </p:cNvPr>
          <p:cNvSpPr/>
          <p:nvPr/>
        </p:nvSpPr>
        <p:spPr>
          <a:xfrm>
            <a:off x="4896612" y="2071116"/>
            <a:ext cx="795528" cy="342900"/>
          </a:xfrm>
          <a:prstGeom prst="rect">
            <a:avLst/>
          </a:prstGeom>
          <a:noFill/>
          <a:ln/>
        </p:spPr>
        <p:txBody>
          <a:bodyPr wrap="square" lIns="0" tIns="0" rIns="0" bIns="0" rtlCol="0" anchor="ctr">
            <a:normAutofit/>
          </a:bodyPr>
          <a:lstStyle/>
          <a:p>
            <a:pPr algn="ctr"/>
            <a:r>
              <a:rPr lang="en-US" sz="2130" b="1" dirty="0">
                <a:solidFill>
                  <a:srgbClr val="061C33"/>
                </a:solidFill>
                <a:latin typeface="Aptos" pitchFamily="34" charset="0"/>
                <a:ea typeface="Aptos" pitchFamily="34" charset="-122"/>
                <a:cs typeface="Aptos" pitchFamily="34" charset="-120"/>
              </a:rPr>
              <a:t>01</a:t>
            </a:r>
            <a:endParaRPr lang="en-US" sz="2130" dirty="0"/>
          </a:p>
        </p:txBody>
      </p:sp>
      <p:sp>
        <p:nvSpPr>
          <p:cNvPr id="102" name="Shape 13">
            <a:extLst>
              <a:ext uri="{FF2B5EF4-FFF2-40B4-BE49-F238E27FC236}">
                <a16:creationId xmlns:a16="http://schemas.microsoft.com/office/drawing/2014/main" id="{6C098ABE-B6D4-FE8E-94AE-4D83C9E18330}"/>
              </a:ext>
            </a:extLst>
          </p:cNvPr>
          <p:cNvSpPr/>
          <p:nvPr/>
        </p:nvSpPr>
        <p:spPr>
          <a:xfrm>
            <a:off x="4622292" y="3086100"/>
            <a:ext cx="2811780" cy="5047488"/>
          </a:xfrm>
          <a:prstGeom prst="roundRect">
            <a:avLst>
              <a:gd name="adj" fmla="val 5854"/>
            </a:avLst>
          </a:prstGeom>
          <a:solidFill>
            <a:srgbClr val="0A2A49">
              <a:alpha val="90000"/>
            </a:srgbClr>
          </a:solidFill>
          <a:ln w="9525">
            <a:solidFill>
              <a:srgbClr val="244B6F">
                <a:alpha val="65000"/>
              </a:srgbClr>
            </a:solidFill>
            <a:prstDash val="solid"/>
          </a:ln>
          <a:effectLst>
            <a:outerShdw blurRad="25400" dist="12700" dir="2700000" algn="bl" rotWithShape="0">
              <a:srgbClr val="000000">
                <a:alpha val="16000"/>
              </a:srgbClr>
            </a:outerShdw>
          </a:effectLst>
        </p:spPr>
        <p:txBody>
          <a:bodyPr/>
          <a:lstStyle/>
          <a:p>
            <a:endParaRPr lang="it-IT"/>
          </a:p>
        </p:txBody>
      </p:sp>
      <p:sp>
        <p:nvSpPr>
          <p:cNvPr id="104" name="Text 14">
            <a:extLst>
              <a:ext uri="{FF2B5EF4-FFF2-40B4-BE49-F238E27FC236}">
                <a16:creationId xmlns:a16="http://schemas.microsoft.com/office/drawing/2014/main" id="{02101CC7-D9FF-DB7A-0AEE-4535005E7C18}"/>
              </a:ext>
            </a:extLst>
          </p:cNvPr>
          <p:cNvSpPr/>
          <p:nvPr/>
        </p:nvSpPr>
        <p:spPr>
          <a:xfrm>
            <a:off x="4841748" y="3401568"/>
            <a:ext cx="2482596" cy="521208"/>
          </a:xfrm>
          <a:prstGeom prst="rect">
            <a:avLst/>
          </a:prstGeom>
          <a:noFill/>
          <a:ln/>
        </p:spPr>
        <p:txBody>
          <a:bodyPr wrap="square" lIns="0" tIns="0" rIns="0" bIns="0" rtlCol="0" anchor="ctr">
            <a:normAutofit/>
          </a:bodyPr>
          <a:lstStyle/>
          <a:p>
            <a:r>
              <a:rPr lang="en-US" sz="2295" b="1" dirty="0">
                <a:solidFill>
                  <a:srgbClr val="FFFFFF"/>
                </a:solidFill>
                <a:latin typeface="Aptos Display" pitchFamily="34" charset="0"/>
                <a:ea typeface="Aptos Display" pitchFamily="34" charset="-122"/>
                <a:cs typeface="Aptos Display" pitchFamily="34" charset="-120"/>
              </a:rPr>
              <a:t>Inquadramento</a:t>
            </a:r>
            <a:endParaRPr lang="en-US" sz="2295" dirty="0"/>
          </a:p>
        </p:txBody>
      </p:sp>
      <p:sp>
        <p:nvSpPr>
          <p:cNvPr id="106" name="Shape 15">
            <a:extLst>
              <a:ext uri="{FF2B5EF4-FFF2-40B4-BE49-F238E27FC236}">
                <a16:creationId xmlns:a16="http://schemas.microsoft.com/office/drawing/2014/main" id="{FC5AD7CB-625A-5639-6A34-FD8ECF449B4A}"/>
              </a:ext>
            </a:extLst>
          </p:cNvPr>
          <p:cNvSpPr/>
          <p:nvPr/>
        </p:nvSpPr>
        <p:spPr>
          <a:xfrm>
            <a:off x="4841748" y="4087368"/>
            <a:ext cx="2153412" cy="0"/>
          </a:xfrm>
          <a:prstGeom prst="line">
            <a:avLst/>
          </a:prstGeom>
          <a:noFill/>
          <a:ln w="16510">
            <a:solidFill>
              <a:srgbClr val="22E0C3">
                <a:alpha val="92000"/>
              </a:srgbClr>
            </a:solidFill>
            <a:prstDash val="solid"/>
          </a:ln>
        </p:spPr>
        <p:txBody>
          <a:bodyPr/>
          <a:lstStyle/>
          <a:p>
            <a:endParaRPr lang="it-IT"/>
          </a:p>
        </p:txBody>
      </p:sp>
      <p:sp>
        <p:nvSpPr>
          <p:cNvPr id="108" name="Shape 16">
            <a:extLst>
              <a:ext uri="{FF2B5EF4-FFF2-40B4-BE49-F238E27FC236}">
                <a16:creationId xmlns:a16="http://schemas.microsoft.com/office/drawing/2014/main" id="{CE86195F-83DB-78C7-4D6F-13F466A9BE52}"/>
              </a:ext>
            </a:extLst>
          </p:cNvPr>
          <p:cNvSpPr/>
          <p:nvPr/>
        </p:nvSpPr>
        <p:spPr>
          <a:xfrm>
            <a:off x="4841748" y="4464558"/>
            <a:ext cx="102870" cy="102870"/>
          </a:xfrm>
          <a:prstGeom prst="ellipse">
            <a:avLst/>
          </a:prstGeom>
          <a:solidFill>
            <a:srgbClr val="22E0C3"/>
          </a:solidFill>
          <a:ln w="12700">
            <a:solidFill>
              <a:srgbClr val="22E0C3">
                <a:alpha val="0"/>
              </a:srgbClr>
            </a:solidFill>
            <a:prstDash val="solid"/>
          </a:ln>
        </p:spPr>
        <p:txBody>
          <a:bodyPr/>
          <a:lstStyle/>
          <a:p>
            <a:endParaRPr lang="it-IT"/>
          </a:p>
        </p:txBody>
      </p:sp>
      <p:sp>
        <p:nvSpPr>
          <p:cNvPr id="110" name="Text 17">
            <a:extLst>
              <a:ext uri="{FF2B5EF4-FFF2-40B4-BE49-F238E27FC236}">
                <a16:creationId xmlns:a16="http://schemas.microsoft.com/office/drawing/2014/main" id="{92C13369-1638-4A2D-E3AA-8E9F66B21695}"/>
              </a:ext>
            </a:extLst>
          </p:cNvPr>
          <p:cNvSpPr/>
          <p:nvPr/>
        </p:nvSpPr>
        <p:spPr>
          <a:xfrm>
            <a:off x="5047488" y="4389120"/>
            <a:ext cx="2290572" cy="329184"/>
          </a:xfrm>
          <a:prstGeom prst="rect">
            <a:avLst/>
          </a:prstGeom>
          <a:noFill/>
          <a:ln/>
        </p:spPr>
        <p:txBody>
          <a:bodyPr wrap="square" lIns="0" tIns="0" rIns="0" bIns="0" rtlCol="0" anchor="ctr">
            <a:normAutofit/>
          </a:bodyPr>
          <a:lstStyle/>
          <a:p>
            <a:r>
              <a:rPr lang="en-US" sz="1935" dirty="0">
                <a:solidFill>
                  <a:srgbClr val="E8F3FA"/>
                </a:solidFill>
                <a:latin typeface="Aptos" pitchFamily="34" charset="0"/>
                <a:ea typeface="Aptos" pitchFamily="34" charset="-122"/>
                <a:cs typeface="Aptos" pitchFamily="34" charset="-120"/>
              </a:rPr>
              <a:t>Contesto</a:t>
            </a:r>
            <a:endParaRPr lang="en-US" sz="1935" dirty="0"/>
          </a:p>
        </p:txBody>
      </p:sp>
      <p:sp>
        <p:nvSpPr>
          <p:cNvPr id="112" name="Shape 18">
            <a:extLst>
              <a:ext uri="{FF2B5EF4-FFF2-40B4-BE49-F238E27FC236}">
                <a16:creationId xmlns:a16="http://schemas.microsoft.com/office/drawing/2014/main" id="{74EA103C-B1FC-14D8-5BB0-A6CCDB89A040}"/>
              </a:ext>
            </a:extLst>
          </p:cNvPr>
          <p:cNvSpPr/>
          <p:nvPr/>
        </p:nvSpPr>
        <p:spPr>
          <a:xfrm>
            <a:off x="4841748" y="5054346"/>
            <a:ext cx="102870" cy="102870"/>
          </a:xfrm>
          <a:prstGeom prst="ellipse">
            <a:avLst/>
          </a:prstGeom>
          <a:solidFill>
            <a:srgbClr val="22E0C3"/>
          </a:solidFill>
          <a:ln w="12700">
            <a:solidFill>
              <a:srgbClr val="22E0C3">
                <a:alpha val="0"/>
              </a:srgbClr>
            </a:solidFill>
            <a:prstDash val="solid"/>
          </a:ln>
        </p:spPr>
        <p:txBody>
          <a:bodyPr/>
          <a:lstStyle/>
          <a:p>
            <a:endParaRPr lang="it-IT"/>
          </a:p>
        </p:txBody>
      </p:sp>
      <p:sp>
        <p:nvSpPr>
          <p:cNvPr id="114" name="Text 19">
            <a:extLst>
              <a:ext uri="{FF2B5EF4-FFF2-40B4-BE49-F238E27FC236}">
                <a16:creationId xmlns:a16="http://schemas.microsoft.com/office/drawing/2014/main" id="{6D111D84-BEB7-18A9-D8E0-C37C0DE15227}"/>
              </a:ext>
            </a:extLst>
          </p:cNvPr>
          <p:cNvSpPr/>
          <p:nvPr/>
        </p:nvSpPr>
        <p:spPr>
          <a:xfrm>
            <a:off x="5047488" y="4978908"/>
            <a:ext cx="2290572" cy="329184"/>
          </a:xfrm>
          <a:prstGeom prst="rect">
            <a:avLst/>
          </a:prstGeom>
          <a:noFill/>
          <a:ln/>
        </p:spPr>
        <p:txBody>
          <a:bodyPr wrap="square" lIns="0" tIns="0" rIns="0" bIns="0" rtlCol="0" anchor="ctr">
            <a:normAutofit/>
          </a:bodyPr>
          <a:lstStyle/>
          <a:p>
            <a:r>
              <a:rPr lang="en-US" sz="1935" dirty="0">
                <a:solidFill>
                  <a:srgbClr val="E8F3FA"/>
                </a:solidFill>
                <a:latin typeface="Aptos" pitchFamily="34" charset="0"/>
                <a:ea typeface="Aptos" pitchFamily="34" charset="-122"/>
                <a:cs typeface="Aptos" pitchFamily="34" charset="-120"/>
              </a:rPr>
              <a:t>Scope e metodologia</a:t>
            </a:r>
            <a:endParaRPr lang="en-US" sz="1935" dirty="0"/>
          </a:p>
        </p:txBody>
      </p:sp>
      <p:sp>
        <p:nvSpPr>
          <p:cNvPr id="116" name="Shape 20">
            <a:extLst>
              <a:ext uri="{FF2B5EF4-FFF2-40B4-BE49-F238E27FC236}">
                <a16:creationId xmlns:a16="http://schemas.microsoft.com/office/drawing/2014/main" id="{0EF41366-31A4-7577-AD1E-010B3A24A59A}"/>
              </a:ext>
            </a:extLst>
          </p:cNvPr>
          <p:cNvSpPr/>
          <p:nvPr/>
        </p:nvSpPr>
        <p:spPr>
          <a:xfrm>
            <a:off x="4841748" y="5644134"/>
            <a:ext cx="102870" cy="102870"/>
          </a:xfrm>
          <a:prstGeom prst="ellipse">
            <a:avLst/>
          </a:prstGeom>
          <a:solidFill>
            <a:srgbClr val="22E0C3"/>
          </a:solidFill>
          <a:ln w="12700">
            <a:solidFill>
              <a:srgbClr val="22E0C3">
                <a:alpha val="0"/>
              </a:srgbClr>
            </a:solidFill>
            <a:prstDash val="solid"/>
          </a:ln>
        </p:spPr>
        <p:txBody>
          <a:bodyPr/>
          <a:lstStyle/>
          <a:p>
            <a:endParaRPr lang="it-IT"/>
          </a:p>
        </p:txBody>
      </p:sp>
      <p:sp>
        <p:nvSpPr>
          <p:cNvPr id="118" name="Text 21">
            <a:extLst>
              <a:ext uri="{FF2B5EF4-FFF2-40B4-BE49-F238E27FC236}">
                <a16:creationId xmlns:a16="http://schemas.microsoft.com/office/drawing/2014/main" id="{DB3E4286-B6D4-5EBD-E17A-316332951D01}"/>
              </a:ext>
            </a:extLst>
          </p:cNvPr>
          <p:cNvSpPr/>
          <p:nvPr/>
        </p:nvSpPr>
        <p:spPr>
          <a:xfrm>
            <a:off x="5047488" y="5568696"/>
            <a:ext cx="2290572" cy="329184"/>
          </a:xfrm>
          <a:prstGeom prst="rect">
            <a:avLst/>
          </a:prstGeom>
          <a:noFill/>
          <a:ln/>
        </p:spPr>
        <p:txBody>
          <a:bodyPr wrap="square" lIns="0" tIns="0" rIns="0" bIns="0" rtlCol="0" anchor="ctr">
            <a:normAutofit fontScale="85000" lnSpcReduction="10000"/>
          </a:bodyPr>
          <a:lstStyle/>
          <a:p>
            <a:r>
              <a:rPr lang="en-US" sz="1935" dirty="0">
                <a:solidFill>
                  <a:srgbClr val="E8F3FA"/>
                </a:solidFill>
                <a:latin typeface="Aptos" pitchFamily="34" charset="0"/>
                <a:ea typeface="Aptos" pitchFamily="34" charset="-122"/>
                <a:cs typeface="Aptos" pitchFamily="34" charset="-120"/>
              </a:rPr>
              <a:t>Descrizione della pipeline</a:t>
            </a:r>
            <a:endParaRPr lang="en-US" sz="1935" dirty="0"/>
          </a:p>
        </p:txBody>
      </p:sp>
      <p:sp>
        <p:nvSpPr>
          <p:cNvPr id="120" name="Shape 22">
            <a:extLst>
              <a:ext uri="{FF2B5EF4-FFF2-40B4-BE49-F238E27FC236}">
                <a16:creationId xmlns:a16="http://schemas.microsoft.com/office/drawing/2014/main" id="{E76C532F-65DE-4BBE-F94B-EC22CE06281F}"/>
              </a:ext>
            </a:extLst>
          </p:cNvPr>
          <p:cNvSpPr/>
          <p:nvPr/>
        </p:nvSpPr>
        <p:spPr>
          <a:xfrm>
            <a:off x="8023860" y="1865376"/>
            <a:ext cx="850392" cy="850392"/>
          </a:xfrm>
          <a:prstGeom prst="ellipse">
            <a:avLst/>
          </a:prstGeom>
          <a:solidFill>
            <a:srgbClr val="4BDAE6"/>
          </a:solidFill>
          <a:ln w="12700">
            <a:solidFill>
              <a:srgbClr val="4BDAE6"/>
            </a:solidFill>
            <a:prstDash val="solid"/>
          </a:ln>
          <a:effectLst>
            <a:outerShdw blurRad="25400" dist="12700" dir="2700000" algn="bl" rotWithShape="0">
              <a:srgbClr val="000000">
                <a:alpha val="22000"/>
              </a:srgbClr>
            </a:outerShdw>
          </a:effectLst>
        </p:spPr>
        <p:txBody>
          <a:bodyPr/>
          <a:lstStyle/>
          <a:p>
            <a:endParaRPr lang="it-IT"/>
          </a:p>
        </p:txBody>
      </p:sp>
      <p:sp>
        <p:nvSpPr>
          <p:cNvPr id="122" name="Text 23">
            <a:extLst>
              <a:ext uri="{FF2B5EF4-FFF2-40B4-BE49-F238E27FC236}">
                <a16:creationId xmlns:a16="http://schemas.microsoft.com/office/drawing/2014/main" id="{2BD935EF-44BD-4761-B788-4F583261B91C}"/>
              </a:ext>
            </a:extLst>
          </p:cNvPr>
          <p:cNvSpPr/>
          <p:nvPr/>
        </p:nvSpPr>
        <p:spPr>
          <a:xfrm>
            <a:off x="8051292" y="2071116"/>
            <a:ext cx="795528" cy="342900"/>
          </a:xfrm>
          <a:prstGeom prst="rect">
            <a:avLst/>
          </a:prstGeom>
          <a:noFill/>
          <a:ln/>
        </p:spPr>
        <p:txBody>
          <a:bodyPr wrap="square" lIns="0" tIns="0" rIns="0" bIns="0" rtlCol="0" anchor="ctr">
            <a:normAutofit/>
          </a:bodyPr>
          <a:lstStyle/>
          <a:p>
            <a:pPr algn="ctr"/>
            <a:r>
              <a:rPr lang="en-US" sz="2130" b="1" dirty="0">
                <a:solidFill>
                  <a:srgbClr val="061C33"/>
                </a:solidFill>
                <a:latin typeface="Aptos" pitchFamily="34" charset="0"/>
                <a:ea typeface="Aptos" pitchFamily="34" charset="-122"/>
                <a:cs typeface="Aptos" pitchFamily="34" charset="-120"/>
              </a:rPr>
              <a:t>02</a:t>
            </a:r>
            <a:endParaRPr lang="en-US" sz="2130" dirty="0"/>
          </a:p>
        </p:txBody>
      </p:sp>
      <p:sp>
        <p:nvSpPr>
          <p:cNvPr id="124" name="Shape 24">
            <a:extLst>
              <a:ext uri="{FF2B5EF4-FFF2-40B4-BE49-F238E27FC236}">
                <a16:creationId xmlns:a16="http://schemas.microsoft.com/office/drawing/2014/main" id="{448DFC59-2028-781E-1F7E-25C2F2FD04F7}"/>
              </a:ext>
            </a:extLst>
          </p:cNvPr>
          <p:cNvSpPr/>
          <p:nvPr/>
        </p:nvSpPr>
        <p:spPr>
          <a:xfrm>
            <a:off x="7776972" y="3086100"/>
            <a:ext cx="2811780" cy="5047488"/>
          </a:xfrm>
          <a:prstGeom prst="roundRect">
            <a:avLst>
              <a:gd name="adj" fmla="val 5854"/>
            </a:avLst>
          </a:prstGeom>
          <a:solidFill>
            <a:srgbClr val="0B345B">
              <a:alpha val="90000"/>
            </a:srgbClr>
          </a:solidFill>
          <a:ln w="9525">
            <a:solidFill>
              <a:srgbClr val="244B6F">
                <a:alpha val="65000"/>
              </a:srgbClr>
            </a:solidFill>
            <a:prstDash val="solid"/>
          </a:ln>
          <a:effectLst>
            <a:outerShdw blurRad="25400" dist="12700" dir="2700000" algn="bl" rotWithShape="0">
              <a:srgbClr val="000000">
                <a:alpha val="16000"/>
              </a:srgbClr>
            </a:outerShdw>
          </a:effectLst>
        </p:spPr>
        <p:txBody>
          <a:bodyPr/>
          <a:lstStyle/>
          <a:p>
            <a:endParaRPr lang="it-IT"/>
          </a:p>
        </p:txBody>
      </p:sp>
      <p:sp>
        <p:nvSpPr>
          <p:cNvPr id="126" name="Text 25">
            <a:extLst>
              <a:ext uri="{FF2B5EF4-FFF2-40B4-BE49-F238E27FC236}">
                <a16:creationId xmlns:a16="http://schemas.microsoft.com/office/drawing/2014/main" id="{BFA7C0A5-6415-A038-12E3-AA0FEB110622}"/>
              </a:ext>
            </a:extLst>
          </p:cNvPr>
          <p:cNvSpPr/>
          <p:nvPr/>
        </p:nvSpPr>
        <p:spPr>
          <a:xfrm>
            <a:off x="7996428" y="3401568"/>
            <a:ext cx="2482596" cy="521208"/>
          </a:xfrm>
          <a:prstGeom prst="rect">
            <a:avLst/>
          </a:prstGeom>
          <a:noFill/>
          <a:ln/>
        </p:spPr>
        <p:txBody>
          <a:bodyPr wrap="square" lIns="0" tIns="0" rIns="0" bIns="0" rtlCol="0" anchor="ctr">
            <a:normAutofit/>
          </a:bodyPr>
          <a:lstStyle/>
          <a:p>
            <a:r>
              <a:rPr lang="en-US" sz="2295" b="1" dirty="0">
                <a:solidFill>
                  <a:srgbClr val="FFFFFF"/>
                </a:solidFill>
                <a:latin typeface="Aptos Display" pitchFamily="34" charset="0"/>
                <a:ea typeface="Aptos Display" pitchFamily="34" charset="-122"/>
                <a:cs typeface="Aptos Display" pitchFamily="34" charset="-120"/>
              </a:rPr>
              <a:t>Threat Modeling</a:t>
            </a:r>
            <a:endParaRPr lang="en-US" sz="2295" dirty="0"/>
          </a:p>
        </p:txBody>
      </p:sp>
      <p:sp>
        <p:nvSpPr>
          <p:cNvPr id="128" name="Shape 26">
            <a:extLst>
              <a:ext uri="{FF2B5EF4-FFF2-40B4-BE49-F238E27FC236}">
                <a16:creationId xmlns:a16="http://schemas.microsoft.com/office/drawing/2014/main" id="{93567A18-39C5-A933-306C-817542B87103}"/>
              </a:ext>
            </a:extLst>
          </p:cNvPr>
          <p:cNvSpPr/>
          <p:nvPr/>
        </p:nvSpPr>
        <p:spPr>
          <a:xfrm>
            <a:off x="7996428" y="4087368"/>
            <a:ext cx="2153412" cy="0"/>
          </a:xfrm>
          <a:prstGeom prst="line">
            <a:avLst/>
          </a:prstGeom>
          <a:noFill/>
          <a:ln w="16510">
            <a:solidFill>
              <a:srgbClr val="4BDAE6">
                <a:alpha val="92000"/>
              </a:srgbClr>
            </a:solidFill>
            <a:prstDash val="solid"/>
          </a:ln>
        </p:spPr>
        <p:txBody>
          <a:bodyPr/>
          <a:lstStyle/>
          <a:p>
            <a:endParaRPr lang="it-IT"/>
          </a:p>
        </p:txBody>
      </p:sp>
      <p:sp>
        <p:nvSpPr>
          <p:cNvPr id="130" name="Shape 27">
            <a:extLst>
              <a:ext uri="{FF2B5EF4-FFF2-40B4-BE49-F238E27FC236}">
                <a16:creationId xmlns:a16="http://schemas.microsoft.com/office/drawing/2014/main" id="{8CA78D95-8BA0-59C1-6F39-70CB36D81ADF}"/>
              </a:ext>
            </a:extLst>
          </p:cNvPr>
          <p:cNvSpPr/>
          <p:nvPr/>
        </p:nvSpPr>
        <p:spPr>
          <a:xfrm>
            <a:off x="7996428" y="4464558"/>
            <a:ext cx="102870" cy="102870"/>
          </a:xfrm>
          <a:prstGeom prst="ellipse">
            <a:avLst/>
          </a:prstGeom>
          <a:solidFill>
            <a:srgbClr val="4BDAE6"/>
          </a:solidFill>
          <a:ln w="12700">
            <a:solidFill>
              <a:srgbClr val="4BDAE6">
                <a:alpha val="0"/>
              </a:srgbClr>
            </a:solidFill>
            <a:prstDash val="solid"/>
          </a:ln>
        </p:spPr>
        <p:txBody>
          <a:bodyPr/>
          <a:lstStyle/>
          <a:p>
            <a:endParaRPr lang="it-IT"/>
          </a:p>
        </p:txBody>
      </p:sp>
      <p:sp>
        <p:nvSpPr>
          <p:cNvPr id="132" name="Text 28">
            <a:extLst>
              <a:ext uri="{FF2B5EF4-FFF2-40B4-BE49-F238E27FC236}">
                <a16:creationId xmlns:a16="http://schemas.microsoft.com/office/drawing/2014/main" id="{CE42FAD1-5ABB-9677-5250-7F1468337C66}"/>
              </a:ext>
            </a:extLst>
          </p:cNvPr>
          <p:cNvSpPr/>
          <p:nvPr/>
        </p:nvSpPr>
        <p:spPr>
          <a:xfrm>
            <a:off x="8202168" y="4389120"/>
            <a:ext cx="2290572" cy="329184"/>
          </a:xfrm>
          <a:prstGeom prst="rect">
            <a:avLst/>
          </a:prstGeom>
          <a:noFill/>
          <a:ln/>
        </p:spPr>
        <p:txBody>
          <a:bodyPr wrap="square" lIns="0" tIns="0" rIns="0" bIns="0" rtlCol="0" anchor="ctr">
            <a:normAutofit/>
          </a:bodyPr>
          <a:lstStyle/>
          <a:p>
            <a:r>
              <a:rPr lang="en-US" sz="1935" dirty="0">
                <a:solidFill>
                  <a:srgbClr val="E8F3FA"/>
                </a:solidFill>
                <a:latin typeface="Aptos" pitchFamily="34" charset="0"/>
                <a:ea typeface="Aptos" pitchFamily="34" charset="-122"/>
                <a:cs typeface="Aptos" pitchFamily="34" charset="-120"/>
              </a:rPr>
              <a:t>Trust Boundary</a:t>
            </a:r>
            <a:endParaRPr lang="en-US" sz="1935" dirty="0"/>
          </a:p>
        </p:txBody>
      </p:sp>
      <p:sp>
        <p:nvSpPr>
          <p:cNvPr id="134" name="Shape 29">
            <a:extLst>
              <a:ext uri="{FF2B5EF4-FFF2-40B4-BE49-F238E27FC236}">
                <a16:creationId xmlns:a16="http://schemas.microsoft.com/office/drawing/2014/main" id="{A037F0A0-B8FE-5188-9945-B534A87094A3}"/>
              </a:ext>
            </a:extLst>
          </p:cNvPr>
          <p:cNvSpPr/>
          <p:nvPr/>
        </p:nvSpPr>
        <p:spPr>
          <a:xfrm>
            <a:off x="7996428" y="5054346"/>
            <a:ext cx="102870" cy="102870"/>
          </a:xfrm>
          <a:prstGeom prst="ellipse">
            <a:avLst/>
          </a:prstGeom>
          <a:solidFill>
            <a:srgbClr val="4BDAE6"/>
          </a:solidFill>
          <a:ln w="12700">
            <a:solidFill>
              <a:srgbClr val="4BDAE6">
                <a:alpha val="0"/>
              </a:srgbClr>
            </a:solidFill>
            <a:prstDash val="solid"/>
          </a:ln>
        </p:spPr>
        <p:txBody>
          <a:bodyPr/>
          <a:lstStyle/>
          <a:p>
            <a:endParaRPr lang="it-IT"/>
          </a:p>
        </p:txBody>
      </p:sp>
      <p:sp>
        <p:nvSpPr>
          <p:cNvPr id="136" name="Text 30">
            <a:extLst>
              <a:ext uri="{FF2B5EF4-FFF2-40B4-BE49-F238E27FC236}">
                <a16:creationId xmlns:a16="http://schemas.microsoft.com/office/drawing/2014/main" id="{6C11548D-ADC8-A272-4102-421A9AE4AD3C}"/>
              </a:ext>
            </a:extLst>
          </p:cNvPr>
          <p:cNvSpPr/>
          <p:nvPr/>
        </p:nvSpPr>
        <p:spPr>
          <a:xfrm>
            <a:off x="8202168" y="4978908"/>
            <a:ext cx="2290572" cy="329184"/>
          </a:xfrm>
          <a:prstGeom prst="rect">
            <a:avLst/>
          </a:prstGeom>
          <a:noFill/>
          <a:ln/>
        </p:spPr>
        <p:txBody>
          <a:bodyPr wrap="square" lIns="0" tIns="0" rIns="0" bIns="0" rtlCol="0" anchor="ctr">
            <a:normAutofit/>
          </a:bodyPr>
          <a:lstStyle/>
          <a:p>
            <a:r>
              <a:rPr lang="en-US" sz="1935" dirty="0">
                <a:solidFill>
                  <a:srgbClr val="E8F3FA"/>
                </a:solidFill>
                <a:latin typeface="Aptos" pitchFamily="34" charset="0"/>
                <a:ea typeface="Aptos" pitchFamily="34" charset="-122"/>
                <a:cs typeface="Aptos" pitchFamily="34" charset="-120"/>
              </a:rPr>
              <a:t>Asset Model</a:t>
            </a:r>
            <a:endParaRPr lang="en-US" sz="1935" dirty="0"/>
          </a:p>
        </p:txBody>
      </p:sp>
      <p:sp>
        <p:nvSpPr>
          <p:cNvPr id="138" name="Shape 31">
            <a:extLst>
              <a:ext uri="{FF2B5EF4-FFF2-40B4-BE49-F238E27FC236}">
                <a16:creationId xmlns:a16="http://schemas.microsoft.com/office/drawing/2014/main" id="{18ABDF56-160C-20D2-E7A4-BB6407C20F4F}"/>
              </a:ext>
            </a:extLst>
          </p:cNvPr>
          <p:cNvSpPr/>
          <p:nvPr/>
        </p:nvSpPr>
        <p:spPr>
          <a:xfrm>
            <a:off x="7996428" y="5644134"/>
            <a:ext cx="102870" cy="102870"/>
          </a:xfrm>
          <a:prstGeom prst="ellipse">
            <a:avLst/>
          </a:prstGeom>
          <a:solidFill>
            <a:srgbClr val="4BDAE6"/>
          </a:solidFill>
          <a:ln w="12700">
            <a:solidFill>
              <a:srgbClr val="4BDAE6">
                <a:alpha val="0"/>
              </a:srgbClr>
            </a:solidFill>
            <a:prstDash val="solid"/>
          </a:ln>
        </p:spPr>
        <p:txBody>
          <a:bodyPr/>
          <a:lstStyle/>
          <a:p>
            <a:endParaRPr lang="it-IT"/>
          </a:p>
        </p:txBody>
      </p:sp>
      <p:sp>
        <p:nvSpPr>
          <p:cNvPr id="140" name="Text 32">
            <a:extLst>
              <a:ext uri="{FF2B5EF4-FFF2-40B4-BE49-F238E27FC236}">
                <a16:creationId xmlns:a16="http://schemas.microsoft.com/office/drawing/2014/main" id="{191136F0-B0CA-6E6C-98C9-9693134484B9}"/>
              </a:ext>
            </a:extLst>
          </p:cNvPr>
          <p:cNvSpPr/>
          <p:nvPr/>
        </p:nvSpPr>
        <p:spPr>
          <a:xfrm>
            <a:off x="8202168" y="5568696"/>
            <a:ext cx="2290572" cy="329184"/>
          </a:xfrm>
          <a:prstGeom prst="rect">
            <a:avLst/>
          </a:prstGeom>
          <a:noFill/>
          <a:ln/>
        </p:spPr>
        <p:txBody>
          <a:bodyPr wrap="square" lIns="0" tIns="0" rIns="0" bIns="0" rtlCol="0" anchor="ctr">
            <a:normAutofit/>
          </a:bodyPr>
          <a:lstStyle/>
          <a:p>
            <a:r>
              <a:rPr lang="en-US" sz="1935" dirty="0">
                <a:solidFill>
                  <a:srgbClr val="E8F3FA"/>
                </a:solidFill>
                <a:latin typeface="Aptos" pitchFamily="34" charset="0"/>
                <a:ea typeface="Aptos" pitchFamily="34" charset="-122"/>
                <a:cs typeface="Aptos" pitchFamily="34" charset="-120"/>
              </a:rPr>
              <a:t>Mappatura OWASP</a:t>
            </a:r>
            <a:endParaRPr lang="en-US" sz="1935" dirty="0"/>
          </a:p>
        </p:txBody>
      </p:sp>
      <p:sp>
        <p:nvSpPr>
          <p:cNvPr id="142" name="Shape 33">
            <a:extLst>
              <a:ext uri="{FF2B5EF4-FFF2-40B4-BE49-F238E27FC236}">
                <a16:creationId xmlns:a16="http://schemas.microsoft.com/office/drawing/2014/main" id="{F8AAF157-C0B2-4EBC-BD98-EFB04E8A1242}"/>
              </a:ext>
            </a:extLst>
          </p:cNvPr>
          <p:cNvSpPr/>
          <p:nvPr/>
        </p:nvSpPr>
        <p:spPr>
          <a:xfrm>
            <a:off x="11178540" y="1865376"/>
            <a:ext cx="850392" cy="850392"/>
          </a:xfrm>
          <a:prstGeom prst="ellipse">
            <a:avLst/>
          </a:prstGeom>
          <a:solidFill>
            <a:srgbClr val="47A4F5"/>
          </a:solidFill>
          <a:ln w="12700">
            <a:solidFill>
              <a:srgbClr val="47A4F5"/>
            </a:solidFill>
            <a:prstDash val="solid"/>
          </a:ln>
          <a:effectLst>
            <a:outerShdw blurRad="25400" dist="12700" dir="2700000" algn="bl" rotWithShape="0">
              <a:srgbClr val="000000">
                <a:alpha val="22000"/>
              </a:srgbClr>
            </a:outerShdw>
          </a:effectLst>
        </p:spPr>
        <p:txBody>
          <a:bodyPr/>
          <a:lstStyle/>
          <a:p>
            <a:endParaRPr lang="it-IT"/>
          </a:p>
        </p:txBody>
      </p:sp>
      <p:sp>
        <p:nvSpPr>
          <p:cNvPr id="144" name="Text 34">
            <a:extLst>
              <a:ext uri="{FF2B5EF4-FFF2-40B4-BE49-F238E27FC236}">
                <a16:creationId xmlns:a16="http://schemas.microsoft.com/office/drawing/2014/main" id="{CBD41D3B-C028-D73C-BF1A-4DA517C2F45B}"/>
              </a:ext>
            </a:extLst>
          </p:cNvPr>
          <p:cNvSpPr/>
          <p:nvPr/>
        </p:nvSpPr>
        <p:spPr>
          <a:xfrm>
            <a:off x="11205972" y="2071116"/>
            <a:ext cx="795528" cy="342900"/>
          </a:xfrm>
          <a:prstGeom prst="rect">
            <a:avLst/>
          </a:prstGeom>
          <a:noFill/>
          <a:ln/>
        </p:spPr>
        <p:txBody>
          <a:bodyPr wrap="square" lIns="0" tIns="0" rIns="0" bIns="0" rtlCol="0" anchor="ctr">
            <a:normAutofit/>
          </a:bodyPr>
          <a:lstStyle/>
          <a:p>
            <a:pPr algn="ctr"/>
            <a:r>
              <a:rPr lang="en-US" sz="2130" b="1" dirty="0">
                <a:solidFill>
                  <a:srgbClr val="061C33"/>
                </a:solidFill>
                <a:latin typeface="Aptos" pitchFamily="34" charset="0"/>
                <a:ea typeface="Aptos" pitchFamily="34" charset="-122"/>
                <a:cs typeface="Aptos" pitchFamily="34" charset="-120"/>
              </a:rPr>
              <a:t>03</a:t>
            </a:r>
            <a:endParaRPr lang="en-US" sz="2130" dirty="0"/>
          </a:p>
        </p:txBody>
      </p:sp>
      <p:sp>
        <p:nvSpPr>
          <p:cNvPr id="146" name="Shape 35">
            <a:extLst>
              <a:ext uri="{FF2B5EF4-FFF2-40B4-BE49-F238E27FC236}">
                <a16:creationId xmlns:a16="http://schemas.microsoft.com/office/drawing/2014/main" id="{3CCE0270-8B66-905C-FD30-3B9F889E1CEB}"/>
              </a:ext>
            </a:extLst>
          </p:cNvPr>
          <p:cNvSpPr/>
          <p:nvPr/>
        </p:nvSpPr>
        <p:spPr>
          <a:xfrm>
            <a:off x="10931652" y="3086100"/>
            <a:ext cx="2811780" cy="5047488"/>
          </a:xfrm>
          <a:prstGeom prst="roundRect">
            <a:avLst>
              <a:gd name="adj" fmla="val 5854"/>
            </a:avLst>
          </a:prstGeom>
          <a:solidFill>
            <a:srgbClr val="0A2A49">
              <a:alpha val="90000"/>
            </a:srgbClr>
          </a:solidFill>
          <a:ln w="9525">
            <a:solidFill>
              <a:srgbClr val="244B6F">
                <a:alpha val="65000"/>
              </a:srgbClr>
            </a:solidFill>
            <a:prstDash val="solid"/>
          </a:ln>
          <a:effectLst>
            <a:outerShdw blurRad="25400" dist="12700" dir="2700000" algn="bl" rotWithShape="0">
              <a:srgbClr val="000000">
                <a:alpha val="16000"/>
              </a:srgbClr>
            </a:outerShdw>
          </a:effectLst>
        </p:spPr>
        <p:txBody>
          <a:bodyPr/>
          <a:lstStyle/>
          <a:p>
            <a:endParaRPr lang="it-IT"/>
          </a:p>
        </p:txBody>
      </p:sp>
      <p:sp>
        <p:nvSpPr>
          <p:cNvPr id="148" name="Text 36">
            <a:extLst>
              <a:ext uri="{FF2B5EF4-FFF2-40B4-BE49-F238E27FC236}">
                <a16:creationId xmlns:a16="http://schemas.microsoft.com/office/drawing/2014/main" id="{14D2DC65-6329-2966-826D-51282B2C3230}"/>
              </a:ext>
            </a:extLst>
          </p:cNvPr>
          <p:cNvSpPr/>
          <p:nvPr/>
        </p:nvSpPr>
        <p:spPr>
          <a:xfrm>
            <a:off x="11151108" y="3401568"/>
            <a:ext cx="2482596" cy="521208"/>
          </a:xfrm>
          <a:prstGeom prst="rect">
            <a:avLst/>
          </a:prstGeom>
          <a:noFill/>
          <a:ln/>
        </p:spPr>
        <p:txBody>
          <a:bodyPr wrap="square" lIns="0" tIns="0" rIns="0" bIns="0" rtlCol="0" anchor="ctr">
            <a:normAutofit/>
          </a:bodyPr>
          <a:lstStyle/>
          <a:p>
            <a:r>
              <a:rPr lang="en-US" sz="2295" b="1" dirty="0">
                <a:solidFill>
                  <a:srgbClr val="FFFFFF"/>
                </a:solidFill>
                <a:latin typeface="Aptos Display" pitchFamily="34" charset="0"/>
                <a:ea typeface="Aptos Display" pitchFamily="34" charset="-122"/>
                <a:cs typeface="Aptos Display" pitchFamily="34" charset="-120"/>
              </a:rPr>
              <a:t>Analisi del rischio</a:t>
            </a:r>
            <a:endParaRPr lang="en-US" sz="2295" dirty="0"/>
          </a:p>
        </p:txBody>
      </p:sp>
      <p:sp>
        <p:nvSpPr>
          <p:cNvPr id="150" name="Shape 37">
            <a:extLst>
              <a:ext uri="{FF2B5EF4-FFF2-40B4-BE49-F238E27FC236}">
                <a16:creationId xmlns:a16="http://schemas.microsoft.com/office/drawing/2014/main" id="{401DD51E-CE89-B664-3852-0D3409C91463}"/>
              </a:ext>
            </a:extLst>
          </p:cNvPr>
          <p:cNvSpPr/>
          <p:nvPr/>
        </p:nvSpPr>
        <p:spPr>
          <a:xfrm>
            <a:off x="11151108" y="4087368"/>
            <a:ext cx="2153412" cy="0"/>
          </a:xfrm>
          <a:prstGeom prst="line">
            <a:avLst/>
          </a:prstGeom>
          <a:noFill/>
          <a:ln w="16510">
            <a:solidFill>
              <a:srgbClr val="47A4F5">
                <a:alpha val="92000"/>
              </a:srgbClr>
            </a:solidFill>
            <a:prstDash val="solid"/>
          </a:ln>
        </p:spPr>
        <p:txBody>
          <a:bodyPr/>
          <a:lstStyle/>
          <a:p>
            <a:endParaRPr lang="it-IT"/>
          </a:p>
        </p:txBody>
      </p:sp>
      <p:sp>
        <p:nvSpPr>
          <p:cNvPr id="152" name="Shape 38">
            <a:extLst>
              <a:ext uri="{FF2B5EF4-FFF2-40B4-BE49-F238E27FC236}">
                <a16:creationId xmlns:a16="http://schemas.microsoft.com/office/drawing/2014/main" id="{714CEB76-6D32-8551-EB22-65264C1A2460}"/>
              </a:ext>
            </a:extLst>
          </p:cNvPr>
          <p:cNvSpPr/>
          <p:nvPr/>
        </p:nvSpPr>
        <p:spPr>
          <a:xfrm>
            <a:off x="11151108" y="4464558"/>
            <a:ext cx="102870" cy="102870"/>
          </a:xfrm>
          <a:prstGeom prst="ellipse">
            <a:avLst/>
          </a:prstGeom>
          <a:solidFill>
            <a:srgbClr val="47A4F5"/>
          </a:solidFill>
          <a:ln w="12700">
            <a:solidFill>
              <a:srgbClr val="47A4F5">
                <a:alpha val="0"/>
              </a:srgbClr>
            </a:solidFill>
            <a:prstDash val="solid"/>
          </a:ln>
        </p:spPr>
        <p:txBody>
          <a:bodyPr/>
          <a:lstStyle/>
          <a:p>
            <a:endParaRPr lang="it-IT"/>
          </a:p>
        </p:txBody>
      </p:sp>
      <p:sp>
        <p:nvSpPr>
          <p:cNvPr id="154" name="Text 39">
            <a:extLst>
              <a:ext uri="{FF2B5EF4-FFF2-40B4-BE49-F238E27FC236}">
                <a16:creationId xmlns:a16="http://schemas.microsoft.com/office/drawing/2014/main" id="{A1E75007-AB90-58A7-8C70-8324CD317E22}"/>
              </a:ext>
            </a:extLst>
          </p:cNvPr>
          <p:cNvSpPr/>
          <p:nvPr/>
        </p:nvSpPr>
        <p:spPr>
          <a:xfrm>
            <a:off x="11356848" y="4389120"/>
            <a:ext cx="2290572" cy="329184"/>
          </a:xfrm>
          <a:prstGeom prst="rect">
            <a:avLst/>
          </a:prstGeom>
          <a:noFill/>
          <a:ln/>
        </p:spPr>
        <p:txBody>
          <a:bodyPr wrap="square" lIns="0" tIns="0" rIns="0" bIns="0" rtlCol="0" anchor="ctr">
            <a:normAutofit/>
          </a:bodyPr>
          <a:lstStyle/>
          <a:p>
            <a:r>
              <a:rPr lang="en-US" sz="1935" dirty="0">
                <a:solidFill>
                  <a:srgbClr val="E8F3FA"/>
                </a:solidFill>
                <a:latin typeface="Aptos" pitchFamily="34" charset="0"/>
                <a:ea typeface="Aptos" pitchFamily="34" charset="-122"/>
                <a:cs typeface="Aptos" pitchFamily="34" charset="-120"/>
              </a:rPr>
              <a:t>Risk Prioritization</a:t>
            </a:r>
            <a:endParaRPr lang="en-US" sz="1935" dirty="0"/>
          </a:p>
        </p:txBody>
      </p:sp>
      <p:sp>
        <p:nvSpPr>
          <p:cNvPr id="156" name="Shape 40">
            <a:extLst>
              <a:ext uri="{FF2B5EF4-FFF2-40B4-BE49-F238E27FC236}">
                <a16:creationId xmlns:a16="http://schemas.microsoft.com/office/drawing/2014/main" id="{02EAB53C-C707-A99C-37D0-1CD2099E888C}"/>
              </a:ext>
            </a:extLst>
          </p:cNvPr>
          <p:cNvSpPr/>
          <p:nvPr/>
        </p:nvSpPr>
        <p:spPr>
          <a:xfrm>
            <a:off x="11151108" y="5054346"/>
            <a:ext cx="102870" cy="102870"/>
          </a:xfrm>
          <a:prstGeom prst="ellipse">
            <a:avLst/>
          </a:prstGeom>
          <a:solidFill>
            <a:srgbClr val="47A4F5"/>
          </a:solidFill>
          <a:ln w="12700">
            <a:solidFill>
              <a:srgbClr val="47A4F5">
                <a:alpha val="0"/>
              </a:srgbClr>
            </a:solidFill>
            <a:prstDash val="solid"/>
          </a:ln>
        </p:spPr>
        <p:txBody>
          <a:bodyPr/>
          <a:lstStyle/>
          <a:p>
            <a:endParaRPr lang="it-IT"/>
          </a:p>
        </p:txBody>
      </p:sp>
      <p:sp>
        <p:nvSpPr>
          <p:cNvPr id="158" name="Text 41">
            <a:extLst>
              <a:ext uri="{FF2B5EF4-FFF2-40B4-BE49-F238E27FC236}">
                <a16:creationId xmlns:a16="http://schemas.microsoft.com/office/drawing/2014/main" id="{CFEF5856-02B8-163A-F141-EEBC8B52D22C}"/>
              </a:ext>
            </a:extLst>
          </p:cNvPr>
          <p:cNvSpPr/>
          <p:nvPr/>
        </p:nvSpPr>
        <p:spPr>
          <a:xfrm>
            <a:off x="11356848" y="4978908"/>
            <a:ext cx="2290572" cy="329184"/>
          </a:xfrm>
          <a:prstGeom prst="rect">
            <a:avLst/>
          </a:prstGeom>
          <a:noFill/>
          <a:ln/>
        </p:spPr>
        <p:txBody>
          <a:bodyPr wrap="square" lIns="0" tIns="0" rIns="0" bIns="0" rtlCol="0" anchor="ctr">
            <a:normAutofit/>
          </a:bodyPr>
          <a:lstStyle/>
          <a:p>
            <a:r>
              <a:rPr lang="en-US" sz="1935" dirty="0">
                <a:solidFill>
                  <a:srgbClr val="E8F3FA"/>
                </a:solidFill>
                <a:latin typeface="Aptos" pitchFamily="34" charset="0"/>
                <a:ea typeface="Aptos" pitchFamily="34" charset="-122"/>
                <a:cs typeface="Aptos" pitchFamily="34" charset="-120"/>
              </a:rPr>
              <a:t>Sette Precauzioni</a:t>
            </a:r>
            <a:endParaRPr lang="en-US" sz="1935" dirty="0"/>
          </a:p>
        </p:txBody>
      </p:sp>
      <p:sp>
        <p:nvSpPr>
          <p:cNvPr id="160" name="Shape 42">
            <a:extLst>
              <a:ext uri="{FF2B5EF4-FFF2-40B4-BE49-F238E27FC236}">
                <a16:creationId xmlns:a16="http://schemas.microsoft.com/office/drawing/2014/main" id="{39DEF505-D926-7AC5-B4C7-8E5DB8D840B2}"/>
              </a:ext>
            </a:extLst>
          </p:cNvPr>
          <p:cNvSpPr/>
          <p:nvPr/>
        </p:nvSpPr>
        <p:spPr>
          <a:xfrm>
            <a:off x="11151108" y="5644134"/>
            <a:ext cx="102870" cy="102870"/>
          </a:xfrm>
          <a:prstGeom prst="ellipse">
            <a:avLst/>
          </a:prstGeom>
          <a:solidFill>
            <a:srgbClr val="47A4F5"/>
          </a:solidFill>
          <a:ln w="12700">
            <a:solidFill>
              <a:srgbClr val="47A4F5">
                <a:alpha val="0"/>
              </a:srgbClr>
            </a:solidFill>
            <a:prstDash val="solid"/>
          </a:ln>
        </p:spPr>
        <p:txBody>
          <a:bodyPr/>
          <a:lstStyle/>
          <a:p>
            <a:endParaRPr lang="it-IT"/>
          </a:p>
        </p:txBody>
      </p:sp>
      <p:sp>
        <p:nvSpPr>
          <p:cNvPr id="162" name="Text 43">
            <a:extLst>
              <a:ext uri="{FF2B5EF4-FFF2-40B4-BE49-F238E27FC236}">
                <a16:creationId xmlns:a16="http://schemas.microsoft.com/office/drawing/2014/main" id="{DBB16792-0726-3970-43FD-1F988815BCFE}"/>
              </a:ext>
            </a:extLst>
          </p:cNvPr>
          <p:cNvSpPr/>
          <p:nvPr/>
        </p:nvSpPr>
        <p:spPr>
          <a:xfrm>
            <a:off x="11356848" y="5568696"/>
            <a:ext cx="2290572" cy="329184"/>
          </a:xfrm>
          <a:prstGeom prst="rect">
            <a:avLst/>
          </a:prstGeom>
          <a:noFill/>
          <a:ln/>
        </p:spPr>
        <p:txBody>
          <a:bodyPr wrap="square" lIns="0" tIns="0" rIns="0" bIns="0" rtlCol="0" anchor="ctr">
            <a:normAutofit/>
          </a:bodyPr>
          <a:lstStyle/>
          <a:p>
            <a:r>
              <a:rPr lang="en-US" sz="1935" dirty="0">
                <a:solidFill>
                  <a:srgbClr val="E8F3FA"/>
                </a:solidFill>
                <a:latin typeface="Aptos" pitchFamily="34" charset="0"/>
                <a:ea typeface="Aptos" pitchFamily="34" charset="-122"/>
                <a:cs typeface="Aptos" pitchFamily="34" charset="-120"/>
              </a:rPr>
              <a:t>Scenari prioritari</a:t>
            </a:r>
            <a:endParaRPr lang="en-US" sz="1935" dirty="0"/>
          </a:p>
        </p:txBody>
      </p:sp>
      <p:sp>
        <p:nvSpPr>
          <p:cNvPr id="164" name="Shape 44">
            <a:extLst>
              <a:ext uri="{FF2B5EF4-FFF2-40B4-BE49-F238E27FC236}">
                <a16:creationId xmlns:a16="http://schemas.microsoft.com/office/drawing/2014/main" id="{C2043307-EF68-ED3C-A3FF-ACC2EE612F00}"/>
              </a:ext>
            </a:extLst>
          </p:cNvPr>
          <p:cNvSpPr/>
          <p:nvPr/>
        </p:nvSpPr>
        <p:spPr>
          <a:xfrm>
            <a:off x="14333220" y="1865376"/>
            <a:ext cx="850392" cy="850392"/>
          </a:xfrm>
          <a:prstGeom prst="ellipse">
            <a:avLst/>
          </a:prstGeom>
          <a:solidFill>
            <a:srgbClr val="8F86FF"/>
          </a:solidFill>
          <a:ln w="12700">
            <a:solidFill>
              <a:srgbClr val="8F86FF"/>
            </a:solidFill>
            <a:prstDash val="solid"/>
          </a:ln>
          <a:effectLst>
            <a:outerShdw blurRad="25400" dist="12700" dir="2700000" algn="bl" rotWithShape="0">
              <a:srgbClr val="000000">
                <a:alpha val="22000"/>
              </a:srgbClr>
            </a:outerShdw>
          </a:effectLst>
        </p:spPr>
        <p:txBody>
          <a:bodyPr/>
          <a:lstStyle/>
          <a:p>
            <a:endParaRPr lang="it-IT"/>
          </a:p>
        </p:txBody>
      </p:sp>
      <p:sp>
        <p:nvSpPr>
          <p:cNvPr id="166" name="Text 45">
            <a:extLst>
              <a:ext uri="{FF2B5EF4-FFF2-40B4-BE49-F238E27FC236}">
                <a16:creationId xmlns:a16="http://schemas.microsoft.com/office/drawing/2014/main" id="{5D4FFDF2-09B1-4EE5-5BFC-7AD55DE9294E}"/>
              </a:ext>
            </a:extLst>
          </p:cNvPr>
          <p:cNvSpPr/>
          <p:nvPr/>
        </p:nvSpPr>
        <p:spPr>
          <a:xfrm>
            <a:off x="14360652" y="2071116"/>
            <a:ext cx="795528" cy="342900"/>
          </a:xfrm>
          <a:prstGeom prst="rect">
            <a:avLst/>
          </a:prstGeom>
          <a:noFill/>
          <a:ln/>
        </p:spPr>
        <p:txBody>
          <a:bodyPr wrap="square" lIns="0" tIns="0" rIns="0" bIns="0" rtlCol="0" anchor="ctr">
            <a:normAutofit/>
          </a:bodyPr>
          <a:lstStyle/>
          <a:p>
            <a:pPr algn="ctr"/>
            <a:r>
              <a:rPr lang="en-US" sz="2130" b="1" dirty="0">
                <a:solidFill>
                  <a:srgbClr val="061C33"/>
                </a:solidFill>
                <a:latin typeface="Aptos" pitchFamily="34" charset="0"/>
                <a:ea typeface="Aptos" pitchFamily="34" charset="-122"/>
                <a:cs typeface="Aptos" pitchFamily="34" charset="-120"/>
              </a:rPr>
              <a:t>04</a:t>
            </a:r>
            <a:endParaRPr lang="en-US" sz="2130" dirty="0"/>
          </a:p>
        </p:txBody>
      </p:sp>
      <p:sp>
        <p:nvSpPr>
          <p:cNvPr id="168" name="Shape 46">
            <a:extLst>
              <a:ext uri="{FF2B5EF4-FFF2-40B4-BE49-F238E27FC236}">
                <a16:creationId xmlns:a16="http://schemas.microsoft.com/office/drawing/2014/main" id="{6C36A681-4A2F-23F5-2539-47EE7A904128}"/>
              </a:ext>
            </a:extLst>
          </p:cNvPr>
          <p:cNvSpPr/>
          <p:nvPr/>
        </p:nvSpPr>
        <p:spPr>
          <a:xfrm>
            <a:off x="14086332" y="3086100"/>
            <a:ext cx="3086100" cy="5047488"/>
          </a:xfrm>
          <a:prstGeom prst="roundRect">
            <a:avLst>
              <a:gd name="adj" fmla="val 5333"/>
            </a:avLst>
          </a:prstGeom>
          <a:solidFill>
            <a:srgbClr val="0B345B">
              <a:alpha val="90000"/>
            </a:srgbClr>
          </a:solidFill>
          <a:ln w="9525">
            <a:solidFill>
              <a:srgbClr val="244B6F">
                <a:alpha val="65000"/>
              </a:srgbClr>
            </a:solidFill>
            <a:prstDash val="solid"/>
          </a:ln>
          <a:effectLst>
            <a:outerShdw blurRad="25400" dist="12700" dir="2700000" algn="bl" rotWithShape="0">
              <a:srgbClr val="000000">
                <a:alpha val="16000"/>
              </a:srgbClr>
            </a:outerShdw>
          </a:effectLst>
        </p:spPr>
        <p:txBody>
          <a:bodyPr/>
          <a:lstStyle/>
          <a:p>
            <a:endParaRPr lang="it-IT"/>
          </a:p>
        </p:txBody>
      </p:sp>
      <p:sp>
        <p:nvSpPr>
          <p:cNvPr id="170" name="Text 47">
            <a:extLst>
              <a:ext uri="{FF2B5EF4-FFF2-40B4-BE49-F238E27FC236}">
                <a16:creationId xmlns:a16="http://schemas.microsoft.com/office/drawing/2014/main" id="{34CCD295-4570-C153-362D-AFEF95930712}"/>
              </a:ext>
            </a:extLst>
          </p:cNvPr>
          <p:cNvSpPr/>
          <p:nvPr/>
        </p:nvSpPr>
        <p:spPr>
          <a:xfrm>
            <a:off x="14305788" y="3401568"/>
            <a:ext cx="2756916" cy="521208"/>
          </a:xfrm>
          <a:prstGeom prst="rect">
            <a:avLst/>
          </a:prstGeom>
          <a:noFill/>
          <a:ln/>
        </p:spPr>
        <p:txBody>
          <a:bodyPr wrap="square" lIns="0" tIns="0" rIns="0" bIns="0" rtlCol="0" anchor="ctr">
            <a:normAutofit/>
          </a:bodyPr>
          <a:lstStyle/>
          <a:p>
            <a:r>
              <a:rPr lang="en-US" sz="2295" b="1" dirty="0">
                <a:solidFill>
                  <a:srgbClr val="FFFFFF"/>
                </a:solidFill>
                <a:latin typeface="Aptos Display" pitchFamily="34" charset="0"/>
                <a:ea typeface="Aptos Display" pitchFamily="34" charset="-122"/>
                <a:cs typeface="Aptos Display" pitchFamily="34" charset="-120"/>
              </a:rPr>
              <a:t>Mitigazione e chiusura</a:t>
            </a:r>
            <a:endParaRPr lang="en-US" sz="2295" dirty="0"/>
          </a:p>
        </p:txBody>
      </p:sp>
      <p:sp>
        <p:nvSpPr>
          <p:cNvPr id="172" name="Shape 48">
            <a:extLst>
              <a:ext uri="{FF2B5EF4-FFF2-40B4-BE49-F238E27FC236}">
                <a16:creationId xmlns:a16="http://schemas.microsoft.com/office/drawing/2014/main" id="{696A696C-4BD1-B7A9-4238-05FEBACCF75B}"/>
              </a:ext>
            </a:extLst>
          </p:cNvPr>
          <p:cNvSpPr/>
          <p:nvPr/>
        </p:nvSpPr>
        <p:spPr>
          <a:xfrm>
            <a:off x="14305788" y="4087368"/>
            <a:ext cx="2427732" cy="0"/>
          </a:xfrm>
          <a:prstGeom prst="line">
            <a:avLst/>
          </a:prstGeom>
          <a:noFill/>
          <a:ln w="16510">
            <a:solidFill>
              <a:srgbClr val="8F86FF">
                <a:alpha val="92000"/>
              </a:srgbClr>
            </a:solidFill>
            <a:prstDash val="solid"/>
          </a:ln>
        </p:spPr>
        <p:txBody>
          <a:bodyPr/>
          <a:lstStyle/>
          <a:p>
            <a:endParaRPr lang="it-IT"/>
          </a:p>
        </p:txBody>
      </p:sp>
      <p:sp>
        <p:nvSpPr>
          <p:cNvPr id="174" name="Shape 49">
            <a:extLst>
              <a:ext uri="{FF2B5EF4-FFF2-40B4-BE49-F238E27FC236}">
                <a16:creationId xmlns:a16="http://schemas.microsoft.com/office/drawing/2014/main" id="{F15FD194-8A7A-E4F3-FE41-D09CA9532EA2}"/>
              </a:ext>
            </a:extLst>
          </p:cNvPr>
          <p:cNvSpPr/>
          <p:nvPr/>
        </p:nvSpPr>
        <p:spPr>
          <a:xfrm>
            <a:off x="14305788" y="4464558"/>
            <a:ext cx="102870" cy="102870"/>
          </a:xfrm>
          <a:prstGeom prst="ellipse">
            <a:avLst/>
          </a:prstGeom>
          <a:solidFill>
            <a:srgbClr val="8F86FF"/>
          </a:solidFill>
          <a:ln w="12700">
            <a:solidFill>
              <a:srgbClr val="8F86FF">
                <a:alpha val="0"/>
              </a:srgbClr>
            </a:solidFill>
            <a:prstDash val="solid"/>
          </a:ln>
        </p:spPr>
        <p:txBody>
          <a:bodyPr/>
          <a:lstStyle/>
          <a:p>
            <a:endParaRPr lang="it-IT"/>
          </a:p>
        </p:txBody>
      </p:sp>
      <p:sp>
        <p:nvSpPr>
          <p:cNvPr id="176" name="Text 50">
            <a:extLst>
              <a:ext uri="{FF2B5EF4-FFF2-40B4-BE49-F238E27FC236}">
                <a16:creationId xmlns:a16="http://schemas.microsoft.com/office/drawing/2014/main" id="{E5BE0B07-A2F4-0283-BCC6-6738ADE978AA}"/>
              </a:ext>
            </a:extLst>
          </p:cNvPr>
          <p:cNvSpPr/>
          <p:nvPr/>
        </p:nvSpPr>
        <p:spPr>
          <a:xfrm>
            <a:off x="14511528" y="4389120"/>
            <a:ext cx="2564892" cy="329184"/>
          </a:xfrm>
          <a:prstGeom prst="rect">
            <a:avLst/>
          </a:prstGeom>
          <a:noFill/>
          <a:ln/>
        </p:spPr>
        <p:txBody>
          <a:bodyPr wrap="square" lIns="0" tIns="0" rIns="0" bIns="0" rtlCol="0" anchor="ctr">
            <a:normAutofit fontScale="77500" lnSpcReduction="20000"/>
          </a:bodyPr>
          <a:lstStyle/>
          <a:p>
            <a:r>
              <a:rPr lang="en-US" sz="1935" dirty="0">
                <a:solidFill>
                  <a:srgbClr val="E8F3FA"/>
                </a:solidFill>
                <a:latin typeface="Aptos" pitchFamily="34" charset="0"/>
                <a:ea typeface="Aptos" pitchFamily="34" charset="-122"/>
                <a:cs typeface="Aptos" pitchFamily="34" charset="-120"/>
              </a:rPr>
              <a:t>Secure Architecture proposta</a:t>
            </a:r>
            <a:endParaRPr lang="en-US" sz="1935" dirty="0"/>
          </a:p>
        </p:txBody>
      </p:sp>
      <p:sp>
        <p:nvSpPr>
          <p:cNvPr id="178" name="Shape 51">
            <a:extLst>
              <a:ext uri="{FF2B5EF4-FFF2-40B4-BE49-F238E27FC236}">
                <a16:creationId xmlns:a16="http://schemas.microsoft.com/office/drawing/2014/main" id="{AA25C0CB-72F0-1F46-98F6-6D9F519BC70D}"/>
              </a:ext>
            </a:extLst>
          </p:cNvPr>
          <p:cNvSpPr/>
          <p:nvPr/>
        </p:nvSpPr>
        <p:spPr>
          <a:xfrm>
            <a:off x="14305788" y="5054346"/>
            <a:ext cx="102870" cy="102870"/>
          </a:xfrm>
          <a:prstGeom prst="ellipse">
            <a:avLst/>
          </a:prstGeom>
          <a:solidFill>
            <a:srgbClr val="8F86FF"/>
          </a:solidFill>
          <a:ln w="12700">
            <a:solidFill>
              <a:srgbClr val="8F86FF">
                <a:alpha val="0"/>
              </a:srgbClr>
            </a:solidFill>
            <a:prstDash val="solid"/>
          </a:ln>
        </p:spPr>
        <p:txBody>
          <a:bodyPr/>
          <a:lstStyle/>
          <a:p>
            <a:endParaRPr lang="it-IT"/>
          </a:p>
        </p:txBody>
      </p:sp>
      <p:sp>
        <p:nvSpPr>
          <p:cNvPr id="180" name="Text 52">
            <a:extLst>
              <a:ext uri="{FF2B5EF4-FFF2-40B4-BE49-F238E27FC236}">
                <a16:creationId xmlns:a16="http://schemas.microsoft.com/office/drawing/2014/main" id="{8B596427-F5AB-D06D-D3B5-3A2397C63B73}"/>
              </a:ext>
            </a:extLst>
          </p:cNvPr>
          <p:cNvSpPr/>
          <p:nvPr/>
        </p:nvSpPr>
        <p:spPr>
          <a:xfrm>
            <a:off x="14511528" y="4978908"/>
            <a:ext cx="2564892" cy="329184"/>
          </a:xfrm>
          <a:prstGeom prst="rect">
            <a:avLst/>
          </a:prstGeom>
          <a:noFill/>
          <a:ln/>
        </p:spPr>
        <p:txBody>
          <a:bodyPr wrap="square" lIns="0" tIns="0" rIns="0" bIns="0" rtlCol="0" anchor="ctr">
            <a:normAutofit fontScale="92500"/>
          </a:bodyPr>
          <a:lstStyle/>
          <a:p>
            <a:r>
              <a:rPr lang="en-US" sz="1935" dirty="0">
                <a:solidFill>
                  <a:srgbClr val="E8F3FA"/>
                </a:solidFill>
                <a:latin typeface="Aptos" pitchFamily="34" charset="0"/>
                <a:ea typeface="Aptos" pitchFamily="34" charset="-122"/>
                <a:cs typeface="Aptos" pitchFamily="34" charset="-120"/>
              </a:rPr>
              <a:t>Validazione sperimentale</a:t>
            </a:r>
            <a:endParaRPr lang="en-US" sz="1935" dirty="0"/>
          </a:p>
        </p:txBody>
      </p:sp>
      <p:sp>
        <p:nvSpPr>
          <p:cNvPr id="182" name="Shape 53">
            <a:extLst>
              <a:ext uri="{FF2B5EF4-FFF2-40B4-BE49-F238E27FC236}">
                <a16:creationId xmlns:a16="http://schemas.microsoft.com/office/drawing/2014/main" id="{0625E4AD-1BD0-5A75-804F-783A29AB3341}"/>
              </a:ext>
            </a:extLst>
          </p:cNvPr>
          <p:cNvSpPr/>
          <p:nvPr/>
        </p:nvSpPr>
        <p:spPr>
          <a:xfrm>
            <a:off x="14305788" y="5644134"/>
            <a:ext cx="102870" cy="102870"/>
          </a:xfrm>
          <a:prstGeom prst="ellipse">
            <a:avLst/>
          </a:prstGeom>
          <a:solidFill>
            <a:srgbClr val="8F86FF"/>
          </a:solidFill>
          <a:ln w="12700">
            <a:solidFill>
              <a:srgbClr val="8F86FF">
                <a:alpha val="0"/>
              </a:srgbClr>
            </a:solidFill>
            <a:prstDash val="solid"/>
          </a:ln>
        </p:spPr>
        <p:txBody>
          <a:bodyPr/>
          <a:lstStyle/>
          <a:p>
            <a:endParaRPr lang="it-IT"/>
          </a:p>
        </p:txBody>
      </p:sp>
      <p:sp>
        <p:nvSpPr>
          <p:cNvPr id="184" name="Text 54">
            <a:extLst>
              <a:ext uri="{FF2B5EF4-FFF2-40B4-BE49-F238E27FC236}">
                <a16:creationId xmlns:a16="http://schemas.microsoft.com/office/drawing/2014/main" id="{B0D2AEF4-29C3-E4A2-15EF-22809E3396F6}"/>
              </a:ext>
            </a:extLst>
          </p:cNvPr>
          <p:cNvSpPr/>
          <p:nvPr/>
        </p:nvSpPr>
        <p:spPr>
          <a:xfrm>
            <a:off x="14511528" y="5568696"/>
            <a:ext cx="2564892" cy="329184"/>
          </a:xfrm>
          <a:prstGeom prst="rect">
            <a:avLst/>
          </a:prstGeom>
          <a:noFill/>
          <a:ln/>
        </p:spPr>
        <p:txBody>
          <a:bodyPr wrap="square" lIns="0" tIns="0" rIns="0" bIns="0" rtlCol="0" anchor="ctr">
            <a:normAutofit/>
          </a:bodyPr>
          <a:lstStyle/>
          <a:p>
            <a:r>
              <a:rPr lang="en-US" sz="1935" dirty="0">
                <a:solidFill>
                  <a:srgbClr val="E8F3FA"/>
                </a:solidFill>
                <a:latin typeface="Aptos" pitchFamily="34" charset="0"/>
                <a:ea typeface="Aptos" pitchFamily="34" charset="-122"/>
                <a:cs typeface="Aptos" pitchFamily="34" charset="-120"/>
              </a:rPr>
              <a:t>Rischio residuo atteso</a:t>
            </a:r>
            <a:endParaRPr lang="en-US" sz="1935" dirty="0"/>
          </a:p>
        </p:txBody>
      </p:sp>
      <p:sp>
        <p:nvSpPr>
          <p:cNvPr id="186" name="Shape 55">
            <a:extLst>
              <a:ext uri="{FF2B5EF4-FFF2-40B4-BE49-F238E27FC236}">
                <a16:creationId xmlns:a16="http://schemas.microsoft.com/office/drawing/2014/main" id="{F1D8E4E7-F5F5-315B-F6EC-607CAB312C65}"/>
              </a:ext>
            </a:extLst>
          </p:cNvPr>
          <p:cNvSpPr/>
          <p:nvPr/>
        </p:nvSpPr>
        <p:spPr>
          <a:xfrm>
            <a:off x="14305788" y="6233922"/>
            <a:ext cx="102870" cy="102870"/>
          </a:xfrm>
          <a:prstGeom prst="ellipse">
            <a:avLst/>
          </a:prstGeom>
          <a:solidFill>
            <a:srgbClr val="8F86FF"/>
          </a:solidFill>
          <a:ln w="12700">
            <a:solidFill>
              <a:srgbClr val="8F86FF">
                <a:alpha val="0"/>
              </a:srgbClr>
            </a:solidFill>
            <a:prstDash val="solid"/>
          </a:ln>
        </p:spPr>
        <p:txBody>
          <a:bodyPr/>
          <a:lstStyle/>
          <a:p>
            <a:endParaRPr lang="it-IT"/>
          </a:p>
        </p:txBody>
      </p:sp>
      <p:sp>
        <p:nvSpPr>
          <p:cNvPr id="188" name="Text 56">
            <a:extLst>
              <a:ext uri="{FF2B5EF4-FFF2-40B4-BE49-F238E27FC236}">
                <a16:creationId xmlns:a16="http://schemas.microsoft.com/office/drawing/2014/main" id="{7B6E77B7-418A-2AC3-F92A-37D05CB18412}"/>
              </a:ext>
            </a:extLst>
          </p:cNvPr>
          <p:cNvSpPr/>
          <p:nvPr/>
        </p:nvSpPr>
        <p:spPr>
          <a:xfrm>
            <a:off x="14511528" y="6158484"/>
            <a:ext cx="2564892" cy="329184"/>
          </a:xfrm>
          <a:prstGeom prst="rect">
            <a:avLst/>
          </a:prstGeom>
          <a:noFill/>
          <a:ln/>
        </p:spPr>
        <p:txBody>
          <a:bodyPr wrap="square" lIns="0" tIns="0" rIns="0" bIns="0" rtlCol="0" anchor="ctr">
            <a:normAutofit fontScale="92500"/>
          </a:bodyPr>
          <a:lstStyle/>
          <a:p>
            <a:r>
              <a:rPr lang="en-US" sz="1935" dirty="0">
                <a:solidFill>
                  <a:srgbClr val="E8F3FA"/>
                </a:solidFill>
                <a:latin typeface="Aptos" pitchFamily="34" charset="0"/>
                <a:ea typeface="Aptos" pitchFamily="34" charset="-122"/>
                <a:cs typeface="Aptos" pitchFamily="34" charset="-120"/>
              </a:rPr>
              <a:t>Limitazioni e conclusioni</a:t>
            </a:r>
            <a:endParaRPr lang="en-US" sz="1935" dirty="0"/>
          </a:p>
        </p:txBody>
      </p:sp>
      <p:sp>
        <p:nvSpPr>
          <p:cNvPr id="190" name="Shape 57">
            <a:extLst>
              <a:ext uri="{FF2B5EF4-FFF2-40B4-BE49-F238E27FC236}">
                <a16:creationId xmlns:a16="http://schemas.microsoft.com/office/drawing/2014/main" id="{28C78696-824E-F49C-6613-A827AA4D8B4E}"/>
              </a:ext>
            </a:extLst>
          </p:cNvPr>
          <p:cNvSpPr/>
          <p:nvPr/>
        </p:nvSpPr>
        <p:spPr>
          <a:xfrm>
            <a:off x="4732020" y="8874252"/>
            <a:ext cx="12412980" cy="713232"/>
          </a:xfrm>
          <a:prstGeom prst="roundRect">
            <a:avLst>
              <a:gd name="adj" fmla="val 21154"/>
            </a:avLst>
          </a:prstGeom>
          <a:solidFill>
            <a:srgbClr val="09243F">
              <a:alpha val="93000"/>
            </a:srgbClr>
          </a:solidFill>
          <a:ln w="10160">
            <a:solidFill>
              <a:srgbClr val="0FA98F">
                <a:alpha val="75000"/>
              </a:srgbClr>
            </a:solidFill>
            <a:prstDash val="solid"/>
          </a:ln>
        </p:spPr>
        <p:txBody>
          <a:bodyPr/>
          <a:lstStyle/>
          <a:p>
            <a:endParaRPr lang="it-IT"/>
          </a:p>
        </p:txBody>
      </p:sp>
      <p:sp>
        <p:nvSpPr>
          <p:cNvPr id="192" name="Text 58">
            <a:extLst>
              <a:ext uri="{FF2B5EF4-FFF2-40B4-BE49-F238E27FC236}">
                <a16:creationId xmlns:a16="http://schemas.microsoft.com/office/drawing/2014/main" id="{797776AC-A451-3AEE-6590-809357BDBAD2}"/>
              </a:ext>
            </a:extLst>
          </p:cNvPr>
          <p:cNvSpPr/>
          <p:nvPr/>
        </p:nvSpPr>
        <p:spPr>
          <a:xfrm>
            <a:off x="5020056" y="9066276"/>
            <a:ext cx="11905488" cy="288036"/>
          </a:xfrm>
          <a:prstGeom prst="rect">
            <a:avLst/>
          </a:prstGeom>
          <a:noFill/>
          <a:ln/>
        </p:spPr>
        <p:txBody>
          <a:bodyPr wrap="square" lIns="0" tIns="0" rIns="0" bIns="0" rtlCol="0" anchor="ctr">
            <a:normAutofit lnSpcReduction="10000"/>
          </a:bodyPr>
          <a:lstStyle/>
          <a:p>
            <a:pPr algn="ctr"/>
            <a:r>
              <a:rPr lang="en-US" sz="1920" b="1" dirty="0">
                <a:solidFill>
                  <a:srgbClr val="E8F3FA"/>
                </a:solidFill>
                <a:latin typeface="Aptos" pitchFamily="34" charset="0"/>
                <a:ea typeface="Aptos" pitchFamily="34" charset="-122"/>
                <a:cs typeface="Aptos" pitchFamily="34" charset="-120"/>
              </a:rPr>
              <a:t>Dalla comprensione della pipeline alla definizione di una secure architecture verificabile.</a:t>
            </a:r>
            <a:endParaRPr lang="en-US" sz="1920" dirty="0"/>
          </a:p>
        </p:txBody>
      </p:sp>
      <p:sp>
        <p:nvSpPr>
          <p:cNvPr id="194" name="Text 59">
            <a:extLst>
              <a:ext uri="{FF2B5EF4-FFF2-40B4-BE49-F238E27FC236}">
                <a16:creationId xmlns:a16="http://schemas.microsoft.com/office/drawing/2014/main" id="{86F42E94-6E59-B43B-CA83-E7D18F4AF242}"/>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00</a:t>
            </a:r>
            <a:endParaRPr lang="en-US" sz="1575" dirty="0"/>
          </a:p>
        </p:txBody>
      </p:sp>
      <p:grpSp>
        <p:nvGrpSpPr>
          <p:cNvPr id="195" name="Group 9">
            <a:extLst>
              <a:ext uri="{FF2B5EF4-FFF2-40B4-BE49-F238E27FC236}">
                <a16:creationId xmlns:a16="http://schemas.microsoft.com/office/drawing/2014/main" id="{421A0B7B-44FD-6490-30E1-114F0551074E}"/>
              </a:ext>
            </a:extLst>
          </p:cNvPr>
          <p:cNvGrpSpPr/>
          <p:nvPr/>
        </p:nvGrpSpPr>
        <p:grpSpPr>
          <a:xfrm>
            <a:off x="17259300" y="2066886"/>
            <a:ext cx="5754080" cy="8220114"/>
            <a:chOff x="0" y="0"/>
            <a:chExt cx="4445000" cy="6350000"/>
          </a:xfrm>
        </p:grpSpPr>
        <p:sp>
          <p:nvSpPr>
            <p:cNvPr id="196" name="Freeform 10">
              <a:extLst>
                <a:ext uri="{FF2B5EF4-FFF2-40B4-BE49-F238E27FC236}">
                  <a16:creationId xmlns:a16="http://schemas.microsoft.com/office/drawing/2014/main" id="{C018F3DE-1AD5-A8EA-5C97-2A439CA47BFC}"/>
                </a:ext>
              </a:extLst>
            </p:cNvPr>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2"/>
              <a:stretch>
                <a:fillRect l="-201730" r="-201730"/>
              </a:stretch>
            </a:blipFill>
          </p:spPr>
          <p:txBody>
            <a:bodyPr/>
            <a:lstStyle/>
            <a:p>
              <a:endParaRPr lang="it-IT"/>
            </a:p>
          </p:txBody>
        </p:sp>
      </p:grpSp>
      <p:grpSp>
        <p:nvGrpSpPr>
          <p:cNvPr id="197" name="Group 2">
            <a:extLst>
              <a:ext uri="{FF2B5EF4-FFF2-40B4-BE49-F238E27FC236}">
                <a16:creationId xmlns:a16="http://schemas.microsoft.com/office/drawing/2014/main" id="{47FEAA58-D618-2E66-107A-4DEC8849138F}"/>
              </a:ext>
            </a:extLst>
          </p:cNvPr>
          <p:cNvGrpSpPr/>
          <p:nvPr/>
        </p:nvGrpSpPr>
        <p:grpSpPr>
          <a:xfrm>
            <a:off x="-5173055" y="-2043171"/>
            <a:ext cx="5754080" cy="8220114"/>
            <a:chOff x="0" y="0"/>
            <a:chExt cx="4445000" cy="6350000"/>
          </a:xfrm>
        </p:grpSpPr>
        <p:sp>
          <p:nvSpPr>
            <p:cNvPr id="198" name="Freeform 3">
              <a:extLst>
                <a:ext uri="{FF2B5EF4-FFF2-40B4-BE49-F238E27FC236}">
                  <a16:creationId xmlns:a16="http://schemas.microsoft.com/office/drawing/2014/main" id="{0F8C9684-D356-41FB-2938-7EE45529CF94}"/>
                </a:ext>
              </a:extLst>
            </p:cNvPr>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2"/>
              <a:stretch>
                <a:fillRect l="-201730" r="-201730"/>
              </a:stretch>
            </a:blipFill>
          </p:spPr>
          <p:txBody>
            <a:bodyPr/>
            <a:lstStyle/>
            <a:p>
              <a:endParaRPr lang="it-IT"/>
            </a:p>
          </p:txBody>
        </p:sp>
      </p:grpSp>
    </p:spTree>
    <p:extLst>
      <p:ext uri="{BB962C8B-B14F-4D97-AF65-F5344CB8AC3E}">
        <p14:creationId xmlns:p14="http://schemas.microsoft.com/office/powerpoint/2010/main" val="40723634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a:off x="-5173055" y="-2043171"/>
            <a:ext cx="5754080" cy="8220114"/>
            <a:chOff x="0" y="0"/>
            <a:chExt cx="4445000" cy="6350000"/>
          </a:xfrm>
        </p:grpSpPr>
        <p:sp>
          <p:nvSpPr>
            <p:cNvPr id="3" name="Freeform 3"/>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4" name="Group 4"/>
          <p:cNvGrpSpPr/>
          <p:nvPr/>
        </p:nvGrpSpPr>
        <p:grpSpPr>
          <a:xfrm rot="5400000">
            <a:off x="1143952" y="1337924"/>
            <a:ext cx="1224824" cy="1224824"/>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6" name="TextBox 6"/>
          <p:cNvSpPr txBox="1"/>
          <p:nvPr/>
        </p:nvSpPr>
        <p:spPr>
          <a:xfrm>
            <a:off x="2767012" y="1467802"/>
            <a:ext cx="7297240" cy="913166"/>
          </a:xfrm>
          <a:prstGeom prst="rect">
            <a:avLst/>
          </a:prstGeom>
        </p:spPr>
        <p:txBody>
          <a:bodyPr lIns="0" tIns="0" rIns="0" bIns="0" rtlCol="0" anchor="t">
            <a:spAutoFit/>
          </a:bodyPr>
          <a:lstStyle/>
          <a:p>
            <a:pPr marL="0" lvl="0" indent="0" algn="l">
              <a:lnSpc>
                <a:spcPts val="6034"/>
              </a:lnSpc>
              <a:spcBef>
                <a:spcPct val="0"/>
              </a:spcBef>
            </a:pPr>
            <a:r>
              <a:rPr lang="en-US" sz="5028" b="1">
                <a:solidFill>
                  <a:srgbClr val="FFFFFF"/>
                </a:solidFill>
                <a:latin typeface="Almarai Bold"/>
                <a:ea typeface="Almarai Bold"/>
                <a:cs typeface="Almarai Bold"/>
                <a:sym typeface="Almarai Bold"/>
              </a:rPr>
              <a:t>CONTESTO</a:t>
            </a:r>
          </a:p>
        </p:txBody>
      </p:sp>
      <p:sp>
        <p:nvSpPr>
          <p:cNvPr id="7" name="TextBox 7"/>
          <p:cNvSpPr txBox="1"/>
          <p:nvPr/>
        </p:nvSpPr>
        <p:spPr>
          <a:xfrm>
            <a:off x="1768405" y="2800873"/>
            <a:ext cx="5216826" cy="951388"/>
          </a:xfrm>
          <a:prstGeom prst="rect">
            <a:avLst/>
          </a:prstGeom>
        </p:spPr>
        <p:txBody>
          <a:bodyPr lIns="0" tIns="0" rIns="0" bIns="0" rtlCol="0" anchor="t">
            <a:spAutoFit/>
          </a:bodyPr>
          <a:lstStyle/>
          <a:p>
            <a:pPr marL="0" lvl="0" indent="0" algn="l">
              <a:lnSpc>
                <a:spcPts val="6355"/>
              </a:lnSpc>
              <a:spcBef>
                <a:spcPct val="0"/>
              </a:spcBef>
            </a:pPr>
            <a:r>
              <a:rPr lang="en-US" sz="4605" b="1">
                <a:solidFill>
                  <a:srgbClr val="17E3B2"/>
                </a:solidFill>
                <a:latin typeface="Almarai Bold"/>
                <a:ea typeface="Almarai Bold"/>
                <a:cs typeface="Almarai Bold"/>
                <a:sym typeface="Almarai Bold"/>
              </a:rPr>
              <a:t>Introduzione</a:t>
            </a:r>
          </a:p>
        </p:txBody>
      </p:sp>
      <p:sp>
        <p:nvSpPr>
          <p:cNvPr id="8" name="TextBox 8"/>
          <p:cNvSpPr txBox="1"/>
          <p:nvPr/>
        </p:nvSpPr>
        <p:spPr>
          <a:xfrm>
            <a:off x="1768405" y="3901130"/>
            <a:ext cx="13108481" cy="1642333"/>
          </a:xfrm>
          <a:prstGeom prst="rect">
            <a:avLst/>
          </a:prstGeom>
        </p:spPr>
        <p:txBody>
          <a:bodyPr lIns="0" tIns="0" rIns="0" bIns="0" rtlCol="0" anchor="t">
            <a:spAutoFit/>
          </a:bodyPr>
          <a:lstStyle/>
          <a:p>
            <a:pPr marL="586330" lvl="1" indent="-293165" algn="l">
              <a:lnSpc>
                <a:spcPts val="3747"/>
              </a:lnSpc>
              <a:buFont typeface="Arial"/>
              <a:buChar char="•"/>
            </a:pPr>
            <a:r>
              <a:rPr lang="en-US" sz="2715">
                <a:solidFill>
                  <a:srgbClr val="FFFFFF"/>
                </a:solidFill>
                <a:latin typeface="Almarai"/>
                <a:ea typeface="Almarai"/>
                <a:cs typeface="Almarai"/>
                <a:sym typeface="Almarai"/>
              </a:rPr>
              <a:t>Pipeline tradizionale: STT → LLM → TTS → LipSync → WebRTC</a:t>
            </a:r>
          </a:p>
          <a:p>
            <a:pPr marL="586330" lvl="1" indent="-293165" algn="l">
              <a:lnSpc>
                <a:spcPts val="3747"/>
              </a:lnSpc>
              <a:buFont typeface="Arial"/>
              <a:buChar char="•"/>
            </a:pPr>
            <a:r>
              <a:rPr lang="en-US" sz="2715">
                <a:solidFill>
                  <a:srgbClr val="FFFFFF"/>
                </a:solidFill>
                <a:latin typeface="Almarai"/>
                <a:ea typeface="Almarai"/>
                <a:cs typeface="Almarai"/>
                <a:sym typeface="Almarai"/>
              </a:rPr>
              <a:t>Latenza di rendering: 2-4 minuti</a:t>
            </a:r>
          </a:p>
          <a:p>
            <a:pPr marL="586330" lvl="1" indent="-293165" algn="l">
              <a:lnSpc>
                <a:spcPts val="3747"/>
              </a:lnSpc>
              <a:buFont typeface="Arial"/>
              <a:buChar char="•"/>
            </a:pPr>
            <a:r>
              <a:rPr lang="en-US" sz="2715">
                <a:solidFill>
                  <a:srgbClr val="FFFFFF"/>
                </a:solidFill>
                <a:latin typeface="Almarai"/>
                <a:ea typeface="Almarai"/>
                <a:cs typeface="Almarai"/>
                <a:sym typeface="Almarai"/>
              </a:rPr>
              <a:t>Requisito richiesto per un digital human: &lt; 800 ms</a:t>
            </a:r>
          </a:p>
        </p:txBody>
      </p:sp>
      <p:sp>
        <p:nvSpPr>
          <p:cNvPr id="9" name="TextBox 9"/>
          <p:cNvSpPr txBox="1"/>
          <p:nvPr/>
        </p:nvSpPr>
        <p:spPr>
          <a:xfrm>
            <a:off x="1768405" y="5950693"/>
            <a:ext cx="8749110" cy="951388"/>
          </a:xfrm>
          <a:prstGeom prst="rect">
            <a:avLst/>
          </a:prstGeom>
        </p:spPr>
        <p:txBody>
          <a:bodyPr lIns="0" tIns="0" rIns="0" bIns="0" rtlCol="0" anchor="t">
            <a:spAutoFit/>
          </a:bodyPr>
          <a:lstStyle/>
          <a:p>
            <a:pPr marL="0" lvl="0" indent="0" algn="l">
              <a:lnSpc>
                <a:spcPts val="6355"/>
              </a:lnSpc>
              <a:spcBef>
                <a:spcPct val="0"/>
              </a:spcBef>
            </a:pPr>
            <a:r>
              <a:rPr lang="en-US" sz="4605" b="1">
                <a:solidFill>
                  <a:srgbClr val="17E3B2"/>
                </a:solidFill>
                <a:latin typeface="Almarai Bold"/>
                <a:ea typeface="Almarai Bold"/>
                <a:cs typeface="Almarai Bold"/>
                <a:sym typeface="Almarai Bold"/>
              </a:rPr>
              <a:t>Approccio Dual Brain</a:t>
            </a:r>
          </a:p>
        </p:txBody>
      </p:sp>
      <p:sp>
        <p:nvSpPr>
          <p:cNvPr id="10" name="TextBox 10"/>
          <p:cNvSpPr txBox="1"/>
          <p:nvPr/>
        </p:nvSpPr>
        <p:spPr>
          <a:xfrm>
            <a:off x="1768405" y="7020495"/>
            <a:ext cx="14518181" cy="1093244"/>
          </a:xfrm>
          <a:prstGeom prst="rect">
            <a:avLst/>
          </a:prstGeom>
        </p:spPr>
        <p:txBody>
          <a:bodyPr lIns="0" tIns="0" rIns="0" bIns="0" rtlCol="0" anchor="t">
            <a:spAutoFit/>
          </a:bodyPr>
          <a:lstStyle/>
          <a:p>
            <a:pPr marL="586330" lvl="1" indent="-293165" algn="l">
              <a:lnSpc>
                <a:spcPts val="3747"/>
              </a:lnSpc>
              <a:buFont typeface="Arial"/>
              <a:buChar char="•"/>
            </a:pPr>
            <a:r>
              <a:rPr lang="en-US" sz="2715">
                <a:solidFill>
                  <a:srgbClr val="FFFFFF"/>
                </a:solidFill>
                <a:latin typeface="Almarai"/>
                <a:ea typeface="Almarai"/>
                <a:cs typeface="Almarai"/>
                <a:sym typeface="Almarai"/>
              </a:rPr>
              <a:t>Instant Path: gestito da un Fast Brain, fornisce un riscontro immediato</a:t>
            </a:r>
          </a:p>
          <a:p>
            <a:pPr marL="586330" lvl="1" indent="-293165" algn="l">
              <a:lnSpc>
                <a:spcPts val="3747"/>
              </a:lnSpc>
              <a:buFont typeface="Arial"/>
              <a:buChar char="•"/>
            </a:pPr>
            <a:r>
              <a:rPr lang="en-US" sz="2715">
                <a:solidFill>
                  <a:srgbClr val="FFFFFF"/>
                </a:solidFill>
                <a:latin typeface="Almarai"/>
                <a:ea typeface="Almarai"/>
                <a:cs typeface="Almarai"/>
                <a:sym typeface="Almarai"/>
              </a:rPr>
              <a:t>Background Path: gestito da un Deep Brain,  elabora la risposta più articolata</a:t>
            </a:r>
          </a:p>
        </p:txBody>
      </p:sp>
      <p:sp>
        <p:nvSpPr>
          <p:cNvPr id="11" name="TextBox 11"/>
          <p:cNvSpPr txBox="1"/>
          <p:nvPr/>
        </p:nvSpPr>
        <p:spPr>
          <a:xfrm>
            <a:off x="1028700" y="1480776"/>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01</a:t>
            </a:r>
          </a:p>
        </p:txBody>
      </p:sp>
      <p:grpSp>
        <p:nvGrpSpPr>
          <p:cNvPr id="12" name="Group 12"/>
          <p:cNvGrpSpPr/>
          <p:nvPr/>
        </p:nvGrpSpPr>
        <p:grpSpPr>
          <a:xfrm rot="5400000">
            <a:off x="16605949" y="8402070"/>
            <a:ext cx="841991" cy="841991"/>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14" name="Group 14"/>
          <p:cNvGrpSpPr/>
          <p:nvPr/>
        </p:nvGrpSpPr>
        <p:grpSpPr>
          <a:xfrm rot="-10800000">
            <a:off x="16605949" y="1202778"/>
            <a:ext cx="5246522" cy="7495031"/>
            <a:chOff x="0" y="0"/>
            <a:chExt cx="4445000" cy="6350000"/>
          </a:xfrm>
        </p:grpSpPr>
        <p:sp>
          <p:nvSpPr>
            <p:cNvPr id="15" name="Freeform 1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sp>
        <p:nvSpPr>
          <p:cNvPr id="17" name="Text 59">
            <a:extLst>
              <a:ext uri="{FF2B5EF4-FFF2-40B4-BE49-F238E27FC236}">
                <a16:creationId xmlns:a16="http://schemas.microsoft.com/office/drawing/2014/main" id="{230EB904-B636-37CC-3430-5B29D35EE998}"/>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01</a:t>
            </a:r>
            <a:endParaRPr lang="en-US" sz="15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a:off x="-5173055" y="-2043171"/>
            <a:ext cx="5754080" cy="8220114"/>
            <a:chOff x="0" y="0"/>
            <a:chExt cx="4445000" cy="6350000"/>
          </a:xfrm>
        </p:grpSpPr>
        <p:sp>
          <p:nvSpPr>
            <p:cNvPr id="3" name="Freeform 3"/>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sp>
        <p:nvSpPr>
          <p:cNvPr id="4" name="TextBox 4"/>
          <p:cNvSpPr txBox="1"/>
          <p:nvPr/>
        </p:nvSpPr>
        <p:spPr>
          <a:xfrm>
            <a:off x="1768405" y="2800873"/>
            <a:ext cx="12151026" cy="951388"/>
          </a:xfrm>
          <a:prstGeom prst="rect">
            <a:avLst/>
          </a:prstGeom>
        </p:spPr>
        <p:txBody>
          <a:bodyPr lIns="0" tIns="0" rIns="0" bIns="0" rtlCol="0" anchor="t">
            <a:spAutoFit/>
          </a:bodyPr>
          <a:lstStyle/>
          <a:p>
            <a:pPr marL="0" lvl="0" indent="0" algn="l">
              <a:lnSpc>
                <a:spcPts val="6355"/>
              </a:lnSpc>
              <a:spcBef>
                <a:spcPct val="0"/>
              </a:spcBef>
            </a:pPr>
            <a:r>
              <a:rPr lang="en-US" sz="4605" b="1">
                <a:solidFill>
                  <a:srgbClr val="17E3B2"/>
                </a:solidFill>
                <a:latin typeface="Almarai Bold"/>
                <a:ea typeface="Almarai Bold"/>
                <a:cs typeface="Almarai Bold"/>
                <a:sym typeface="Almarai Bold"/>
              </a:rPr>
              <a:t>Caso di Studio: Al-Hakima Umm Saif</a:t>
            </a:r>
          </a:p>
        </p:txBody>
      </p:sp>
      <p:sp>
        <p:nvSpPr>
          <p:cNvPr id="5" name="TextBox 5"/>
          <p:cNvSpPr txBox="1"/>
          <p:nvPr/>
        </p:nvSpPr>
        <p:spPr>
          <a:xfrm>
            <a:off x="1768405" y="3901130"/>
            <a:ext cx="13108481" cy="1395243"/>
          </a:xfrm>
          <a:prstGeom prst="rect">
            <a:avLst/>
          </a:prstGeom>
        </p:spPr>
        <p:txBody>
          <a:bodyPr lIns="0" tIns="0" rIns="0" bIns="0" rtlCol="0" anchor="t">
            <a:spAutoFit/>
          </a:bodyPr>
          <a:lstStyle/>
          <a:p>
            <a:pPr marL="586330" lvl="1" indent="-293165" algn="l">
              <a:lnSpc>
                <a:spcPts val="3747"/>
              </a:lnSpc>
              <a:buFont typeface="Arial"/>
              <a:buChar char="•"/>
            </a:pPr>
            <a:r>
              <a:rPr lang="en-US" sz="2715">
                <a:solidFill>
                  <a:srgbClr val="FFFFFF"/>
                </a:solidFill>
                <a:latin typeface="Almarai"/>
                <a:ea typeface="Almarai"/>
                <a:cs typeface="Almarai"/>
                <a:sym typeface="Almarai"/>
              </a:rPr>
              <a:t>Figura tradizionale anziana degli Emirati Arabi Uniti</a:t>
            </a:r>
          </a:p>
          <a:p>
            <a:pPr marL="586330" lvl="1" indent="-293165" algn="l">
              <a:lnSpc>
                <a:spcPts val="3747"/>
              </a:lnSpc>
              <a:buFont typeface="Arial"/>
              <a:buChar char="•"/>
            </a:pPr>
            <a:r>
              <a:rPr lang="en-US" sz="2715">
                <a:solidFill>
                  <a:srgbClr val="FFFFFF"/>
                </a:solidFill>
                <a:latin typeface="Almarai"/>
                <a:ea typeface="Almarai"/>
                <a:cs typeface="Almarai"/>
                <a:sym typeface="Almarai"/>
              </a:rPr>
              <a:t>Tratti empatici e rassicuranti</a:t>
            </a:r>
          </a:p>
          <a:p>
            <a:pPr marL="586330" lvl="1" indent="-293165" algn="l">
              <a:lnSpc>
                <a:spcPts val="3747"/>
              </a:lnSpc>
              <a:buFont typeface="Arial"/>
              <a:buChar char="•"/>
            </a:pPr>
            <a:r>
              <a:rPr lang="en-US" sz="2715">
                <a:solidFill>
                  <a:srgbClr val="FFFFFF"/>
                </a:solidFill>
                <a:latin typeface="Almarai"/>
                <a:ea typeface="Almarai"/>
                <a:cs typeface="Almarai"/>
                <a:sym typeface="Almarai"/>
              </a:rPr>
              <a:t>Fornisce rimedi erboristici </a:t>
            </a:r>
          </a:p>
        </p:txBody>
      </p:sp>
      <p:sp>
        <p:nvSpPr>
          <p:cNvPr id="6" name="TextBox 6"/>
          <p:cNvSpPr txBox="1"/>
          <p:nvPr/>
        </p:nvSpPr>
        <p:spPr>
          <a:xfrm>
            <a:off x="1768405" y="5950693"/>
            <a:ext cx="8749110" cy="951388"/>
          </a:xfrm>
          <a:prstGeom prst="rect">
            <a:avLst/>
          </a:prstGeom>
        </p:spPr>
        <p:txBody>
          <a:bodyPr lIns="0" tIns="0" rIns="0" bIns="0" rtlCol="0" anchor="t">
            <a:spAutoFit/>
          </a:bodyPr>
          <a:lstStyle/>
          <a:p>
            <a:pPr marL="0" lvl="0" indent="0" algn="l">
              <a:lnSpc>
                <a:spcPts val="6355"/>
              </a:lnSpc>
              <a:spcBef>
                <a:spcPct val="0"/>
              </a:spcBef>
            </a:pPr>
            <a:r>
              <a:rPr lang="en-US" sz="4605" b="1">
                <a:solidFill>
                  <a:srgbClr val="17E3B2"/>
                </a:solidFill>
                <a:latin typeface="Almarai Bold"/>
                <a:ea typeface="Almarai Bold"/>
                <a:cs typeface="Almarai Bold"/>
                <a:sym typeface="Almarai Bold"/>
              </a:rPr>
              <a:t>Human Agent Trust</a:t>
            </a:r>
          </a:p>
        </p:txBody>
      </p:sp>
      <p:sp>
        <p:nvSpPr>
          <p:cNvPr id="7" name="TextBox 7"/>
          <p:cNvSpPr txBox="1"/>
          <p:nvPr/>
        </p:nvSpPr>
        <p:spPr>
          <a:xfrm>
            <a:off x="1768405" y="7020495"/>
            <a:ext cx="14518181" cy="2191421"/>
          </a:xfrm>
          <a:prstGeom prst="rect">
            <a:avLst/>
          </a:prstGeom>
        </p:spPr>
        <p:txBody>
          <a:bodyPr lIns="0" tIns="0" rIns="0" bIns="0" rtlCol="0" anchor="t">
            <a:spAutoFit/>
          </a:bodyPr>
          <a:lstStyle/>
          <a:p>
            <a:pPr marL="586330" lvl="1" indent="-293165" algn="l">
              <a:lnSpc>
                <a:spcPts val="3747"/>
              </a:lnSpc>
              <a:buFont typeface="Arial"/>
              <a:buChar char="•"/>
            </a:pPr>
            <a:r>
              <a:rPr lang="en-US" sz="2715">
                <a:solidFill>
                  <a:srgbClr val="FFFFFF"/>
                </a:solidFill>
                <a:latin typeface="Almarai"/>
                <a:ea typeface="Almarai"/>
                <a:cs typeface="Almarai"/>
                <a:sym typeface="Almarai"/>
              </a:rPr>
              <a:t>Fattore critico: elevata persuasività per via del realismo visivo e della sua personalità gentile</a:t>
            </a:r>
          </a:p>
          <a:p>
            <a:pPr marL="586330" lvl="1" indent="-293165" algn="l">
              <a:lnSpc>
                <a:spcPts val="3747"/>
              </a:lnSpc>
              <a:buFont typeface="Arial"/>
              <a:buChar char="•"/>
            </a:pPr>
            <a:r>
              <a:rPr lang="en-US" sz="2715">
                <a:solidFill>
                  <a:srgbClr val="FFFFFF"/>
                </a:solidFill>
                <a:latin typeface="Almarai"/>
                <a:ea typeface="Almarai"/>
                <a:cs typeface="Almarai"/>
                <a:sym typeface="Almarai"/>
              </a:rPr>
              <a:t>Rischio: manipolare l’avatar porta a prescrizioni nocive</a:t>
            </a:r>
          </a:p>
          <a:p>
            <a:pPr marL="586330" lvl="1" indent="-293165" algn="l">
              <a:lnSpc>
                <a:spcPts val="3747"/>
              </a:lnSpc>
              <a:buFont typeface="Arial"/>
              <a:buChar char="•"/>
            </a:pPr>
            <a:r>
              <a:rPr lang="en-US" sz="2715">
                <a:solidFill>
                  <a:srgbClr val="FFFFFF"/>
                </a:solidFill>
                <a:latin typeface="Almarai"/>
                <a:ea typeface="Almarai"/>
                <a:cs typeface="Almarai"/>
                <a:sym typeface="Almarai"/>
              </a:rPr>
              <a:t>Obiettivo: proteggere l’integrità dei contenuti senza intaccare il real time</a:t>
            </a:r>
          </a:p>
        </p:txBody>
      </p:sp>
      <p:sp>
        <p:nvSpPr>
          <p:cNvPr id="8" name="TextBox 8"/>
          <p:cNvSpPr txBox="1"/>
          <p:nvPr/>
        </p:nvSpPr>
        <p:spPr>
          <a:xfrm>
            <a:off x="2767012" y="1467802"/>
            <a:ext cx="7297240" cy="913166"/>
          </a:xfrm>
          <a:prstGeom prst="rect">
            <a:avLst/>
          </a:prstGeom>
        </p:spPr>
        <p:txBody>
          <a:bodyPr lIns="0" tIns="0" rIns="0" bIns="0" rtlCol="0" anchor="t">
            <a:spAutoFit/>
          </a:bodyPr>
          <a:lstStyle/>
          <a:p>
            <a:pPr marL="0" lvl="0" indent="0" algn="l">
              <a:lnSpc>
                <a:spcPts val="6034"/>
              </a:lnSpc>
              <a:spcBef>
                <a:spcPct val="0"/>
              </a:spcBef>
            </a:pPr>
            <a:r>
              <a:rPr lang="en-US" sz="5028" b="1">
                <a:solidFill>
                  <a:srgbClr val="FFFFFF"/>
                </a:solidFill>
                <a:latin typeface="Almarai Bold"/>
                <a:ea typeface="Almarai Bold"/>
                <a:cs typeface="Almarai Bold"/>
                <a:sym typeface="Almarai Bold"/>
              </a:rPr>
              <a:t>CONTESTO</a:t>
            </a:r>
          </a:p>
        </p:txBody>
      </p:sp>
      <p:grpSp>
        <p:nvGrpSpPr>
          <p:cNvPr id="9" name="Group 9"/>
          <p:cNvGrpSpPr/>
          <p:nvPr/>
        </p:nvGrpSpPr>
        <p:grpSpPr>
          <a:xfrm rot="5400000">
            <a:off x="1143952" y="1337924"/>
            <a:ext cx="1224824" cy="1224824"/>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1" name="TextBox 11"/>
          <p:cNvSpPr txBox="1"/>
          <p:nvPr/>
        </p:nvSpPr>
        <p:spPr>
          <a:xfrm>
            <a:off x="1028700" y="1480776"/>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01</a:t>
            </a:r>
          </a:p>
        </p:txBody>
      </p:sp>
      <p:grpSp>
        <p:nvGrpSpPr>
          <p:cNvPr id="12" name="Group 12"/>
          <p:cNvGrpSpPr/>
          <p:nvPr/>
        </p:nvGrpSpPr>
        <p:grpSpPr>
          <a:xfrm rot="5400000">
            <a:off x="16605949" y="8402070"/>
            <a:ext cx="841991" cy="841991"/>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14" name="Group 14"/>
          <p:cNvGrpSpPr/>
          <p:nvPr/>
        </p:nvGrpSpPr>
        <p:grpSpPr>
          <a:xfrm rot="-10800000">
            <a:off x="16605949" y="1202778"/>
            <a:ext cx="5246522" cy="7495031"/>
            <a:chOff x="0" y="0"/>
            <a:chExt cx="4445000" cy="6350000"/>
          </a:xfrm>
        </p:grpSpPr>
        <p:sp>
          <p:nvSpPr>
            <p:cNvPr id="15" name="Freeform 1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sp>
        <p:nvSpPr>
          <p:cNvPr id="19" name="Text 59">
            <a:extLst>
              <a:ext uri="{FF2B5EF4-FFF2-40B4-BE49-F238E27FC236}">
                <a16:creationId xmlns:a16="http://schemas.microsoft.com/office/drawing/2014/main" id="{812BD620-C0DC-0465-F996-930BB22AC4B7}"/>
              </a:ext>
            </a:extLst>
          </p:cNvPr>
          <p:cNvSpPr/>
          <p:nvPr/>
        </p:nvSpPr>
        <p:spPr>
          <a:xfrm>
            <a:off x="17239488"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02</a:t>
            </a:r>
            <a:endParaRPr lang="en-US" sz="15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10" name="Group 10"/>
          <p:cNvGrpSpPr/>
          <p:nvPr/>
        </p:nvGrpSpPr>
        <p:grpSpPr>
          <a:xfrm>
            <a:off x="1393253" y="3029354"/>
            <a:ext cx="911914" cy="911914"/>
            <a:chOff x="0" y="0"/>
            <a:chExt cx="1215886" cy="1215886"/>
          </a:xfrm>
        </p:grpSpPr>
        <p:grpSp>
          <p:nvGrpSpPr>
            <p:cNvPr id="11" name="Group 11"/>
            <p:cNvGrpSpPr/>
            <p:nvPr/>
          </p:nvGrpSpPr>
          <p:grpSpPr>
            <a:xfrm>
              <a:off x="0" y="0"/>
              <a:ext cx="1215886" cy="1215886"/>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E3B2"/>
              </a:solidFill>
            </p:spPr>
            <p:txBody>
              <a:bodyPr/>
              <a:lstStyle/>
              <a:p>
                <a:endParaRPr lang="it-IT"/>
              </a:p>
            </p:txBody>
          </p:sp>
          <p:sp>
            <p:nvSpPr>
              <p:cNvPr id="13" name="TextBox 13"/>
              <p:cNvSpPr txBox="1"/>
              <p:nvPr/>
            </p:nvSpPr>
            <p:spPr>
              <a:xfrm>
                <a:off x="76200" y="28575"/>
                <a:ext cx="660400" cy="708025"/>
              </a:xfrm>
              <a:prstGeom prst="rect">
                <a:avLst/>
              </a:prstGeom>
            </p:spPr>
            <p:txBody>
              <a:bodyPr lIns="50800" tIns="50800" rIns="50800" bIns="50800" rtlCol="0" anchor="ctr"/>
              <a:lstStyle/>
              <a:p>
                <a:pPr algn="ctr">
                  <a:lnSpc>
                    <a:spcPts val="2605"/>
                  </a:lnSpc>
                </a:pPr>
                <a:endParaRPr/>
              </a:p>
            </p:txBody>
          </p:sp>
        </p:grpSp>
        <p:sp>
          <p:nvSpPr>
            <p:cNvPr id="14" name="Freeform 14"/>
            <p:cNvSpPr/>
            <p:nvPr/>
          </p:nvSpPr>
          <p:spPr>
            <a:xfrm flipH="1">
              <a:off x="167076" y="167076"/>
              <a:ext cx="881733" cy="881733"/>
            </a:xfrm>
            <a:custGeom>
              <a:avLst/>
              <a:gdLst/>
              <a:ahLst/>
              <a:cxnLst/>
              <a:rect l="l" t="t" r="r" b="b"/>
              <a:pathLst>
                <a:path w="881733" h="881733">
                  <a:moveTo>
                    <a:pt x="881733" y="0"/>
                  </a:moveTo>
                  <a:lnTo>
                    <a:pt x="0" y="0"/>
                  </a:lnTo>
                  <a:lnTo>
                    <a:pt x="0" y="881733"/>
                  </a:lnTo>
                  <a:lnTo>
                    <a:pt x="881733" y="881733"/>
                  </a:lnTo>
                  <a:lnTo>
                    <a:pt x="881733"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it-IT"/>
            </a:p>
          </p:txBody>
        </p:sp>
      </p:grpSp>
      <p:grpSp>
        <p:nvGrpSpPr>
          <p:cNvPr id="15" name="Group 15"/>
          <p:cNvGrpSpPr/>
          <p:nvPr/>
        </p:nvGrpSpPr>
        <p:grpSpPr>
          <a:xfrm>
            <a:off x="1393253" y="4570058"/>
            <a:ext cx="911914" cy="911914"/>
            <a:chOff x="0" y="0"/>
            <a:chExt cx="1215886" cy="1215886"/>
          </a:xfrm>
        </p:grpSpPr>
        <p:grpSp>
          <p:nvGrpSpPr>
            <p:cNvPr id="16" name="Group 16"/>
            <p:cNvGrpSpPr/>
            <p:nvPr/>
          </p:nvGrpSpPr>
          <p:grpSpPr>
            <a:xfrm>
              <a:off x="0" y="0"/>
              <a:ext cx="1215886" cy="121588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E3B2"/>
              </a:solidFill>
            </p:spPr>
            <p:txBody>
              <a:bodyPr/>
              <a:lstStyle/>
              <a:p>
                <a:endParaRPr lang="it-IT"/>
              </a:p>
            </p:txBody>
          </p:sp>
          <p:sp>
            <p:nvSpPr>
              <p:cNvPr id="18" name="TextBox 18"/>
              <p:cNvSpPr txBox="1"/>
              <p:nvPr/>
            </p:nvSpPr>
            <p:spPr>
              <a:xfrm>
                <a:off x="76200" y="28575"/>
                <a:ext cx="660400" cy="708025"/>
              </a:xfrm>
              <a:prstGeom prst="rect">
                <a:avLst/>
              </a:prstGeom>
            </p:spPr>
            <p:txBody>
              <a:bodyPr lIns="50800" tIns="50800" rIns="50800" bIns="50800" rtlCol="0" anchor="ctr"/>
              <a:lstStyle/>
              <a:p>
                <a:pPr algn="ctr">
                  <a:lnSpc>
                    <a:spcPts val="2605"/>
                  </a:lnSpc>
                </a:pPr>
                <a:endParaRPr/>
              </a:p>
            </p:txBody>
          </p:sp>
        </p:grpSp>
        <p:sp>
          <p:nvSpPr>
            <p:cNvPr id="19" name="Freeform 19"/>
            <p:cNvSpPr/>
            <p:nvPr/>
          </p:nvSpPr>
          <p:spPr>
            <a:xfrm>
              <a:off x="216998" y="147014"/>
              <a:ext cx="783579" cy="921857"/>
            </a:xfrm>
            <a:custGeom>
              <a:avLst/>
              <a:gdLst/>
              <a:ahLst/>
              <a:cxnLst/>
              <a:rect l="l" t="t" r="r" b="b"/>
              <a:pathLst>
                <a:path w="783579" h="921857">
                  <a:moveTo>
                    <a:pt x="0" y="0"/>
                  </a:moveTo>
                  <a:lnTo>
                    <a:pt x="783579" y="0"/>
                  </a:lnTo>
                  <a:lnTo>
                    <a:pt x="783579" y="921858"/>
                  </a:lnTo>
                  <a:lnTo>
                    <a:pt x="0" y="92185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it-IT"/>
            </a:p>
          </p:txBody>
        </p:sp>
      </p:grpSp>
      <p:grpSp>
        <p:nvGrpSpPr>
          <p:cNvPr id="20" name="Group 20"/>
          <p:cNvGrpSpPr/>
          <p:nvPr/>
        </p:nvGrpSpPr>
        <p:grpSpPr>
          <a:xfrm>
            <a:off x="1393253" y="6110763"/>
            <a:ext cx="911914" cy="911914"/>
            <a:chOff x="0" y="0"/>
            <a:chExt cx="1215886" cy="1215886"/>
          </a:xfrm>
        </p:grpSpPr>
        <p:grpSp>
          <p:nvGrpSpPr>
            <p:cNvPr id="21" name="Group 21"/>
            <p:cNvGrpSpPr/>
            <p:nvPr/>
          </p:nvGrpSpPr>
          <p:grpSpPr>
            <a:xfrm>
              <a:off x="0" y="0"/>
              <a:ext cx="1215886" cy="1215886"/>
              <a:chOff x="0" y="0"/>
              <a:chExt cx="812800" cy="812800"/>
            </a:xfrm>
          </p:grpSpPr>
          <p:sp>
            <p:nvSpPr>
              <p:cNvPr id="22" name="Freeform 2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E3B2"/>
              </a:solidFill>
            </p:spPr>
            <p:txBody>
              <a:bodyPr/>
              <a:lstStyle/>
              <a:p>
                <a:endParaRPr lang="it-IT"/>
              </a:p>
            </p:txBody>
          </p:sp>
          <p:sp>
            <p:nvSpPr>
              <p:cNvPr id="23" name="TextBox 23"/>
              <p:cNvSpPr txBox="1"/>
              <p:nvPr/>
            </p:nvSpPr>
            <p:spPr>
              <a:xfrm>
                <a:off x="76200" y="28575"/>
                <a:ext cx="660400" cy="708025"/>
              </a:xfrm>
              <a:prstGeom prst="rect">
                <a:avLst/>
              </a:prstGeom>
            </p:spPr>
            <p:txBody>
              <a:bodyPr lIns="50800" tIns="50800" rIns="50800" bIns="50800" rtlCol="0" anchor="ctr"/>
              <a:lstStyle/>
              <a:p>
                <a:pPr algn="ctr">
                  <a:lnSpc>
                    <a:spcPts val="2605"/>
                  </a:lnSpc>
                </a:pPr>
                <a:endParaRPr/>
              </a:p>
            </p:txBody>
          </p:sp>
        </p:grpSp>
        <p:sp>
          <p:nvSpPr>
            <p:cNvPr id="24" name="Freeform 24"/>
            <p:cNvSpPr/>
            <p:nvPr/>
          </p:nvSpPr>
          <p:spPr>
            <a:xfrm>
              <a:off x="153890" y="219728"/>
              <a:ext cx="908105" cy="776430"/>
            </a:xfrm>
            <a:custGeom>
              <a:avLst/>
              <a:gdLst/>
              <a:ahLst/>
              <a:cxnLst/>
              <a:rect l="l" t="t" r="r" b="b"/>
              <a:pathLst>
                <a:path w="908105" h="776430">
                  <a:moveTo>
                    <a:pt x="0" y="0"/>
                  </a:moveTo>
                  <a:lnTo>
                    <a:pt x="908106" y="0"/>
                  </a:lnTo>
                  <a:lnTo>
                    <a:pt x="908106" y="776430"/>
                  </a:lnTo>
                  <a:lnTo>
                    <a:pt x="0" y="776430"/>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it-IT"/>
            </a:p>
          </p:txBody>
        </p:sp>
      </p:grpSp>
      <p:grpSp>
        <p:nvGrpSpPr>
          <p:cNvPr id="25" name="Group 25"/>
          <p:cNvGrpSpPr/>
          <p:nvPr/>
        </p:nvGrpSpPr>
        <p:grpSpPr>
          <a:xfrm>
            <a:off x="1393253" y="7651467"/>
            <a:ext cx="911914" cy="911914"/>
            <a:chOff x="0" y="0"/>
            <a:chExt cx="1215886" cy="1215886"/>
          </a:xfrm>
        </p:grpSpPr>
        <p:grpSp>
          <p:nvGrpSpPr>
            <p:cNvPr id="26" name="Group 26"/>
            <p:cNvGrpSpPr/>
            <p:nvPr/>
          </p:nvGrpSpPr>
          <p:grpSpPr>
            <a:xfrm>
              <a:off x="0" y="0"/>
              <a:ext cx="1215886" cy="1215886"/>
              <a:chOff x="0" y="0"/>
              <a:chExt cx="812800" cy="812800"/>
            </a:xfrm>
          </p:grpSpPr>
          <p:sp>
            <p:nvSpPr>
              <p:cNvPr id="27" name="Freeform 2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7E3B2"/>
              </a:solidFill>
            </p:spPr>
            <p:txBody>
              <a:bodyPr/>
              <a:lstStyle/>
              <a:p>
                <a:endParaRPr lang="it-IT"/>
              </a:p>
            </p:txBody>
          </p:sp>
          <p:sp>
            <p:nvSpPr>
              <p:cNvPr id="28" name="TextBox 28"/>
              <p:cNvSpPr txBox="1"/>
              <p:nvPr/>
            </p:nvSpPr>
            <p:spPr>
              <a:xfrm>
                <a:off x="76200" y="28575"/>
                <a:ext cx="660400" cy="708025"/>
              </a:xfrm>
              <a:prstGeom prst="rect">
                <a:avLst/>
              </a:prstGeom>
            </p:spPr>
            <p:txBody>
              <a:bodyPr lIns="50800" tIns="50800" rIns="50800" bIns="50800" rtlCol="0" anchor="ctr"/>
              <a:lstStyle/>
              <a:p>
                <a:pPr algn="ctr">
                  <a:lnSpc>
                    <a:spcPts val="2605"/>
                  </a:lnSpc>
                </a:pPr>
                <a:endParaRPr/>
              </a:p>
            </p:txBody>
          </p:sp>
        </p:grpSp>
        <p:sp>
          <p:nvSpPr>
            <p:cNvPr id="29" name="Freeform 29"/>
            <p:cNvSpPr/>
            <p:nvPr/>
          </p:nvSpPr>
          <p:spPr>
            <a:xfrm>
              <a:off x="188347" y="192543"/>
              <a:ext cx="839192" cy="830800"/>
            </a:xfrm>
            <a:custGeom>
              <a:avLst/>
              <a:gdLst/>
              <a:ahLst/>
              <a:cxnLst/>
              <a:rect l="l" t="t" r="r" b="b"/>
              <a:pathLst>
                <a:path w="839192" h="830800">
                  <a:moveTo>
                    <a:pt x="0" y="0"/>
                  </a:moveTo>
                  <a:lnTo>
                    <a:pt x="839192" y="0"/>
                  </a:lnTo>
                  <a:lnTo>
                    <a:pt x="839192" y="830800"/>
                  </a:lnTo>
                  <a:lnTo>
                    <a:pt x="0" y="830800"/>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it-IT"/>
            </a:p>
          </p:txBody>
        </p:sp>
      </p:grpSp>
      <p:sp>
        <p:nvSpPr>
          <p:cNvPr id="30" name="TextBox 30"/>
          <p:cNvSpPr txBox="1"/>
          <p:nvPr/>
        </p:nvSpPr>
        <p:spPr>
          <a:xfrm>
            <a:off x="2767012" y="1467525"/>
            <a:ext cx="9504683" cy="917201"/>
          </a:xfrm>
          <a:prstGeom prst="rect">
            <a:avLst/>
          </a:prstGeom>
        </p:spPr>
        <p:txBody>
          <a:bodyPr lIns="0" tIns="0" rIns="0" bIns="0" rtlCol="0" anchor="t">
            <a:spAutoFit/>
          </a:bodyPr>
          <a:lstStyle/>
          <a:p>
            <a:pPr marL="0" lvl="0" indent="0" algn="l">
              <a:lnSpc>
                <a:spcPts val="6036"/>
              </a:lnSpc>
              <a:spcBef>
                <a:spcPct val="0"/>
              </a:spcBef>
            </a:pPr>
            <a:r>
              <a:rPr lang="en-US" sz="5030" b="1" u="none" strike="noStrike">
                <a:solidFill>
                  <a:srgbClr val="FFFFFF"/>
                </a:solidFill>
                <a:latin typeface="Almarai Bold"/>
                <a:ea typeface="Almarai Bold"/>
                <a:cs typeface="Almarai Bold"/>
                <a:sym typeface="Almarai Bold"/>
              </a:rPr>
              <a:t>SCOPE E METODOLOGIA</a:t>
            </a:r>
          </a:p>
        </p:txBody>
      </p:sp>
      <p:sp>
        <p:nvSpPr>
          <p:cNvPr id="31" name="TextBox 31"/>
          <p:cNvSpPr txBox="1"/>
          <p:nvPr/>
        </p:nvSpPr>
        <p:spPr>
          <a:xfrm>
            <a:off x="2600760" y="3006994"/>
            <a:ext cx="13411676" cy="453413"/>
          </a:xfrm>
          <a:prstGeom prst="rect">
            <a:avLst/>
          </a:prstGeom>
        </p:spPr>
        <p:txBody>
          <a:bodyPr lIns="0" tIns="0" rIns="0" bIns="0" rtlCol="0" anchor="t">
            <a:spAutoFit/>
          </a:bodyPr>
          <a:lstStyle/>
          <a:p>
            <a:pPr marL="0" lvl="0" indent="0" algn="l">
              <a:lnSpc>
                <a:spcPts val="3006"/>
              </a:lnSpc>
              <a:spcBef>
                <a:spcPct val="0"/>
              </a:spcBef>
            </a:pPr>
            <a:r>
              <a:rPr lang="en-US" sz="2178">
                <a:solidFill>
                  <a:srgbClr val="FFFFFF"/>
                </a:solidFill>
                <a:latin typeface="Almarai"/>
                <a:ea typeface="Almarai"/>
                <a:cs typeface="Almarai"/>
                <a:sym typeface="Almarai"/>
              </a:rPr>
              <a:t>Oggetto dell’analisi: pipeline dual-brain, canali di inferenza e servizi multimediali downstream </a:t>
            </a:r>
          </a:p>
        </p:txBody>
      </p:sp>
      <p:sp>
        <p:nvSpPr>
          <p:cNvPr id="32" name="TextBox 32"/>
          <p:cNvSpPr txBox="1"/>
          <p:nvPr/>
        </p:nvSpPr>
        <p:spPr>
          <a:xfrm>
            <a:off x="2600760" y="4547698"/>
            <a:ext cx="13207361" cy="899485"/>
          </a:xfrm>
          <a:prstGeom prst="rect">
            <a:avLst/>
          </a:prstGeom>
        </p:spPr>
        <p:txBody>
          <a:bodyPr lIns="0" tIns="0" rIns="0" bIns="0" rtlCol="0" anchor="t">
            <a:spAutoFit/>
          </a:bodyPr>
          <a:lstStyle/>
          <a:p>
            <a:pPr marL="0" lvl="0" indent="0" algn="l">
              <a:lnSpc>
                <a:spcPts val="3006"/>
              </a:lnSpc>
              <a:spcBef>
                <a:spcPct val="0"/>
              </a:spcBef>
            </a:pPr>
            <a:r>
              <a:rPr lang="en-US" sz="2178">
                <a:solidFill>
                  <a:srgbClr val="FFFFFF"/>
                </a:solidFill>
                <a:latin typeface="Almarai"/>
                <a:ea typeface="Almarai"/>
                <a:cs typeface="Almarai"/>
                <a:sym typeface="Almarai"/>
              </a:rPr>
              <a:t>STRIDE-AI + CIA3-R: approccio asset-centered esteso alle 7 proprietà di sicurezza (CIA + Autenticazione, Autorizzazione, Accountability, Non-ripudio) </a:t>
            </a:r>
          </a:p>
        </p:txBody>
      </p:sp>
      <p:sp>
        <p:nvSpPr>
          <p:cNvPr id="33" name="TextBox 33"/>
          <p:cNvSpPr txBox="1"/>
          <p:nvPr/>
        </p:nvSpPr>
        <p:spPr>
          <a:xfrm>
            <a:off x="2600760" y="6088403"/>
            <a:ext cx="13411676" cy="899485"/>
          </a:xfrm>
          <a:prstGeom prst="rect">
            <a:avLst/>
          </a:prstGeom>
        </p:spPr>
        <p:txBody>
          <a:bodyPr lIns="0" tIns="0" rIns="0" bIns="0" rtlCol="0" anchor="t">
            <a:spAutoFit/>
          </a:bodyPr>
          <a:lstStyle/>
          <a:p>
            <a:pPr marL="0" lvl="0" indent="0" algn="l">
              <a:lnSpc>
                <a:spcPts val="3006"/>
              </a:lnSpc>
              <a:spcBef>
                <a:spcPct val="0"/>
              </a:spcBef>
            </a:pPr>
            <a:r>
              <a:rPr lang="en-US" sz="2178">
                <a:solidFill>
                  <a:srgbClr val="FFFFFF"/>
                </a:solidFill>
                <a:latin typeface="Almarai"/>
                <a:ea typeface="Almarai"/>
                <a:cs typeface="Almarai"/>
                <a:sym typeface="Almarai"/>
              </a:rPr>
              <a:t>OWASP Agentic Top 10: identificazione e mappatura delle minacce specifiche per applicazioni ad agenti autonomi</a:t>
            </a:r>
          </a:p>
        </p:txBody>
      </p:sp>
      <p:sp>
        <p:nvSpPr>
          <p:cNvPr id="34" name="TextBox 34"/>
          <p:cNvSpPr txBox="1"/>
          <p:nvPr/>
        </p:nvSpPr>
        <p:spPr>
          <a:xfrm>
            <a:off x="2600760" y="7629107"/>
            <a:ext cx="13207361" cy="899485"/>
          </a:xfrm>
          <a:prstGeom prst="rect">
            <a:avLst/>
          </a:prstGeom>
        </p:spPr>
        <p:txBody>
          <a:bodyPr lIns="0" tIns="0" rIns="0" bIns="0" rtlCol="0" anchor="t">
            <a:spAutoFit/>
          </a:bodyPr>
          <a:lstStyle/>
          <a:p>
            <a:pPr marL="0" lvl="0" indent="0" algn="l">
              <a:lnSpc>
                <a:spcPts val="3006"/>
              </a:lnSpc>
              <a:spcBef>
                <a:spcPct val="0"/>
              </a:spcBef>
            </a:pPr>
            <a:r>
              <a:rPr lang="en-US" sz="2178">
                <a:solidFill>
                  <a:srgbClr val="FFFFFF"/>
                </a:solidFill>
                <a:latin typeface="Almarai"/>
                <a:ea typeface="Almarai"/>
                <a:cs typeface="Almarai"/>
                <a:sym typeface="Almarai"/>
              </a:rPr>
              <a:t>B</a:t>
            </a:r>
            <a:r>
              <a:rPr lang="en-US" sz="2178" u="none" strike="noStrike">
                <a:solidFill>
                  <a:srgbClr val="FFFFFF"/>
                </a:solidFill>
                <a:latin typeface="Almarai"/>
                <a:ea typeface="Almarai"/>
                <a:cs typeface="Almarai"/>
                <a:sym typeface="Almarai"/>
              </a:rPr>
              <a:t>aseline vs Secure Architecture: anastima del rischio inerente sul sistema base vs rischio residuo con le 7 Precauzioni</a:t>
            </a:r>
          </a:p>
        </p:txBody>
      </p:sp>
      <p:sp>
        <p:nvSpPr>
          <p:cNvPr id="35" name="TextBox 35"/>
          <p:cNvSpPr txBox="1"/>
          <p:nvPr/>
        </p:nvSpPr>
        <p:spPr>
          <a:xfrm>
            <a:off x="1028700" y="1480657"/>
            <a:ext cx="1456246" cy="843870"/>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02</a:t>
            </a:r>
          </a:p>
        </p:txBody>
      </p:sp>
      <p:sp>
        <p:nvSpPr>
          <p:cNvPr id="37" name="Text 59">
            <a:extLst>
              <a:ext uri="{FF2B5EF4-FFF2-40B4-BE49-F238E27FC236}">
                <a16:creationId xmlns:a16="http://schemas.microsoft.com/office/drawing/2014/main" id="{FBB3CECE-8A35-6B78-007F-318929EF74F3}"/>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03</a:t>
            </a:r>
            <a:endParaRPr lang="en-US" sz="15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Freeform 10"/>
          <p:cNvSpPr/>
          <p:nvPr/>
        </p:nvSpPr>
        <p:spPr>
          <a:xfrm>
            <a:off x="7957479" y="3761452"/>
            <a:ext cx="8648470" cy="4830981"/>
          </a:xfrm>
          <a:custGeom>
            <a:avLst/>
            <a:gdLst/>
            <a:ahLst/>
            <a:cxnLst/>
            <a:rect l="l" t="t" r="r" b="b"/>
            <a:pathLst>
              <a:path w="8648470" h="4830981">
                <a:moveTo>
                  <a:pt x="0" y="0"/>
                </a:moveTo>
                <a:lnTo>
                  <a:pt x="8648470" y="0"/>
                </a:lnTo>
                <a:lnTo>
                  <a:pt x="8648470" y="4830982"/>
                </a:lnTo>
                <a:lnTo>
                  <a:pt x="0" y="4830982"/>
                </a:lnTo>
                <a:lnTo>
                  <a:pt x="0" y="0"/>
                </a:lnTo>
                <a:close/>
              </a:path>
            </a:pathLst>
          </a:custGeom>
          <a:blipFill>
            <a:blip r:embed="rId4"/>
            <a:stretch>
              <a:fillRect/>
            </a:stretch>
          </a:blipFill>
        </p:spPr>
        <p:txBody>
          <a:bodyPr/>
          <a:lstStyle/>
          <a:p>
            <a:endParaRPr lang="it-IT"/>
          </a:p>
        </p:txBody>
      </p:sp>
      <p:sp>
        <p:nvSpPr>
          <p:cNvPr id="11" name="TextBox 11"/>
          <p:cNvSpPr txBox="1"/>
          <p:nvPr/>
        </p:nvSpPr>
        <p:spPr>
          <a:xfrm>
            <a:off x="2766869" y="1467525"/>
            <a:ext cx="12080272"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DESCRIZIONE DELLA PIPELINE</a:t>
            </a:r>
          </a:p>
        </p:txBody>
      </p:sp>
      <p:sp>
        <p:nvSpPr>
          <p:cNvPr id="12" name="TextBox 12"/>
          <p:cNvSpPr txBox="1"/>
          <p:nvPr/>
        </p:nvSpPr>
        <p:spPr>
          <a:xfrm>
            <a:off x="1028700" y="1480657"/>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03</a:t>
            </a:r>
          </a:p>
        </p:txBody>
      </p:sp>
      <p:sp>
        <p:nvSpPr>
          <p:cNvPr id="13" name="TextBox 13"/>
          <p:cNvSpPr txBox="1"/>
          <p:nvPr/>
        </p:nvSpPr>
        <p:spPr>
          <a:xfrm>
            <a:off x="1028700" y="3518952"/>
            <a:ext cx="6359773" cy="5833917"/>
          </a:xfrm>
          <a:prstGeom prst="rect">
            <a:avLst/>
          </a:prstGeom>
        </p:spPr>
        <p:txBody>
          <a:bodyPr lIns="0" tIns="0" rIns="0" bIns="0" rtlCol="0" anchor="t">
            <a:spAutoFit/>
          </a:bodyPr>
          <a:lstStyle/>
          <a:p>
            <a:pPr marL="474976" lvl="1" indent="-237488" algn="l">
              <a:lnSpc>
                <a:spcPts val="3035"/>
              </a:lnSpc>
              <a:buFont typeface="Arial"/>
              <a:buChar char="•"/>
            </a:pPr>
            <a:r>
              <a:rPr lang="en-US" sz="2199" b="1">
                <a:solidFill>
                  <a:srgbClr val="FFFFFF"/>
                </a:solidFill>
                <a:latin typeface="Almarai Bold"/>
                <a:ea typeface="Almarai Bold"/>
                <a:cs typeface="Almarai Bold"/>
                <a:sym typeface="Almarai Bold"/>
              </a:rPr>
              <a:t>Instant Path (Fast-Brain):</a:t>
            </a:r>
            <a:r>
              <a:rPr lang="en-US" sz="2199">
                <a:solidFill>
                  <a:srgbClr val="FFFFFF"/>
                </a:solidFill>
                <a:latin typeface="Almarai"/>
                <a:ea typeface="Almarai"/>
                <a:cs typeface="Almarai"/>
                <a:sym typeface="Almarai"/>
              </a:rPr>
              <a:t> elabora token parziali in &lt; 800 ms; seleziona filler verbali brevi e gesti pre-renderizzati per azzerare la latenza percepita.</a:t>
            </a:r>
          </a:p>
          <a:p>
            <a:pPr marL="474976" lvl="1" indent="-237488" algn="l">
              <a:lnSpc>
                <a:spcPts val="3035"/>
              </a:lnSpc>
              <a:buFont typeface="Arial"/>
              <a:buChar char="•"/>
            </a:pPr>
            <a:r>
              <a:rPr lang="en-US" sz="2199" b="1">
                <a:solidFill>
                  <a:srgbClr val="FFFFFF"/>
                </a:solidFill>
                <a:latin typeface="Almarai Bold"/>
                <a:ea typeface="Almarai Bold"/>
                <a:cs typeface="Almarai Bold"/>
                <a:sym typeface="Almarai Bold"/>
              </a:rPr>
              <a:t>Background Path (Deep-Brain)</a:t>
            </a:r>
            <a:r>
              <a:rPr lang="en-US" sz="2199">
                <a:solidFill>
                  <a:srgbClr val="FFFFFF"/>
                </a:solidFill>
                <a:latin typeface="Almarai"/>
                <a:ea typeface="Almarai"/>
                <a:cs typeface="Almarai"/>
                <a:sym typeface="Almarai"/>
              </a:rPr>
              <a:t>: elabora la risposta completa (2-4 min) integrando RAG su FAISS, system prompt e rendering video cinematografico.</a:t>
            </a:r>
          </a:p>
          <a:p>
            <a:pPr marL="474976" lvl="1" indent="-237488" algn="l">
              <a:lnSpc>
                <a:spcPts val="3035"/>
              </a:lnSpc>
              <a:buFont typeface="Arial"/>
              <a:buChar char="•"/>
            </a:pPr>
            <a:r>
              <a:rPr lang="en-US" sz="2199" b="1">
                <a:solidFill>
                  <a:srgbClr val="FFFFFF"/>
                </a:solidFill>
                <a:latin typeface="Almarai Bold"/>
                <a:ea typeface="Almarai Bold"/>
                <a:cs typeface="Almarai Bold"/>
                <a:sym typeface="Almarai Bold"/>
              </a:rPr>
              <a:t>Swap Manager</a:t>
            </a:r>
            <a:r>
              <a:rPr lang="en-US" sz="2199">
                <a:solidFill>
                  <a:srgbClr val="FFFFFF"/>
                </a:solidFill>
                <a:latin typeface="Almarai"/>
                <a:ea typeface="Almarai"/>
                <a:cs typeface="Almarai"/>
                <a:sym typeface="Almarai"/>
              </a:rPr>
              <a:t>: macchina a stati deterministica che esegue lo seamless cut evitando glitch posturali o sovrapposizioni vocali.</a:t>
            </a:r>
          </a:p>
        </p:txBody>
      </p:sp>
      <p:sp>
        <p:nvSpPr>
          <p:cNvPr id="14" name="TextBox 14"/>
          <p:cNvSpPr txBox="1"/>
          <p:nvPr/>
        </p:nvSpPr>
        <p:spPr>
          <a:xfrm>
            <a:off x="1308479" y="2669045"/>
            <a:ext cx="6079995" cy="724441"/>
          </a:xfrm>
          <a:prstGeom prst="rect">
            <a:avLst/>
          </a:prstGeom>
        </p:spPr>
        <p:txBody>
          <a:bodyPr lIns="0" tIns="0" rIns="0" bIns="0" rtlCol="0" anchor="t">
            <a:spAutoFit/>
          </a:bodyPr>
          <a:lstStyle/>
          <a:p>
            <a:pPr marL="0" lvl="0" indent="0" algn="l">
              <a:lnSpc>
                <a:spcPts val="4837"/>
              </a:lnSpc>
              <a:spcBef>
                <a:spcPct val="0"/>
              </a:spcBef>
            </a:pPr>
            <a:r>
              <a:rPr lang="en-US" sz="3505" b="1">
                <a:solidFill>
                  <a:srgbClr val="17E3B2"/>
                </a:solidFill>
                <a:latin typeface="Almarai Bold"/>
                <a:ea typeface="Almarai Bold"/>
                <a:cs typeface="Almarai Bold"/>
                <a:sym typeface="Almarai Bold"/>
              </a:rPr>
              <a:t>Architettura Dual-Brain</a:t>
            </a:r>
          </a:p>
        </p:txBody>
      </p:sp>
      <p:sp>
        <p:nvSpPr>
          <p:cNvPr id="16" name="Text 59">
            <a:extLst>
              <a:ext uri="{FF2B5EF4-FFF2-40B4-BE49-F238E27FC236}">
                <a16:creationId xmlns:a16="http://schemas.microsoft.com/office/drawing/2014/main" id="{43A5EB01-3F81-29B3-9776-15A9B5D7C82B}"/>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04</a:t>
            </a:r>
            <a:endParaRPr lang="en-US" sz="15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Freeform 10"/>
          <p:cNvSpPr/>
          <p:nvPr/>
        </p:nvSpPr>
        <p:spPr>
          <a:xfrm>
            <a:off x="2214719" y="2844966"/>
            <a:ext cx="14391231" cy="3939628"/>
          </a:xfrm>
          <a:custGeom>
            <a:avLst/>
            <a:gdLst/>
            <a:ahLst/>
            <a:cxnLst/>
            <a:rect l="l" t="t" r="r" b="b"/>
            <a:pathLst>
              <a:path w="14391231" h="3939628">
                <a:moveTo>
                  <a:pt x="0" y="0"/>
                </a:moveTo>
                <a:lnTo>
                  <a:pt x="14391230" y="0"/>
                </a:lnTo>
                <a:lnTo>
                  <a:pt x="14391230" y="3939629"/>
                </a:lnTo>
                <a:lnTo>
                  <a:pt x="0" y="3939629"/>
                </a:lnTo>
                <a:lnTo>
                  <a:pt x="0" y="0"/>
                </a:lnTo>
                <a:close/>
              </a:path>
            </a:pathLst>
          </a:custGeom>
          <a:blipFill>
            <a:blip r:embed="rId4"/>
            <a:stretch>
              <a:fillRect/>
            </a:stretch>
          </a:blipFill>
        </p:spPr>
        <p:txBody>
          <a:bodyPr/>
          <a:lstStyle/>
          <a:p>
            <a:endParaRPr lang="it-IT"/>
          </a:p>
        </p:txBody>
      </p:sp>
      <p:sp>
        <p:nvSpPr>
          <p:cNvPr id="11" name="TextBox 11"/>
          <p:cNvSpPr txBox="1"/>
          <p:nvPr/>
        </p:nvSpPr>
        <p:spPr>
          <a:xfrm>
            <a:off x="2766869" y="1467525"/>
            <a:ext cx="9504683"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TRUST BOUNDARY</a:t>
            </a:r>
          </a:p>
        </p:txBody>
      </p:sp>
      <p:sp>
        <p:nvSpPr>
          <p:cNvPr id="12" name="TextBox 12"/>
          <p:cNvSpPr txBox="1"/>
          <p:nvPr/>
        </p:nvSpPr>
        <p:spPr>
          <a:xfrm>
            <a:off x="1028700" y="1480657"/>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04</a:t>
            </a:r>
          </a:p>
        </p:txBody>
      </p:sp>
      <p:sp>
        <p:nvSpPr>
          <p:cNvPr id="13" name="TextBox 13"/>
          <p:cNvSpPr txBox="1"/>
          <p:nvPr/>
        </p:nvSpPr>
        <p:spPr>
          <a:xfrm>
            <a:off x="2369235" y="7009782"/>
            <a:ext cx="13299346" cy="2248518"/>
          </a:xfrm>
          <a:prstGeom prst="rect">
            <a:avLst/>
          </a:prstGeom>
        </p:spPr>
        <p:txBody>
          <a:bodyPr lIns="0" tIns="0" rIns="0" bIns="0" rtlCol="0" anchor="t">
            <a:spAutoFit/>
          </a:bodyPr>
          <a:lstStyle/>
          <a:p>
            <a:pPr marL="470415" lvl="1" indent="-235207" algn="l">
              <a:lnSpc>
                <a:spcPts val="3006"/>
              </a:lnSpc>
              <a:buFont typeface="Arial"/>
              <a:buChar char="•"/>
            </a:pPr>
            <a:r>
              <a:rPr lang="en-US" sz="2178">
                <a:solidFill>
                  <a:srgbClr val="FFFFFF"/>
                </a:solidFill>
                <a:latin typeface="Almarai"/>
                <a:ea typeface="Almarai"/>
                <a:cs typeface="Almarai"/>
                <a:sym typeface="Almarai"/>
              </a:rPr>
              <a:t>TB1 (Ut</a:t>
            </a:r>
            <a:r>
              <a:rPr lang="en-US" sz="2178" u="none" strike="noStrike">
                <a:solidFill>
                  <a:srgbClr val="FFFFFF"/>
                </a:solidFill>
                <a:latin typeface="Almarai"/>
                <a:ea typeface="Almarai"/>
                <a:cs typeface="Almarai"/>
                <a:sym typeface="Almarai"/>
              </a:rPr>
              <a:t>ente → Ingress): Superficie esposta a prompt injection, replay espoofing.</a:t>
            </a:r>
          </a:p>
          <a:p>
            <a:pPr marL="470415" lvl="1" indent="-235207" algn="l">
              <a:lnSpc>
                <a:spcPts val="3006"/>
              </a:lnSpc>
              <a:buFont typeface="Arial"/>
              <a:buChar char="•"/>
            </a:pPr>
            <a:r>
              <a:rPr lang="en-US" sz="2178" u="none" strike="noStrike">
                <a:solidFill>
                  <a:srgbClr val="FFFFFF"/>
                </a:solidFill>
                <a:latin typeface="Almarai"/>
                <a:ea typeface="Almarai"/>
                <a:cs typeface="Almarai"/>
                <a:sym typeface="Almarai"/>
              </a:rPr>
              <a:t>TB2 (Edge/STT → Agenti): Rischio di manipolazione dei partial transcript.</a:t>
            </a:r>
          </a:p>
          <a:p>
            <a:pPr marL="470415" lvl="1" indent="-235207" algn="l">
              <a:lnSpc>
                <a:spcPts val="3006"/>
              </a:lnSpc>
              <a:buFont typeface="Arial"/>
              <a:buChar char="•"/>
            </a:pPr>
            <a:r>
              <a:rPr lang="en-US" sz="2178" u="none" strike="noStrike">
                <a:solidFill>
                  <a:srgbClr val="FFFFFF"/>
                </a:solidFill>
                <a:latin typeface="Almarai"/>
                <a:ea typeface="Almarai"/>
                <a:cs typeface="Almarai"/>
                <a:sym typeface="Almarai"/>
              </a:rPr>
              <a:t>ТВЗ (Agenti → Control Plane): Confine critico regolato dall'Output Validator (M11).</a:t>
            </a:r>
          </a:p>
          <a:p>
            <a:pPr marL="470415" lvl="1" indent="-235207" algn="l">
              <a:lnSpc>
                <a:spcPts val="3006"/>
              </a:lnSpc>
              <a:buFont typeface="Arial"/>
              <a:buChar char="•"/>
            </a:pPr>
            <a:r>
              <a:rPr lang="en-US" sz="2178" u="none" strike="noStrike">
                <a:solidFill>
                  <a:srgbClr val="FFFFFF"/>
                </a:solidFill>
                <a:latin typeface="Almarai"/>
                <a:ea typeface="Almarai"/>
                <a:cs typeface="Almarai"/>
                <a:sym typeface="Almarai"/>
              </a:rPr>
              <a:t>TB4 (Deep-Brain - RAG/Memoria): Confine di isolamento per prevenire context poisoning.</a:t>
            </a:r>
          </a:p>
          <a:p>
            <a:pPr marL="470415" lvl="1" indent="-235207" algn="l">
              <a:lnSpc>
                <a:spcPts val="3006"/>
              </a:lnSpc>
              <a:buFont typeface="Arial"/>
              <a:buChar char="•"/>
            </a:pPr>
            <a:r>
              <a:rPr lang="en-US" sz="2178" u="none" strike="noStrike">
                <a:solidFill>
                  <a:srgbClr val="FFFFFF"/>
                </a:solidFill>
                <a:latin typeface="Almarai"/>
                <a:ea typeface="Almarai"/>
                <a:cs typeface="Almarai"/>
                <a:sym typeface="Almarai"/>
              </a:rPr>
              <a:t>TB5 &amp; TB6 (Pipeline → Worker → WebRTC): Protezione dei canali multimediali.</a:t>
            </a:r>
          </a:p>
        </p:txBody>
      </p:sp>
      <p:sp>
        <p:nvSpPr>
          <p:cNvPr id="15" name="Text 59">
            <a:extLst>
              <a:ext uri="{FF2B5EF4-FFF2-40B4-BE49-F238E27FC236}">
                <a16:creationId xmlns:a16="http://schemas.microsoft.com/office/drawing/2014/main" id="{8062003D-BBF2-2121-ACB3-1B2325CD45FD}"/>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05</a:t>
            </a:r>
            <a:endParaRPr lang="en-US" sz="15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10" name="Group 10"/>
          <p:cNvGrpSpPr/>
          <p:nvPr/>
        </p:nvGrpSpPr>
        <p:grpSpPr>
          <a:xfrm>
            <a:off x="1756823" y="4152311"/>
            <a:ext cx="4131732" cy="5751436"/>
            <a:chOff x="0" y="0"/>
            <a:chExt cx="1088193" cy="1514781"/>
          </a:xfrm>
        </p:grpSpPr>
        <p:sp>
          <p:nvSpPr>
            <p:cNvPr id="11" name="Freeform 11"/>
            <p:cNvSpPr/>
            <p:nvPr/>
          </p:nvSpPr>
          <p:spPr>
            <a:xfrm>
              <a:off x="0" y="0"/>
              <a:ext cx="1088193" cy="1514781"/>
            </a:xfrm>
            <a:custGeom>
              <a:avLst/>
              <a:gdLst/>
              <a:ahLst/>
              <a:cxnLst/>
              <a:rect l="l" t="t" r="r" b="b"/>
              <a:pathLst>
                <a:path w="1088193" h="1514781">
                  <a:moveTo>
                    <a:pt x="95562" y="0"/>
                  </a:moveTo>
                  <a:lnTo>
                    <a:pt x="992630" y="0"/>
                  </a:lnTo>
                  <a:cubicBezTo>
                    <a:pt x="1017975" y="0"/>
                    <a:pt x="1042282" y="10068"/>
                    <a:pt x="1060203" y="27990"/>
                  </a:cubicBezTo>
                  <a:cubicBezTo>
                    <a:pt x="1078125" y="45911"/>
                    <a:pt x="1088193" y="70218"/>
                    <a:pt x="1088193" y="95562"/>
                  </a:cubicBezTo>
                  <a:lnTo>
                    <a:pt x="1088193" y="1419219"/>
                  </a:lnTo>
                  <a:cubicBezTo>
                    <a:pt x="1088193" y="1444564"/>
                    <a:pt x="1078125" y="1468870"/>
                    <a:pt x="1060203" y="1486792"/>
                  </a:cubicBezTo>
                  <a:cubicBezTo>
                    <a:pt x="1042282" y="1504713"/>
                    <a:pt x="1017975" y="1514781"/>
                    <a:pt x="992630" y="1514781"/>
                  </a:cubicBezTo>
                  <a:lnTo>
                    <a:pt x="95562" y="1514781"/>
                  </a:lnTo>
                  <a:cubicBezTo>
                    <a:pt x="70218" y="1514781"/>
                    <a:pt x="45911" y="1504713"/>
                    <a:pt x="27990" y="1486792"/>
                  </a:cubicBezTo>
                  <a:cubicBezTo>
                    <a:pt x="10068" y="1468870"/>
                    <a:pt x="0" y="1444564"/>
                    <a:pt x="0" y="1419219"/>
                  </a:cubicBezTo>
                  <a:lnTo>
                    <a:pt x="0" y="95562"/>
                  </a:lnTo>
                  <a:cubicBezTo>
                    <a:pt x="0" y="70218"/>
                    <a:pt x="10068" y="45911"/>
                    <a:pt x="27990" y="27990"/>
                  </a:cubicBezTo>
                  <a:cubicBezTo>
                    <a:pt x="45911" y="10068"/>
                    <a:pt x="70218" y="0"/>
                    <a:pt x="95562" y="0"/>
                  </a:cubicBezTo>
                  <a:close/>
                </a:path>
              </a:pathLst>
            </a:custGeom>
            <a:solidFill>
              <a:srgbClr val="145DA0"/>
            </a:solidFill>
          </p:spPr>
          <p:txBody>
            <a:bodyPr/>
            <a:lstStyle/>
            <a:p>
              <a:endParaRPr lang="it-IT"/>
            </a:p>
          </p:txBody>
        </p:sp>
        <p:sp>
          <p:nvSpPr>
            <p:cNvPr id="12" name="TextBox 12"/>
            <p:cNvSpPr txBox="1"/>
            <p:nvPr/>
          </p:nvSpPr>
          <p:spPr>
            <a:xfrm>
              <a:off x="0" y="-38100"/>
              <a:ext cx="1088193" cy="1552881"/>
            </a:xfrm>
            <a:prstGeom prst="rect">
              <a:avLst/>
            </a:prstGeom>
          </p:spPr>
          <p:txBody>
            <a:bodyPr lIns="50800" tIns="50800" rIns="50800" bIns="50800" rtlCol="0" anchor="ctr"/>
            <a:lstStyle/>
            <a:p>
              <a:pPr algn="ctr">
                <a:lnSpc>
                  <a:spcPts val="2659"/>
                </a:lnSpc>
                <a:spcBef>
                  <a:spcPct val="0"/>
                </a:spcBef>
              </a:pPr>
              <a:endParaRPr/>
            </a:p>
          </p:txBody>
        </p:sp>
      </p:grpSp>
      <p:sp>
        <p:nvSpPr>
          <p:cNvPr id="13" name="Freeform 13"/>
          <p:cNvSpPr/>
          <p:nvPr/>
        </p:nvSpPr>
        <p:spPr>
          <a:xfrm>
            <a:off x="2077521" y="4321771"/>
            <a:ext cx="583428" cy="821729"/>
          </a:xfrm>
          <a:custGeom>
            <a:avLst/>
            <a:gdLst/>
            <a:ahLst/>
            <a:cxnLst/>
            <a:rect l="l" t="t" r="r" b="b"/>
            <a:pathLst>
              <a:path w="583428" h="821729">
                <a:moveTo>
                  <a:pt x="0" y="0"/>
                </a:moveTo>
                <a:lnTo>
                  <a:pt x="583428" y="0"/>
                </a:lnTo>
                <a:lnTo>
                  <a:pt x="583428" y="821729"/>
                </a:lnTo>
                <a:lnTo>
                  <a:pt x="0" y="82172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it-IT"/>
          </a:p>
        </p:txBody>
      </p:sp>
      <p:grpSp>
        <p:nvGrpSpPr>
          <p:cNvPr id="14" name="Group 14"/>
          <p:cNvGrpSpPr/>
          <p:nvPr/>
        </p:nvGrpSpPr>
        <p:grpSpPr>
          <a:xfrm>
            <a:off x="1957037" y="7241242"/>
            <a:ext cx="3751335" cy="2464635"/>
            <a:chOff x="0" y="0"/>
            <a:chExt cx="988006" cy="649122"/>
          </a:xfrm>
        </p:grpSpPr>
        <p:sp>
          <p:nvSpPr>
            <p:cNvPr id="15" name="Freeform 15"/>
            <p:cNvSpPr/>
            <p:nvPr/>
          </p:nvSpPr>
          <p:spPr>
            <a:xfrm>
              <a:off x="0" y="0"/>
              <a:ext cx="988006" cy="649122"/>
            </a:xfrm>
            <a:custGeom>
              <a:avLst/>
              <a:gdLst/>
              <a:ahLst/>
              <a:cxnLst/>
              <a:rect l="l" t="t" r="r" b="b"/>
              <a:pathLst>
                <a:path w="988006" h="649122">
                  <a:moveTo>
                    <a:pt x="105253" y="0"/>
                  </a:moveTo>
                  <a:lnTo>
                    <a:pt x="882753" y="0"/>
                  </a:lnTo>
                  <a:cubicBezTo>
                    <a:pt x="910668" y="0"/>
                    <a:pt x="937439" y="11089"/>
                    <a:pt x="957178" y="30828"/>
                  </a:cubicBezTo>
                  <a:cubicBezTo>
                    <a:pt x="976917" y="50566"/>
                    <a:pt x="988006" y="77338"/>
                    <a:pt x="988006" y="105253"/>
                  </a:cubicBezTo>
                  <a:lnTo>
                    <a:pt x="988006" y="543869"/>
                  </a:lnTo>
                  <a:cubicBezTo>
                    <a:pt x="988006" y="601999"/>
                    <a:pt x="940883" y="649122"/>
                    <a:pt x="882753" y="649122"/>
                  </a:cubicBezTo>
                  <a:lnTo>
                    <a:pt x="105253" y="649122"/>
                  </a:lnTo>
                  <a:cubicBezTo>
                    <a:pt x="77338" y="649122"/>
                    <a:pt x="50566" y="638033"/>
                    <a:pt x="30828" y="618294"/>
                  </a:cubicBezTo>
                  <a:cubicBezTo>
                    <a:pt x="11089" y="598555"/>
                    <a:pt x="0" y="571784"/>
                    <a:pt x="0" y="543869"/>
                  </a:cubicBezTo>
                  <a:lnTo>
                    <a:pt x="0" y="105253"/>
                  </a:lnTo>
                  <a:cubicBezTo>
                    <a:pt x="0" y="77338"/>
                    <a:pt x="11089" y="50566"/>
                    <a:pt x="30828" y="30828"/>
                  </a:cubicBezTo>
                  <a:cubicBezTo>
                    <a:pt x="50566" y="11089"/>
                    <a:pt x="77338" y="0"/>
                    <a:pt x="105253" y="0"/>
                  </a:cubicBezTo>
                  <a:close/>
                </a:path>
              </a:pathLst>
            </a:custGeom>
            <a:solidFill>
              <a:srgbClr val="031E40"/>
            </a:solidFill>
            <a:ln w="38100" cap="rnd">
              <a:solidFill>
                <a:srgbClr val="760F0F"/>
              </a:solidFill>
              <a:prstDash val="solid"/>
              <a:round/>
            </a:ln>
          </p:spPr>
          <p:txBody>
            <a:bodyPr/>
            <a:lstStyle/>
            <a:p>
              <a:endParaRPr lang="it-IT"/>
            </a:p>
          </p:txBody>
        </p:sp>
        <p:sp>
          <p:nvSpPr>
            <p:cNvPr id="16" name="TextBox 16"/>
            <p:cNvSpPr txBox="1"/>
            <p:nvPr/>
          </p:nvSpPr>
          <p:spPr>
            <a:xfrm>
              <a:off x="0" y="-38100"/>
              <a:ext cx="988006" cy="687222"/>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p:cNvGrpSpPr/>
          <p:nvPr/>
        </p:nvGrpSpPr>
        <p:grpSpPr>
          <a:xfrm>
            <a:off x="6527621" y="4152311"/>
            <a:ext cx="4131732" cy="5751436"/>
            <a:chOff x="0" y="0"/>
            <a:chExt cx="1088193" cy="1514781"/>
          </a:xfrm>
        </p:grpSpPr>
        <p:sp>
          <p:nvSpPr>
            <p:cNvPr id="18" name="Freeform 18"/>
            <p:cNvSpPr/>
            <p:nvPr/>
          </p:nvSpPr>
          <p:spPr>
            <a:xfrm>
              <a:off x="0" y="0"/>
              <a:ext cx="1088193" cy="1514781"/>
            </a:xfrm>
            <a:custGeom>
              <a:avLst/>
              <a:gdLst/>
              <a:ahLst/>
              <a:cxnLst/>
              <a:rect l="l" t="t" r="r" b="b"/>
              <a:pathLst>
                <a:path w="1088193" h="1514781">
                  <a:moveTo>
                    <a:pt x="95562" y="0"/>
                  </a:moveTo>
                  <a:lnTo>
                    <a:pt x="992630" y="0"/>
                  </a:lnTo>
                  <a:cubicBezTo>
                    <a:pt x="1017975" y="0"/>
                    <a:pt x="1042282" y="10068"/>
                    <a:pt x="1060203" y="27990"/>
                  </a:cubicBezTo>
                  <a:cubicBezTo>
                    <a:pt x="1078125" y="45911"/>
                    <a:pt x="1088193" y="70218"/>
                    <a:pt x="1088193" y="95562"/>
                  </a:cubicBezTo>
                  <a:lnTo>
                    <a:pt x="1088193" y="1419219"/>
                  </a:lnTo>
                  <a:cubicBezTo>
                    <a:pt x="1088193" y="1444564"/>
                    <a:pt x="1078125" y="1468870"/>
                    <a:pt x="1060203" y="1486792"/>
                  </a:cubicBezTo>
                  <a:cubicBezTo>
                    <a:pt x="1042282" y="1504713"/>
                    <a:pt x="1017975" y="1514781"/>
                    <a:pt x="992630" y="1514781"/>
                  </a:cubicBezTo>
                  <a:lnTo>
                    <a:pt x="95562" y="1514781"/>
                  </a:lnTo>
                  <a:cubicBezTo>
                    <a:pt x="70218" y="1514781"/>
                    <a:pt x="45911" y="1504713"/>
                    <a:pt x="27990" y="1486792"/>
                  </a:cubicBezTo>
                  <a:cubicBezTo>
                    <a:pt x="10068" y="1468870"/>
                    <a:pt x="0" y="1444564"/>
                    <a:pt x="0" y="1419219"/>
                  </a:cubicBezTo>
                  <a:lnTo>
                    <a:pt x="0" y="95562"/>
                  </a:lnTo>
                  <a:cubicBezTo>
                    <a:pt x="0" y="70218"/>
                    <a:pt x="10068" y="45911"/>
                    <a:pt x="27990" y="27990"/>
                  </a:cubicBezTo>
                  <a:cubicBezTo>
                    <a:pt x="45911" y="10068"/>
                    <a:pt x="70218" y="0"/>
                    <a:pt x="95562" y="0"/>
                  </a:cubicBezTo>
                  <a:close/>
                </a:path>
              </a:pathLst>
            </a:custGeom>
            <a:solidFill>
              <a:srgbClr val="145DA0"/>
            </a:solidFill>
          </p:spPr>
          <p:txBody>
            <a:bodyPr/>
            <a:lstStyle/>
            <a:p>
              <a:endParaRPr lang="it-IT"/>
            </a:p>
          </p:txBody>
        </p:sp>
        <p:sp>
          <p:nvSpPr>
            <p:cNvPr id="19" name="TextBox 19"/>
            <p:cNvSpPr txBox="1"/>
            <p:nvPr/>
          </p:nvSpPr>
          <p:spPr>
            <a:xfrm>
              <a:off x="0" y="-38100"/>
              <a:ext cx="1088193" cy="1552881"/>
            </a:xfrm>
            <a:prstGeom prst="rect">
              <a:avLst/>
            </a:prstGeom>
          </p:spPr>
          <p:txBody>
            <a:bodyPr lIns="50800" tIns="50800" rIns="50800" bIns="50800" rtlCol="0" anchor="ctr"/>
            <a:lstStyle/>
            <a:p>
              <a:pPr algn="ctr">
                <a:lnSpc>
                  <a:spcPts val="2659"/>
                </a:lnSpc>
                <a:spcBef>
                  <a:spcPct val="0"/>
                </a:spcBef>
              </a:pPr>
              <a:endParaRPr/>
            </a:p>
          </p:txBody>
        </p:sp>
      </p:grpSp>
      <p:grpSp>
        <p:nvGrpSpPr>
          <p:cNvPr id="20" name="Group 20"/>
          <p:cNvGrpSpPr/>
          <p:nvPr/>
        </p:nvGrpSpPr>
        <p:grpSpPr>
          <a:xfrm>
            <a:off x="6727836" y="7241242"/>
            <a:ext cx="3751335" cy="2464635"/>
            <a:chOff x="0" y="0"/>
            <a:chExt cx="988006" cy="649122"/>
          </a:xfrm>
        </p:grpSpPr>
        <p:sp>
          <p:nvSpPr>
            <p:cNvPr id="21" name="Freeform 21"/>
            <p:cNvSpPr/>
            <p:nvPr/>
          </p:nvSpPr>
          <p:spPr>
            <a:xfrm>
              <a:off x="0" y="0"/>
              <a:ext cx="988006" cy="649122"/>
            </a:xfrm>
            <a:custGeom>
              <a:avLst/>
              <a:gdLst/>
              <a:ahLst/>
              <a:cxnLst/>
              <a:rect l="l" t="t" r="r" b="b"/>
              <a:pathLst>
                <a:path w="988006" h="649122">
                  <a:moveTo>
                    <a:pt x="105253" y="0"/>
                  </a:moveTo>
                  <a:lnTo>
                    <a:pt x="882753" y="0"/>
                  </a:lnTo>
                  <a:cubicBezTo>
                    <a:pt x="910668" y="0"/>
                    <a:pt x="937439" y="11089"/>
                    <a:pt x="957178" y="30828"/>
                  </a:cubicBezTo>
                  <a:cubicBezTo>
                    <a:pt x="976917" y="50566"/>
                    <a:pt x="988006" y="77338"/>
                    <a:pt x="988006" y="105253"/>
                  </a:cubicBezTo>
                  <a:lnTo>
                    <a:pt x="988006" y="543869"/>
                  </a:lnTo>
                  <a:cubicBezTo>
                    <a:pt x="988006" y="601999"/>
                    <a:pt x="940883" y="649122"/>
                    <a:pt x="882753" y="649122"/>
                  </a:cubicBezTo>
                  <a:lnTo>
                    <a:pt x="105253" y="649122"/>
                  </a:lnTo>
                  <a:cubicBezTo>
                    <a:pt x="77338" y="649122"/>
                    <a:pt x="50566" y="638033"/>
                    <a:pt x="30828" y="618294"/>
                  </a:cubicBezTo>
                  <a:cubicBezTo>
                    <a:pt x="11089" y="598555"/>
                    <a:pt x="0" y="571784"/>
                    <a:pt x="0" y="543869"/>
                  </a:cubicBezTo>
                  <a:lnTo>
                    <a:pt x="0" y="105253"/>
                  </a:lnTo>
                  <a:cubicBezTo>
                    <a:pt x="0" y="77338"/>
                    <a:pt x="11089" y="50566"/>
                    <a:pt x="30828" y="30828"/>
                  </a:cubicBezTo>
                  <a:cubicBezTo>
                    <a:pt x="50566" y="11089"/>
                    <a:pt x="77338" y="0"/>
                    <a:pt x="105253" y="0"/>
                  </a:cubicBezTo>
                  <a:close/>
                </a:path>
              </a:pathLst>
            </a:custGeom>
            <a:solidFill>
              <a:srgbClr val="031E40"/>
            </a:solidFill>
            <a:ln w="38100" cap="rnd">
              <a:solidFill>
                <a:srgbClr val="760F0F"/>
              </a:solidFill>
              <a:prstDash val="solid"/>
              <a:round/>
            </a:ln>
          </p:spPr>
          <p:txBody>
            <a:bodyPr/>
            <a:lstStyle/>
            <a:p>
              <a:endParaRPr lang="it-IT"/>
            </a:p>
          </p:txBody>
        </p:sp>
        <p:sp>
          <p:nvSpPr>
            <p:cNvPr id="22" name="TextBox 22"/>
            <p:cNvSpPr txBox="1"/>
            <p:nvPr/>
          </p:nvSpPr>
          <p:spPr>
            <a:xfrm>
              <a:off x="0" y="-38100"/>
              <a:ext cx="988006" cy="687222"/>
            </a:xfrm>
            <a:prstGeom prst="rect">
              <a:avLst/>
            </a:prstGeom>
          </p:spPr>
          <p:txBody>
            <a:bodyPr lIns="50800" tIns="50800" rIns="50800" bIns="50800" rtlCol="0" anchor="ctr"/>
            <a:lstStyle/>
            <a:p>
              <a:pPr algn="ctr">
                <a:lnSpc>
                  <a:spcPts val="2659"/>
                </a:lnSpc>
                <a:spcBef>
                  <a:spcPct val="0"/>
                </a:spcBef>
              </a:pPr>
              <a:endParaRPr/>
            </a:p>
          </p:txBody>
        </p:sp>
      </p:grpSp>
      <p:grpSp>
        <p:nvGrpSpPr>
          <p:cNvPr id="23" name="Group 23"/>
          <p:cNvGrpSpPr/>
          <p:nvPr/>
        </p:nvGrpSpPr>
        <p:grpSpPr>
          <a:xfrm>
            <a:off x="11298420" y="4152311"/>
            <a:ext cx="4131732" cy="5751436"/>
            <a:chOff x="0" y="0"/>
            <a:chExt cx="1088193" cy="1514781"/>
          </a:xfrm>
        </p:grpSpPr>
        <p:sp>
          <p:nvSpPr>
            <p:cNvPr id="24" name="Freeform 24"/>
            <p:cNvSpPr/>
            <p:nvPr/>
          </p:nvSpPr>
          <p:spPr>
            <a:xfrm>
              <a:off x="0" y="0"/>
              <a:ext cx="1088193" cy="1514781"/>
            </a:xfrm>
            <a:custGeom>
              <a:avLst/>
              <a:gdLst/>
              <a:ahLst/>
              <a:cxnLst/>
              <a:rect l="l" t="t" r="r" b="b"/>
              <a:pathLst>
                <a:path w="1088193" h="1514781">
                  <a:moveTo>
                    <a:pt x="95562" y="0"/>
                  </a:moveTo>
                  <a:lnTo>
                    <a:pt x="992630" y="0"/>
                  </a:lnTo>
                  <a:cubicBezTo>
                    <a:pt x="1017975" y="0"/>
                    <a:pt x="1042282" y="10068"/>
                    <a:pt x="1060203" y="27990"/>
                  </a:cubicBezTo>
                  <a:cubicBezTo>
                    <a:pt x="1078125" y="45911"/>
                    <a:pt x="1088193" y="70218"/>
                    <a:pt x="1088193" y="95562"/>
                  </a:cubicBezTo>
                  <a:lnTo>
                    <a:pt x="1088193" y="1419219"/>
                  </a:lnTo>
                  <a:cubicBezTo>
                    <a:pt x="1088193" y="1444564"/>
                    <a:pt x="1078125" y="1468870"/>
                    <a:pt x="1060203" y="1486792"/>
                  </a:cubicBezTo>
                  <a:cubicBezTo>
                    <a:pt x="1042282" y="1504713"/>
                    <a:pt x="1017975" y="1514781"/>
                    <a:pt x="992630" y="1514781"/>
                  </a:cubicBezTo>
                  <a:lnTo>
                    <a:pt x="95562" y="1514781"/>
                  </a:lnTo>
                  <a:cubicBezTo>
                    <a:pt x="70218" y="1514781"/>
                    <a:pt x="45911" y="1504713"/>
                    <a:pt x="27990" y="1486792"/>
                  </a:cubicBezTo>
                  <a:cubicBezTo>
                    <a:pt x="10068" y="1468870"/>
                    <a:pt x="0" y="1444564"/>
                    <a:pt x="0" y="1419219"/>
                  </a:cubicBezTo>
                  <a:lnTo>
                    <a:pt x="0" y="95562"/>
                  </a:lnTo>
                  <a:cubicBezTo>
                    <a:pt x="0" y="70218"/>
                    <a:pt x="10068" y="45911"/>
                    <a:pt x="27990" y="27990"/>
                  </a:cubicBezTo>
                  <a:cubicBezTo>
                    <a:pt x="45911" y="10068"/>
                    <a:pt x="70218" y="0"/>
                    <a:pt x="95562" y="0"/>
                  </a:cubicBezTo>
                  <a:close/>
                </a:path>
              </a:pathLst>
            </a:custGeom>
            <a:solidFill>
              <a:srgbClr val="145DA0"/>
            </a:solidFill>
          </p:spPr>
          <p:txBody>
            <a:bodyPr/>
            <a:lstStyle/>
            <a:p>
              <a:endParaRPr lang="it-IT"/>
            </a:p>
          </p:txBody>
        </p:sp>
        <p:sp>
          <p:nvSpPr>
            <p:cNvPr id="25" name="TextBox 25"/>
            <p:cNvSpPr txBox="1"/>
            <p:nvPr/>
          </p:nvSpPr>
          <p:spPr>
            <a:xfrm>
              <a:off x="0" y="-38100"/>
              <a:ext cx="1088193" cy="1552881"/>
            </a:xfrm>
            <a:prstGeom prst="rect">
              <a:avLst/>
            </a:prstGeom>
          </p:spPr>
          <p:txBody>
            <a:bodyPr lIns="50800" tIns="50800" rIns="50800" bIns="50800" rtlCol="0" anchor="ctr"/>
            <a:lstStyle/>
            <a:p>
              <a:pPr algn="ctr">
                <a:lnSpc>
                  <a:spcPts val="2659"/>
                </a:lnSpc>
                <a:spcBef>
                  <a:spcPct val="0"/>
                </a:spcBef>
              </a:pPr>
              <a:endParaRPr/>
            </a:p>
          </p:txBody>
        </p:sp>
      </p:grpSp>
      <p:grpSp>
        <p:nvGrpSpPr>
          <p:cNvPr id="26" name="Group 26"/>
          <p:cNvGrpSpPr/>
          <p:nvPr/>
        </p:nvGrpSpPr>
        <p:grpSpPr>
          <a:xfrm>
            <a:off x="11498634" y="7241242"/>
            <a:ext cx="3751335" cy="2464635"/>
            <a:chOff x="0" y="0"/>
            <a:chExt cx="988006" cy="649122"/>
          </a:xfrm>
        </p:grpSpPr>
        <p:sp>
          <p:nvSpPr>
            <p:cNvPr id="27" name="Freeform 27"/>
            <p:cNvSpPr/>
            <p:nvPr/>
          </p:nvSpPr>
          <p:spPr>
            <a:xfrm>
              <a:off x="0" y="0"/>
              <a:ext cx="988006" cy="649122"/>
            </a:xfrm>
            <a:custGeom>
              <a:avLst/>
              <a:gdLst/>
              <a:ahLst/>
              <a:cxnLst/>
              <a:rect l="l" t="t" r="r" b="b"/>
              <a:pathLst>
                <a:path w="988006" h="649122">
                  <a:moveTo>
                    <a:pt x="105253" y="0"/>
                  </a:moveTo>
                  <a:lnTo>
                    <a:pt x="882753" y="0"/>
                  </a:lnTo>
                  <a:cubicBezTo>
                    <a:pt x="910668" y="0"/>
                    <a:pt x="937439" y="11089"/>
                    <a:pt x="957178" y="30828"/>
                  </a:cubicBezTo>
                  <a:cubicBezTo>
                    <a:pt x="976917" y="50566"/>
                    <a:pt x="988006" y="77338"/>
                    <a:pt x="988006" y="105253"/>
                  </a:cubicBezTo>
                  <a:lnTo>
                    <a:pt x="988006" y="543869"/>
                  </a:lnTo>
                  <a:cubicBezTo>
                    <a:pt x="988006" y="601999"/>
                    <a:pt x="940883" y="649122"/>
                    <a:pt x="882753" y="649122"/>
                  </a:cubicBezTo>
                  <a:lnTo>
                    <a:pt x="105253" y="649122"/>
                  </a:lnTo>
                  <a:cubicBezTo>
                    <a:pt x="77338" y="649122"/>
                    <a:pt x="50566" y="638033"/>
                    <a:pt x="30828" y="618294"/>
                  </a:cubicBezTo>
                  <a:cubicBezTo>
                    <a:pt x="11089" y="598555"/>
                    <a:pt x="0" y="571784"/>
                    <a:pt x="0" y="543869"/>
                  </a:cubicBezTo>
                  <a:lnTo>
                    <a:pt x="0" y="105253"/>
                  </a:lnTo>
                  <a:cubicBezTo>
                    <a:pt x="0" y="77338"/>
                    <a:pt x="11089" y="50566"/>
                    <a:pt x="30828" y="30828"/>
                  </a:cubicBezTo>
                  <a:cubicBezTo>
                    <a:pt x="50566" y="11089"/>
                    <a:pt x="77338" y="0"/>
                    <a:pt x="105253" y="0"/>
                  </a:cubicBezTo>
                  <a:close/>
                </a:path>
              </a:pathLst>
            </a:custGeom>
            <a:solidFill>
              <a:srgbClr val="031E40"/>
            </a:solidFill>
            <a:ln w="38100" cap="rnd">
              <a:solidFill>
                <a:srgbClr val="760F0F"/>
              </a:solidFill>
              <a:prstDash val="solid"/>
              <a:round/>
            </a:ln>
          </p:spPr>
          <p:txBody>
            <a:bodyPr/>
            <a:lstStyle/>
            <a:p>
              <a:endParaRPr lang="it-IT"/>
            </a:p>
          </p:txBody>
        </p:sp>
        <p:sp>
          <p:nvSpPr>
            <p:cNvPr id="28" name="TextBox 28"/>
            <p:cNvSpPr txBox="1"/>
            <p:nvPr/>
          </p:nvSpPr>
          <p:spPr>
            <a:xfrm>
              <a:off x="0" y="-38100"/>
              <a:ext cx="988006" cy="687222"/>
            </a:xfrm>
            <a:prstGeom prst="rect">
              <a:avLst/>
            </a:prstGeom>
          </p:spPr>
          <p:txBody>
            <a:bodyPr lIns="50800" tIns="50800" rIns="50800" bIns="50800" rtlCol="0" anchor="ctr"/>
            <a:lstStyle/>
            <a:p>
              <a:pPr algn="ctr">
                <a:lnSpc>
                  <a:spcPts val="2659"/>
                </a:lnSpc>
                <a:spcBef>
                  <a:spcPct val="0"/>
                </a:spcBef>
              </a:pPr>
              <a:endParaRPr/>
            </a:p>
          </p:txBody>
        </p:sp>
      </p:grpSp>
      <p:sp>
        <p:nvSpPr>
          <p:cNvPr id="29" name="Freeform 29"/>
          <p:cNvSpPr/>
          <p:nvPr/>
        </p:nvSpPr>
        <p:spPr>
          <a:xfrm>
            <a:off x="6790473" y="4402868"/>
            <a:ext cx="659535" cy="659535"/>
          </a:xfrm>
          <a:custGeom>
            <a:avLst/>
            <a:gdLst/>
            <a:ahLst/>
            <a:cxnLst/>
            <a:rect l="l" t="t" r="r" b="b"/>
            <a:pathLst>
              <a:path w="659535" h="659535">
                <a:moveTo>
                  <a:pt x="0" y="0"/>
                </a:moveTo>
                <a:lnTo>
                  <a:pt x="659535" y="0"/>
                </a:lnTo>
                <a:lnTo>
                  <a:pt x="659535" y="659535"/>
                </a:lnTo>
                <a:lnTo>
                  <a:pt x="0" y="65953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it-IT"/>
          </a:p>
        </p:txBody>
      </p:sp>
      <p:sp>
        <p:nvSpPr>
          <p:cNvPr id="30" name="Freeform 30"/>
          <p:cNvSpPr/>
          <p:nvPr/>
        </p:nvSpPr>
        <p:spPr>
          <a:xfrm>
            <a:off x="11579533" y="4321771"/>
            <a:ext cx="623811" cy="784668"/>
          </a:xfrm>
          <a:custGeom>
            <a:avLst/>
            <a:gdLst/>
            <a:ahLst/>
            <a:cxnLst/>
            <a:rect l="l" t="t" r="r" b="b"/>
            <a:pathLst>
              <a:path w="623811" h="784668">
                <a:moveTo>
                  <a:pt x="0" y="0"/>
                </a:moveTo>
                <a:lnTo>
                  <a:pt x="623811" y="0"/>
                </a:lnTo>
                <a:lnTo>
                  <a:pt x="623811" y="784668"/>
                </a:lnTo>
                <a:lnTo>
                  <a:pt x="0" y="784668"/>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it-IT"/>
          </a:p>
        </p:txBody>
      </p:sp>
      <p:sp>
        <p:nvSpPr>
          <p:cNvPr id="31" name="TextBox 31"/>
          <p:cNvSpPr txBox="1"/>
          <p:nvPr/>
        </p:nvSpPr>
        <p:spPr>
          <a:xfrm>
            <a:off x="2766869" y="1467525"/>
            <a:ext cx="9504683"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ASSET MODEL</a:t>
            </a:r>
          </a:p>
        </p:txBody>
      </p:sp>
      <p:sp>
        <p:nvSpPr>
          <p:cNvPr id="32" name="TextBox 32"/>
          <p:cNvSpPr txBox="1"/>
          <p:nvPr/>
        </p:nvSpPr>
        <p:spPr>
          <a:xfrm>
            <a:off x="1028700" y="1480657"/>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05</a:t>
            </a:r>
          </a:p>
        </p:txBody>
      </p:sp>
      <p:sp>
        <p:nvSpPr>
          <p:cNvPr id="33" name="TextBox 33"/>
          <p:cNvSpPr txBox="1"/>
          <p:nvPr/>
        </p:nvSpPr>
        <p:spPr>
          <a:xfrm>
            <a:off x="1768405" y="2800873"/>
            <a:ext cx="5216826" cy="951388"/>
          </a:xfrm>
          <a:prstGeom prst="rect">
            <a:avLst/>
          </a:prstGeom>
        </p:spPr>
        <p:txBody>
          <a:bodyPr lIns="0" tIns="0" rIns="0" bIns="0" rtlCol="0" anchor="t">
            <a:spAutoFit/>
          </a:bodyPr>
          <a:lstStyle/>
          <a:p>
            <a:pPr marL="0" lvl="0" indent="0" algn="l">
              <a:lnSpc>
                <a:spcPts val="6355"/>
              </a:lnSpc>
              <a:spcBef>
                <a:spcPct val="0"/>
              </a:spcBef>
            </a:pPr>
            <a:r>
              <a:rPr lang="en-US" sz="4605" b="1">
                <a:solidFill>
                  <a:srgbClr val="17E3B2"/>
                </a:solidFill>
                <a:latin typeface="Almarai Bold"/>
                <a:ea typeface="Almarai Bold"/>
                <a:cs typeface="Almarai Bold"/>
                <a:sym typeface="Almarai Bold"/>
              </a:rPr>
              <a:t>Data Assets</a:t>
            </a:r>
          </a:p>
        </p:txBody>
      </p:sp>
      <p:sp>
        <p:nvSpPr>
          <p:cNvPr id="34" name="TextBox 34"/>
          <p:cNvSpPr txBox="1"/>
          <p:nvPr/>
        </p:nvSpPr>
        <p:spPr>
          <a:xfrm>
            <a:off x="2766869" y="4228511"/>
            <a:ext cx="2777801" cy="1073418"/>
          </a:xfrm>
          <a:prstGeom prst="rect">
            <a:avLst/>
          </a:prstGeom>
        </p:spPr>
        <p:txBody>
          <a:bodyPr lIns="0" tIns="0" rIns="0" bIns="0" rtlCol="0" anchor="t">
            <a:spAutoFit/>
          </a:bodyPr>
          <a:lstStyle/>
          <a:p>
            <a:pPr algn="l">
              <a:lnSpc>
                <a:spcPts val="2441"/>
              </a:lnSpc>
              <a:spcBef>
                <a:spcPct val="0"/>
              </a:spcBef>
            </a:pPr>
            <a:r>
              <a:rPr lang="en-US" sz="1769" b="1">
                <a:solidFill>
                  <a:srgbClr val="FFFFFF"/>
                </a:solidFill>
                <a:latin typeface="Almarai Bold"/>
                <a:ea typeface="Almarai Bold"/>
                <a:cs typeface="Almarai Bold"/>
                <a:sym typeface="Almarai Bold"/>
              </a:rPr>
              <a:t>Flussi Conversazionali &amp; I/O (D1-D3, D6) </a:t>
            </a:r>
          </a:p>
        </p:txBody>
      </p:sp>
      <p:sp>
        <p:nvSpPr>
          <p:cNvPr id="35" name="TextBox 35"/>
          <p:cNvSpPr txBox="1"/>
          <p:nvPr/>
        </p:nvSpPr>
        <p:spPr>
          <a:xfrm>
            <a:off x="1957037" y="5589060"/>
            <a:ext cx="3751335" cy="1518666"/>
          </a:xfrm>
          <a:prstGeom prst="rect">
            <a:avLst/>
          </a:prstGeom>
        </p:spPr>
        <p:txBody>
          <a:bodyPr lIns="0" tIns="0" rIns="0" bIns="0" rtlCol="0" anchor="t">
            <a:spAutoFit/>
          </a:bodyPr>
          <a:lstStyle/>
          <a:p>
            <a:pPr marL="410209" lvl="1" indent="-205105" algn="l">
              <a:lnSpc>
                <a:spcPts val="2621"/>
              </a:lnSpc>
              <a:buFont typeface="Arial"/>
              <a:buChar char="•"/>
            </a:pPr>
            <a:r>
              <a:rPr lang="en-US" sz="1899" b="1">
                <a:solidFill>
                  <a:srgbClr val="FFFFFF"/>
                </a:solidFill>
                <a:latin typeface="Almarai Bold"/>
                <a:ea typeface="Almarai Bold"/>
                <a:cs typeface="Almarai Bold"/>
                <a:sym typeface="Almarai Bold"/>
              </a:rPr>
              <a:t>Audio grezzo</a:t>
            </a:r>
          </a:p>
          <a:p>
            <a:pPr marL="410209" lvl="1" indent="-205105" algn="l">
              <a:lnSpc>
                <a:spcPts val="2621"/>
              </a:lnSpc>
              <a:buFont typeface="Arial"/>
              <a:buChar char="•"/>
            </a:pPr>
            <a:r>
              <a:rPr lang="en-US" sz="1899" b="1">
                <a:solidFill>
                  <a:srgbClr val="FFFFFF"/>
                </a:solidFill>
                <a:latin typeface="Almarai Bold"/>
                <a:ea typeface="Almarai Bold"/>
                <a:cs typeface="Almarai Bold"/>
                <a:sym typeface="Almarai Bold"/>
              </a:rPr>
              <a:t>Trascrizioni parziali/totali</a:t>
            </a:r>
          </a:p>
          <a:p>
            <a:pPr marL="410209" lvl="1" indent="-205105" algn="l">
              <a:lnSpc>
                <a:spcPts val="2621"/>
              </a:lnSpc>
              <a:buFont typeface="Arial"/>
              <a:buChar char="•"/>
            </a:pPr>
            <a:r>
              <a:rPr lang="en-US" sz="1899" b="1">
                <a:solidFill>
                  <a:srgbClr val="FFFFFF"/>
                </a:solidFill>
                <a:latin typeface="Almarai Bold"/>
                <a:ea typeface="Almarai Bold"/>
                <a:cs typeface="Almarai Bold"/>
                <a:sym typeface="Almarai Bold"/>
              </a:rPr>
              <a:t>Testi generati</a:t>
            </a:r>
          </a:p>
        </p:txBody>
      </p:sp>
      <p:sp>
        <p:nvSpPr>
          <p:cNvPr id="36" name="TextBox 36"/>
          <p:cNvSpPr txBox="1"/>
          <p:nvPr/>
        </p:nvSpPr>
        <p:spPr>
          <a:xfrm>
            <a:off x="2369235" y="7393476"/>
            <a:ext cx="2777801" cy="356241"/>
          </a:xfrm>
          <a:prstGeom prst="rect">
            <a:avLst/>
          </a:prstGeom>
        </p:spPr>
        <p:txBody>
          <a:bodyPr lIns="0" tIns="0" rIns="0" bIns="0" rtlCol="0" anchor="t">
            <a:spAutoFit/>
          </a:bodyPr>
          <a:lstStyle/>
          <a:p>
            <a:pPr algn="l">
              <a:lnSpc>
                <a:spcPts val="2441"/>
              </a:lnSpc>
              <a:spcBef>
                <a:spcPct val="0"/>
              </a:spcBef>
            </a:pPr>
            <a:r>
              <a:rPr lang="en-US" sz="1769" b="1">
                <a:solidFill>
                  <a:srgbClr val="FFFFFF"/>
                </a:solidFill>
                <a:latin typeface="Almarai Bold"/>
                <a:ea typeface="Almarai Bold"/>
                <a:cs typeface="Almarai Bold"/>
                <a:sym typeface="Almarai Bold"/>
              </a:rPr>
              <a:t>Minacce chiave</a:t>
            </a:r>
          </a:p>
        </p:txBody>
      </p:sp>
      <p:sp>
        <p:nvSpPr>
          <p:cNvPr id="37" name="TextBox 37"/>
          <p:cNvSpPr txBox="1"/>
          <p:nvPr/>
        </p:nvSpPr>
        <p:spPr>
          <a:xfrm>
            <a:off x="1957037" y="7810684"/>
            <a:ext cx="3751335" cy="1736150"/>
          </a:xfrm>
          <a:prstGeom prst="rect">
            <a:avLst/>
          </a:prstGeom>
        </p:spPr>
        <p:txBody>
          <a:bodyPr lIns="0" tIns="0" rIns="0" bIns="0" rtlCol="0" anchor="t">
            <a:spAutoFit/>
          </a:bodyPr>
          <a:lstStyle/>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Tampering del testo</a:t>
            </a:r>
          </a:p>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Prompt injection su token parziali </a:t>
            </a:r>
          </a:p>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Eavesdropping del canale audio</a:t>
            </a:r>
          </a:p>
        </p:txBody>
      </p:sp>
      <p:sp>
        <p:nvSpPr>
          <p:cNvPr id="38" name="TextBox 38"/>
          <p:cNvSpPr txBox="1"/>
          <p:nvPr/>
        </p:nvSpPr>
        <p:spPr>
          <a:xfrm>
            <a:off x="7537668" y="4228511"/>
            <a:ext cx="2777801" cy="1073418"/>
          </a:xfrm>
          <a:prstGeom prst="rect">
            <a:avLst/>
          </a:prstGeom>
        </p:spPr>
        <p:txBody>
          <a:bodyPr lIns="0" tIns="0" rIns="0" bIns="0" rtlCol="0" anchor="t">
            <a:spAutoFit/>
          </a:bodyPr>
          <a:lstStyle/>
          <a:p>
            <a:pPr algn="l">
              <a:lnSpc>
                <a:spcPts val="2441"/>
              </a:lnSpc>
              <a:spcBef>
                <a:spcPct val="0"/>
              </a:spcBef>
            </a:pPr>
            <a:r>
              <a:rPr lang="en-US" sz="1769" b="1">
                <a:solidFill>
                  <a:srgbClr val="FFFFFF"/>
                </a:solidFill>
                <a:latin typeface="Almarai Bold"/>
                <a:ea typeface="Almarai Bold"/>
                <a:cs typeface="Almarai Bold"/>
                <a:sym typeface="Almarai Bold"/>
              </a:rPr>
              <a:t>Identità &amp; Artefatti Multimediali </a:t>
            </a:r>
          </a:p>
          <a:p>
            <a:pPr algn="l">
              <a:lnSpc>
                <a:spcPts val="2441"/>
              </a:lnSpc>
              <a:spcBef>
                <a:spcPct val="0"/>
              </a:spcBef>
            </a:pPr>
            <a:r>
              <a:rPr lang="en-US" sz="1769" b="1">
                <a:solidFill>
                  <a:srgbClr val="FFFFFF"/>
                </a:solidFill>
                <a:latin typeface="Almarai Bold"/>
                <a:ea typeface="Almarai Bold"/>
                <a:cs typeface="Almarai Bold"/>
                <a:sym typeface="Almarai Bold"/>
              </a:rPr>
              <a:t>(D5, D7–D9, D11)</a:t>
            </a:r>
          </a:p>
        </p:txBody>
      </p:sp>
      <p:sp>
        <p:nvSpPr>
          <p:cNvPr id="39" name="TextBox 39"/>
          <p:cNvSpPr txBox="1"/>
          <p:nvPr/>
        </p:nvSpPr>
        <p:spPr>
          <a:xfrm>
            <a:off x="6627729" y="5516249"/>
            <a:ext cx="3931517" cy="1476128"/>
          </a:xfrm>
          <a:prstGeom prst="rect">
            <a:avLst/>
          </a:prstGeom>
        </p:spPr>
        <p:txBody>
          <a:bodyPr lIns="0" tIns="0" rIns="0" bIns="0" rtlCol="0" anchor="t">
            <a:spAutoFit/>
          </a:bodyPr>
          <a:lstStyle/>
          <a:p>
            <a:pPr marL="388620" lvl="1" indent="-194310" algn="l">
              <a:lnSpc>
                <a:spcPts val="2483"/>
              </a:lnSpc>
              <a:buFont typeface="Arial"/>
              <a:buChar char="•"/>
            </a:pPr>
            <a:r>
              <a:rPr lang="en-US" sz="1800" b="1">
                <a:solidFill>
                  <a:srgbClr val="FFFFFF"/>
                </a:solidFill>
                <a:latin typeface="Almarai Bold"/>
                <a:ea typeface="Almarai Bold"/>
                <a:cs typeface="Almarai Bold"/>
                <a:sym typeface="Almarai Bold"/>
              </a:rPr>
              <a:t>Trigger posturali e gesti</a:t>
            </a:r>
          </a:p>
          <a:p>
            <a:pPr marL="388620" lvl="1" indent="-194310" algn="l">
              <a:lnSpc>
                <a:spcPts val="2483"/>
              </a:lnSpc>
              <a:buFont typeface="Arial"/>
              <a:buChar char="•"/>
            </a:pPr>
            <a:r>
              <a:rPr lang="en-US" sz="1800" b="1">
                <a:solidFill>
                  <a:srgbClr val="FFFFFF"/>
                </a:solidFill>
                <a:latin typeface="Almarai Bold"/>
                <a:ea typeface="Almarai Bold"/>
                <a:cs typeface="Almarai Bold"/>
                <a:sym typeface="Almarai Bold"/>
              </a:rPr>
              <a:t>Identità, voce e stile avatar</a:t>
            </a:r>
          </a:p>
          <a:p>
            <a:pPr marL="388620" lvl="1" indent="-194310" algn="l">
              <a:lnSpc>
                <a:spcPts val="2483"/>
              </a:lnSpc>
              <a:buFont typeface="Arial"/>
              <a:buChar char="•"/>
            </a:pPr>
            <a:r>
              <a:rPr lang="en-US" sz="1800" b="1">
                <a:solidFill>
                  <a:srgbClr val="FFFFFF"/>
                </a:solidFill>
                <a:latin typeface="Almarai Bold"/>
                <a:ea typeface="Almarai Bold"/>
                <a:cs typeface="Almarai Bold"/>
                <a:sym typeface="Almarai Bold"/>
              </a:rPr>
              <a:t>Clip temporanee e stream WebRTC</a:t>
            </a:r>
          </a:p>
        </p:txBody>
      </p:sp>
      <p:sp>
        <p:nvSpPr>
          <p:cNvPr id="40" name="TextBox 40"/>
          <p:cNvSpPr txBox="1"/>
          <p:nvPr/>
        </p:nvSpPr>
        <p:spPr>
          <a:xfrm>
            <a:off x="7140033" y="7393476"/>
            <a:ext cx="2777801" cy="356241"/>
          </a:xfrm>
          <a:prstGeom prst="rect">
            <a:avLst/>
          </a:prstGeom>
        </p:spPr>
        <p:txBody>
          <a:bodyPr lIns="0" tIns="0" rIns="0" bIns="0" rtlCol="0" anchor="t">
            <a:spAutoFit/>
          </a:bodyPr>
          <a:lstStyle/>
          <a:p>
            <a:pPr algn="l">
              <a:lnSpc>
                <a:spcPts val="2441"/>
              </a:lnSpc>
              <a:spcBef>
                <a:spcPct val="0"/>
              </a:spcBef>
            </a:pPr>
            <a:r>
              <a:rPr lang="en-US" sz="1769" b="1">
                <a:solidFill>
                  <a:srgbClr val="FFFFFF"/>
                </a:solidFill>
                <a:latin typeface="Almarai Bold"/>
                <a:ea typeface="Almarai Bold"/>
                <a:cs typeface="Almarai Bold"/>
                <a:sym typeface="Almarai Bold"/>
              </a:rPr>
              <a:t>Minacce chiave</a:t>
            </a:r>
          </a:p>
        </p:txBody>
      </p:sp>
      <p:sp>
        <p:nvSpPr>
          <p:cNvPr id="41" name="TextBox 41"/>
          <p:cNvSpPr txBox="1"/>
          <p:nvPr/>
        </p:nvSpPr>
        <p:spPr>
          <a:xfrm>
            <a:off x="6727836" y="7810684"/>
            <a:ext cx="3751335" cy="1736150"/>
          </a:xfrm>
          <a:prstGeom prst="rect">
            <a:avLst/>
          </a:prstGeom>
        </p:spPr>
        <p:txBody>
          <a:bodyPr lIns="0" tIns="0" rIns="0" bIns="0" rtlCol="0" anchor="t">
            <a:spAutoFit/>
          </a:bodyPr>
          <a:lstStyle/>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Voice spoofing</a:t>
            </a:r>
          </a:p>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Manomissione postura e sguardi</a:t>
            </a:r>
          </a:p>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Esfiltrazione di tratti di personalità</a:t>
            </a:r>
          </a:p>
        </p:txBody>
      </p:sp>
      <p:sp>
        <p:nvSpPr>
          <p:cNvPr id="42" name="TextBox 42"/>
          <p:cNvSpPr txBox="1"/>
          <p:nvPr/>
        </p:nvSpPr>
        <p:spPr>
          <a:xfrm>
            <a:off x="12308466" y="4228511"/>
            <a:ext cx="2777801" cy="1073418"/>
          </a:xfrm>
          <a:prstGeom prst="rect">
            <a:avLst/>
          </a:prstGeom>
        </p:spPr>
        <p:txBody>
          <a:bodyPr lIns="0" tIns="0" rIns="0" bIns="0" rtlCol="0" anchor="t">
            <a:spAutoFit/>
          </a:bodyPr>
          <a:lstStyle/>
          <a:p>
            <a:pPr algn="l">
              <a:lnSpc>
                <a:spcPts val="2441"/>
              </a:lnSpc>
            </a:pPr>
            <a:r>
              <a:rPr lang="en-US" sz="1769" b="1">
                <a:solidFill>
                  <a:srgbClr val="FFFFFF"/>
                </a:solidFill>
                <a:latin typeface="Almarai Bold"/>
                <a:ea typeface="Almarai Bold"/>
                <a:cs typeface="Almarai Bold"/>
                <a:sym typeface="Almarai Bold"/>
              </a:rPr>
              <a:t>Conoscenza, Stato  &amp; Credenziali </a:t>
            </a:r>
          </a:p>
          <a:p>
            <a:pPr algn="l">
              <a:lnSpc>
                <a:spcPts val="2441"/>
              </a:lnSpc>
              <a:spcBef>
                <a:spcPct val="0"/>
              </a:spcBef>
            </a:pPr>
            <a:r>
              <a:rPr lang="en-US" sz="1769" b="1">
                <a:solidFill>
                  <a:srgbClr val="FFFFFF"/>
                </a:solidFill>
                <a:latin typeface="Almarai Bold"/>
                <a:ea typeface="Almarai Bold"/>
                <a:cs typeface="Almarai Bold"/>
                <a:sym typeface="Almarai Bold"/>
              </a:rPr>
              <a:t>(D4, D10, D12-13)</a:t>
            </a:r>
          </a:p>
        </p:txBody>
      </p:sp>
      <p:sp>
        <p:nvSpPr>
          <p:cNvPr id="43" name="TextBox 43"/>
          <p:cNvSpPr txBox="1"/>
          <p:nvPr/>
        </p:nvSpPr>
        <p:spPr>
          <a:xfrm>
            <a:off x="11424065" y="5401652"/>
            <a:ext cx="3751335" cy="1736150"/>
          </a:xfrm>
          <a:prstGeom prst="rect">
            <a:avLst/>
          </a:prstGeom>
        </p:spPr>
        <p:txBody>
          <a:bodyPr lIns="0" tIns="0" rIns="0" bIns="0" rtlCol="0" anchor="t">
            <a:spAutoFit/>
          </a:bodyPr>
          <a:lstStyle/>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Indice RAG &amp; memoria contesto</a:t>
            </a:r>
          </a:p>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Stato sessione &amp; swap coordination </a:t>
            </a:r>
          </a:p>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Log di audit &amp; credenziali</a:t>
            </a:r>
          </a:p>
        </p:txBody>
      </p:sp>
      <p:sp>
        <p:nvSpPr>
          <p:cNvPr id="44" name="TextBox 44"/>
          <p:cNvSpPr txBox="1"/>
          <p:nvPr/>
        </p:nvSpPr>
        <p:spPr>
          <a:xfrm>
            <a:off x="11910832" y="7393476"/>
            <a:ext cx="2777801" cy="356241"/>
          </a:xfrm>
          <a:prstGeom prst="rect">
            <a:avLst/>
          </a:prstGeom>
        </p:spPr>
        <p:txBody>
          <a:bodyPr lIns="0" tIns="0" rIns="0" bIns="0" rtlCol="0" anchor="t">
            <a:spAutoFit/>
          </a:bodyPr>
          <a:lstStyle/>
          <a:p>
            <a:pPr algn="l">
              <a:lnSpc>
                <a:spcPts val="2441"/>
              </a:lnSpc>
              <a:spcBef>
                <a:spcPct val="0"/>
              </a:spcBef>
            </a:pPr>
            <a:r>
              <a:rPr lang="en-US" sz="1769" b="1">
                <a:solidFill>
                  <a:srgbClr val="FFFFFF"/>
                </a:solidFill>
                <a:latin typeface="Almarai Bold"/>
                <a:ea typeface="Almarai Bold"/>
                <a:cs typeface="Almarai Bold"/>
                <a:sym typeface="Almarai Bold"/>
              </a:rPr>
              <a:t>Minacce chiave</a:t>
            </a:r>
          </a:p>
        </p:txBody>
      </p:sp>
      <p:sp>
        <p:nvSpPr>
          <p:cNvPr id="45" name="TextBox 45"/>
          <p:cNvSpPr txBox="1"/>
          <p:nvPr/>
        </p:nvSpPr>
        <p:spPr>
          <a:xfrm>
            <a:off x="11498634" y="7810684"/>
            <a:ext cx="3751335" cy="1626377"/>
          </a:xfrm>
          <a:prstGeom prst="rect">
            <a:avLst/>
          </a:prstGeom>
        </p:spPr>
        <p:txBody>
          <a:bodyPr lIns="0" tIns="0" rIns="0" bIns="0" rtlCol="0" anchor="t">
            <a:spAutoFit/>
          </a:bodyPr>
          <a:lstStyle/>
          <a:p>
            <a:pPr marL="345441" lvl="1" indent="-172721" algn="l">
              <a:lnSpc>
                <a:spcPts val="2208"/>
              </a:lnSpc>
              <a:buFont typeface="Arial"/>
              <a:buChar char="•"/>
            </a:pPr>
            <a:r>
              <a:rPr lang="en-US" sz="1600" b="1">
                <a:solidFill>
                  <a:srgbClr val="FFFFFF"/>
                </a:solidFill>
                <a:latin typeface="Almarai Bold"/>
                <a:ea typeface="Almarai Bold"/>
                <a:cs typeface="Almarai Bold"/>
                <a:sym typeface="Almarai Bold"/>
              </a:rPr>
              <a:t>Poisoning di RAG e contesto</a:t>
            </a:r>
          </a:p>
          <a:p>
            <a:pPr marL="345441" lvl="1" indent="-172721" algn="l">
              <a:lnSpc>
                <a:spcPts val="2208"/>
              </a:lnSpc>
              <a:buFont typeface="Arial"/>
              <a:buChar char="•"/>
            </a:pPr>
            <a:r>
              <a:rPr lang="en-US" sz="1600" b="1">
                <a:solidFill>
                  <a:srgbClr val="FFFFFF"/>
                </a:solidFill>
                <a:latin typeface="Almarai Bold"/>
                <a:ea typeface="Almarai Bold"/>
                <a:cs typeface="Almarai Bold"/>
                <a:sym typeface="Almarai Bold"/>
              </a:rPr>
              <a:t>Falsificazione o replay del Video Ready</a:t>
            </a:r>
          </a:p>
          <a:p>
            <a:pPr marL="345441" lvl="1" indent="-172721" algn="l">
              <a:lnSpc>
                <a:spcPts val="2208"/>
              </a:lnSpc>
              <a:buFont typeface="Arial"/>
              <a:buChar char="•"/>
            </a:pPr>
            <a:r>
              <a:rPr lang="en-US" sz="1600" b="1">
                <a:solidFill>
                  <a:srgbClr val="FFFFFF"/>
                </a:solidFill>
                <a:latin typeface="Almarai Bold"/>
                <a:ea typeface="Almarai Bold"/>
                <a:cs typeface="Almarai Bold"/>
                <a:sym typeface="Almarai Bold"/>
              </a:rPr>
              <a:t>Escalation privilegi e furto credenziali</a:t>
            </a:r>
          </a:p>
        </p:txBody>
      </p:sp>
      <p:sp>
        <p:nvSpPr>
          <p:cNvPr id="47" name="Text 59">
            <a:extLst>
              <a:ext uri="{FF2B5EF4-FFF2-40B4-BE49-F238E27FC236}">
                <a16:creationId xmlns:a16="http://schemas.microsoft.com/office/drawing/2014/main" id="{CC4F2C0F-E7CB-D563-C5D5-1922F8B80B88}"/>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06</a:t>
            </a:r>
            <a:endParaRPr lang="en-US" sz="15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10" name="Group 10"/>
          <p:cNvGrpSpPr/>
          <p:nvPr/>
        </p:nvGrpSpPr>
        <p:grpSpPr>
          <a:xfrm>
            <a:off x="1756823" y="4152311"/>
            <a:ext cx="4131732" cy="5751436"/>
            <a:chOff x="0" y="0"/>
            <a:chExt cx="1088193" cy="1514781"/>
          </a:xfrm>
        </p:grpSpPr>
        <p:sp>
          <p:nvSpPr>
            <p:cNvPr id="11" name="Freeform 11"/>
            <p:cNvSpPr/>
            <p:nvPr/>
          </p:nvSpPr>
          <p:spPr>
            <a:xfrm>
              <a:off x="0" y="0"/>
              <a:ext cx="1088193" cy="1514781"/>
            </a:xfrm>
            <a:custGeom>
              <a:avLst/>
              <a:gdLst/>
              <a:ahLst/>
              <a:cxnLst/>
              <a:rect l="l" t="t" r="r" b="b"/>
              <a:pathLst>
                <a:path w="1088193" h="1514781">
                  <a:moveTo>
                    <a:pt x="95562" y="0"/>
                  </a:moveTo>
                  <a:lnTo>
                    <a:pt x="992630" y="0"/>
                  </a:lnTo>
                  <a:cubicBezTo>
                    <a:pt x="1017975" y="0"/>
                    <a:pt x="1042282" y="10068"/>
                    <a:pt x="1060203" y="27990"/>
                  </a:cubicBezTo>
                  <a:cubicBezTo>
                    <a:pt x="1078125" y="45911"/>
                    <a:pt x="1088193" y="70218"/>
                    <a:pt x="1088193" y="95562"/>
                  </a:cubicBezTo>
                  <a:lnTo>
                    <a:pt x="1088193" y="1419219"/>
                  </a:lnTo>
                  <a:cubicBezTo>
                    <a:pt x="1088193" y="1444564"/>
                    <a:pt x="1078125" y="1468870"/>
                    <a:pt x="1060203" y="1486792"/>
                  </a:cubicBezTo>
                  <a:cubicBezTo>
                    <a:pt x="1042282" y="1504713"/>
                    <a:pt x="1017975" y="1514781"/>
                    <a:pt x="992630" y="1514781"/>
                  </a:cubicBezTo>
                  <a:lnTo>
                    <a:pt x="95562" y="1514781"/>
                  </a:lnTo>
                  <a:cubicBezTo>
                    <a:pt x="70218" y="1514781"/>
                    <a:pt x="45911" y="1504713"/>
                    <a:pt x="27990" y="1486792"/>
                  </a:cubicBezTo>
                  <a:cubicBezTo>
                    <a:pt x="10068" y="1468870"/>
                    <a:pt x="0" y="1444564"/>
                    <a:pt x="0" y="1419219"/>
                  </a:cubicBezTo>
                  <a:lnTo>
                    <a:pt x="0" y="95562"/>
                  </a:lnTo>
                  <a:cubicBezTo>
                    <a:pt x="0" y="70218"/>
                    <a:pt x="10068" y="45911"/>
                    <a:pt x="27990" y="27990"/>
                  </a:cubicBezTo>
                  <a:cubicBezTo>
                    <a:pt x="45911" y="10068"/>
                    <a:pt x="70218" y="0"/>
                    <a:pt x="95562" y="0"/>
                  </a:cubicBezTo>
                  <a:close/>
                </a:path>
              </a:pathLst>
            </a:custGeom>
            <a:solidFill>
              <a:srgbClr val="145DA0"/>
            </a:solidFill>
          </p:spPr>
          <p:txBody>
            <a:bodyPr/>
            <a:lstStyle/>
            <a:p>
              <a:endParaRPr lang="it-IT"/>
            </a:p>
          </p:txBody>
        </p:sp>
        <p:sp>
          <p:nvSpPr>
            <p:cNvPr id="12" name="TextBox 12"/>
            <p:cNvSpPr txBox="1"/>
            <p:nvPr/>
          </p:nvSpPr>
          <p:spPr>
            <a:xfrm>
              <a:off x="0" y="-38100"/>
              <a:ext cx="1088193" cy="1552881"/>
            </a:xfrm>
            <a:prstGeom prst="rect">
              <a:avLst/>
            </a:prstGeom>
          </p:spPr>
          <p:txBody>
            <a:bodyPr lIns="50800" tIns="50800" rIns="50800" bIns="50800" rtlCol="0" anchor="ctr"/>
            <a:lstStyle/>
            <a:p>
              <a:pPr algn="ctr">
                <a:lnSpc>
                  <a:spcPts val="2659"/>
                </a:lnSpc>
                <a:spcBef>
                  <a:spcPct val="0"/>
                </a:spcBef>
              </a:pPr>
              <a:endParaRPr/>
            </a:p>
          </p:txBody>
        </p:sp>
      </p:grpSp>
      <p:grpSp>
        <p:nvGrpSpPr>
          <p:cNvPr id="13" name="Group 13"/>
          <p:cNvGrpSpPr/>
          <p:nvPr/>
        </p:nvGrpSpPr>
        <p:grpSpPr>
          <a:xfrm>
            <a:off x="1957037" y="7241242"/>
            <a:ext cx="3751335" cy="2464635"/>
            <a:chOff x="0" y="0"/>
            <a:chExt cx="988006" cy="649122"/>
          </a:xfrm>
        </p:grpSpPr>
        <p:sp>
          <p:nvSpPr>
            <p:cNvPr id="14" name="Freeform 14"/>
            <p:cNvSpPr/>
            <p:nvPr/>
          </p:nvSpPr>
          <p:spPr>
            <a:xfrm>
              <a:off x="0" y="0"/>
              <a:ext cx="988006" cy="649122"/>
            </a:xfrm>
            <a:custGeom>
              <a:avLst/>
              <a:gdLst/>
              <a:ahLst/>
              <a:cxnLst/>
              <a:rect l="l" t="t" r="r" b="b"/>
              <a:pathLst>
                <a:path w="988006" h="649122">
                  <a:moveTo>
                    <a:pt x="105253" y="0"/>
                  </a:moveTo>
                  <a:lnTo>
                    <a:pt x="882753" y="0"/>
                  </a:lnTo>
                  <a:cubicBezTo>
                    <a:pt x="910668" y="0"/>
                    <a:pt x="937439" y="11089"/>
                    <a:pt x="957178" y="30828"/>
                  </a:cubicBezTo>
                  <a:cubicBezTo>
                    <a:pt x="976917" y="50566"/>
                    <a:pt x="988006" y="77338"/>
                    <a:pt x="988006" y="105253"/>
                  </a:cubicBezTo>
                  <a:lnTo>
                    <a:pt x="988006" y="543869"/>
                  </a:lnTo>
                  <a:cubicBezTo>
                    <a:pt x="988006" y="601999"/>
                    <a:pt x="940883" y="649122"/>
                    <a:pt x="882753" y="649122"/>
                  </a:cubicBezTo>
                  <a:lnTo>
                    <a:pt x="105253" y="649122"/>
                  </a:lnTo>
                  <a:cubicBezTo>
                    <a:pt x="77338" y="649122"/>
                    <a:pt x="50566" y="638033"/>
                    <a:pt x="30828" y="618294"/>
                  </a:cubicBezTo>
                  <a:cubicBezTo>
                    <a:pt x="11089" y="598555"/>
                    <a:pt x="0" y="571784"/>
                    <a:pt x="0" y="543869"/>
                  </a:cubicBezTo>
                  <a:lnTo>
                    <a:pt x="0" y="105253"/>
                  </a:lnTo>
                  <a:cubicBezTo>
                    <a:pt x="0" y="77338"/>
                    <a:pt x="11089" y="50566"/>
                    <a:pt x="30828" y="30828"/>
                  </a:cubicBezTo>
                  <a:cubicBezTo>
                    <a:pt x="50566" y="11089"/>
                    <a:pt x="77338" y="0"/>
                    <a:pt x="105253" y="0"/>
                  </a:cubicBezTo>
                  <a:close/>
                </a:path>
              </a:pathLst>
            </a:custGeom>
            <a:solidFill>
              <a:srgbClr val="031E40"/>
            </a:solidFill>
            <a:ln w="38100" cap="rnd">
              <a:solidFill>
                <a:srgbClr val="760F0F"/>
              </a:solidFill>
              <a:prstDash val="solid"/>
              <a:round/>
            </a:ln>
          </p:spPr>
          <p:txBody>
            <a:bodyPr/>
            <a:lstStyle/>
            <a:p>
              <a:endParaRPr lang="it-IT"/>
            </a:p>
          </p:txBody>
        </p:sp>
        <p:sp>
          <p:nvSpPr>
            <p:cNvPr id="15" name="TextBox 15"/>
            <p:cNvSpPr txBox="1"/>
            <p:nvPr/>
          </p:nvSpPr>
          <p:spPr>
            <a:xfrm>
              <a:off x="0" y="-38100"/>
              <a:ext cx="988006" cy="687222"/>
            </a:xfrm>
            <a:prstGeom prst="rect">
              <a:avLst/>
            </a:prstGeom>
          </p:spPr>
          <p:txBody>
            <a:bodyPr lIns="50800" tIns="50800" rIns="50800" bIns="50800" rtlCol="0" anchor="ctr"/>
            <a:lstStyle/>
            <a:p>
              <a:pPr algn="ctr">
                <a:lnSpc>
                  <a:spcPts val="2659"/>
                </a:lnSpc>
                <a:spcBef>
                  <a:spcPct val="0"/>
                </a:spcBef>
              </a:pPr>
              <a:endParaRPr/>
            </a:p>
          </p:txBody>
        </p:sp>
      </p:grpSp>
      <p:grpSp>
        <p:nvGrpSpPr>
          <p:cNvPr id="16" name="Group 16"/>
          <p:cNvGrpSpPr/>
          <p:nvPr/>
        </p:nvGrpSpPr>
        <p:grpSpPr>
          <a:xfrm>
            <a:off x="6527621" y="4152311"/>
            <a:ext cx="4131732" cy="5751436"/>
            <a:chOff x="0" y="0"/>
            <a:chExt cx="1088193" cy="1514781"/>
          </a:xfrm>
        </p:grpSpPr>
        <p:sp>
          <p:nvSpPr>
            <p:cNvPr id="17" name="Freeform 17"/>
            <p:cNvSpPr/>
            <p:nvPr/>
          </p:nvSpPr>
          <p:spPr>
            <a:xfrm>
              <a:off x="0" y="0"/>
              <a:ext cx="1088193" cy="1514781"/>
            </a:xfrm>
            <a:custGeom>
              <a:avLst/>
              <a:gdLst/>
              <a:ahLst/>
              <a:cxnLst/>
              <a:rect l="l" t="t" r="r" b="b"/>
              <a:pathLst>
                <a:path w="1088193" h="1514781">
                  <a:moveTo>
                    <a:pt x="95562" y="0"/>
                  </a:moveTo>
                  <a:lnTo>
                    <a:pt x="992630" y="0"/>
                  </a:lnTo>
                  <a:cubicBezTo>
                    <a:pt x="1017975" y="0"/>
                    <a:pt x="1042282" y="10068"/>
                    <a:pt x="1060203" y="27990"/>
                  </a:cubicBezTo>
                  <a:cubicBezTo>
                    <a:pt x="1078125" y="45911"/>
                    <a:pt x="1088193" y="70218"/>
                    <a:pt x="1088193" y="95562"/>
                  </a:cubicBezTo>
                  <a:lnTo>
                    <a:pt x="1088193" y="1419219"/>
                  </a:lnTo>
                  <a:cubicBezTo>
                    <a:pt x="1088193" y="1444564"/>
                    <a:pt x="1078125" y="1468870"/>
                    <a:pt x="1060203" y="1486792"/>
                  </a:cubicBezTo>
                  <a:cubicBezTo>
                    <a:pt x="1042282" y="1504713"/>
                    <a:pt x="1017975" y="1514781"/>
                    <a:pt x="992630" y="1514781"/>
                  </a:cubicBezTo>
                  <a:lnTo>
                    <a:pt x="95562" y="1514781"/>
                  </a:lnTo>
                  <a:cubicBezTo>
                    <a:pt x="70218" y="1514781"/>
                    <a:pt x="45911" y="1504713"/>
                    <a:pt x="27990" y="1486792"/>
                  </a:cubicBezTo>
                  <a:cubicBezTo>
                    <a:pt x="10068" y="1468870"/>
                    <a:pt x="0" y="1444564"/>
                    <a:pt x="0" y="1419219"/>
                  </a:cubicBezTo>
                  <a:lnTo>
                    <a:pt x="0" y="95562"/>
                  </a:lnTo>
                  <a:cubicBezTo>
                    <a:pt x="0" y="70218"/>
                    <a:pt x="10068" y="45911"/>
                    <a:pt x="27990" y="27990"/>
                  </a:cubicBezTo>
                  <a:cubicBezTo>
                    <a:pt x="45911" y="10068"/>
                    <a:pt x="70218" y="0"/>
                    <a:pt x="95562" y="0"/>
                  </a:cubicBezTo>
                  <a:close/>
                </a:path>
              </a:pathLst>
            </a:custGeom>
            <a:solidFill>
              <a:srgbClr val="145DA0"/>
            </a:solidFill>
          </p:spPr>
          <p:txBody>
            <a:bodyPr/>
            <a:lstStyle/>
            <a:p>
              <a:endParaRPr lang="it-IT"/>
            </a:p>
          </p:txBody>
        </p:sp>
        <p:sp>
          <p:nvSpPr>
            <p:cNvPr id="18" name="TextBox 18"/>
            <p:cNvSpPr txBox="1"/>
            <p:nvPr/>
          </p:nvSpPr>
          <p:spPr>
            <a:xfrm>
              <a:off x="0" y="-38100"/>
              <a:ext cx="1088193" cy="1552881"/>
            </a:xfrm>
            <a:prstGeom prst="rect">
              <a:avLst/>
            </a:prstGeom>
          </p:spPr>
          <p:txBody>
            <a:bodyPr lIns="50800" tIns="50800" rIns="50800" bIns="50800" rtlCol="0" anchor="ctr"/>
            <a:lstStyle/>
            <a:p>
              <a:pPr algn="ctr">
                <a:lnSpc>
                  <a:spcPts val="2659"/>
                </a:lnSpc>
                <a:spcBef>
                  <a:spcPct val="0"/>
                </a:spcBef>
              </a:pPr>
              <a:endParaRPr/>
            </a:p>
          </p:txBody>
        </p:sp>
      </p:grpSp>
      <p:grpSp>
        <p:nvGrpSpPr>
          <p:cNvPr id="19" name="Group 19"/>
          <p:cNvGrpSpPr/>
          <p:nvPr/>
        </p:nvGrpSpPr>
        <p:grpSpPr>
          <a:xfrm>
            <a:off x="6727836" y="7241242"/>
            <a:ext cx="3751335" cy="2464635"/>
            <a:chOff x="0" y="0"/>
            <a:chExt cx="988006" cy="649122"/>
          </a:xfrm>
        </p:grpSpPr>
        <p:sp>
          <p:nvSpPr>
            <p:cNvPr id="20" name="Freeform 20"/>
            <p:cNvSpPr/>
            <p:nvPr/>
          </p:nvSpPr>
          <p:spPr>
            <a:xfrm>
              <a:off x="0" y="0"/>
              <a:ext cx="988006" cy="649122"/>
            </a:xfrm>
            <a:custGeom>
              <a:avLst/>
              <a:gdLst/>
              <a:ahLst/>
              <a:cxnLst/>
              <a:rect l="l" t="t" r="r" b="b"/>
              <a:pathLst>
                <a:path w="988006" h="649122">
                  <a:moveTo>
                    <a:pt x="105253" y="0"/>
                  </a:moveTo>
                  <a:lnTo>
                    <a:pt x="882753" y="0"/>
                  </a:lnTo>
                  <a:cubicBezTo>
                    <a:pt x="910668" y="0"/>
                    <a:pt x="937439" y="11089"/>
                    <a:pt x="957178" y="30828"/>
                  </a:cubicBezTo>
                  <a:cubicBezTo>
                    <a:pt x="976917" y="50566"/>
                    <a:pt x="988006" y="77338"/>
                    <a:pt x="988006" y="105253"/>
                  </a:cubicBezTo>
                  <a:lnTo>
                    <a:pt x="988006" y="543869"/>
                  </a:lnTo>
                  <a:cubicBezTo>
                    <a:pt x="988006" y="601999"/>
                    <a:pt x="940883" y="649122"/>
                    <a:pt x="882753" y="649122"/>
                  </a:cubicBezTo>
                  <a:lnTo>
                    <a:pt x="105253" y="649122"/>
                  </a:lnTo>
                  <a:cubicBezTo>
                    <a:pt x="77338" y="649122"/>
                    <a:pt x="50566" y="638033"/>
                    <a:pt x="30828" y="618294"/>
                  </a:cubicBezTo>
                  <a:cubicBezTo>
                    <a:pt x="11089" y="598555"/>
                    <a:pt x="0" y="571784"/>
                    <a:pt x="0" y="543869"/>
                  </a:cubicBezTo>
                  <a:lnTo>
                    <a:pt x="0" y="105253"/>
                  </a:lnTo>
                  <a:cubicBezTo>
                    <a:pt x="0" y="77338"/>
                    <a:pt x="11089" y="50566"/>
                    <a:pt x="30828" y="30828"/>
                  </a:cubicBezTo>
                  <a:cubicBezTo>
                    <a:pt x="50566" y="11089"/>
                    <a:pt x="77338" y="0"/>
                    <a:pt x="105253" y="0"/>
                  </a:cubicBezTo>
                  <a:close/>
                </a:path>
              </a:pathLst>
            </a:custGeom>
            <a:solidFill>
              <a:srgbClr val="031E40"/>
            </a:solidFill>
            <a:ln w="38100" cap="rnd">
              <a:solidFill>
                <a:srgbClr val="760F0F"/>
              </a:solidFill>
              <a:prstDash val="solid"/>
              <a:round/>
            </a:ln>
          </p:spPr>
          <p:txBody>
            <a:bodyPr/>
            <a:lstStyle/>
            <a:p>
              <a:endParaRPr lang="it-IT"/>
            </a:p>
          </p:txBody>
        </p:sp>
        <p:sp>
          <p:nvSpPr>
            <p:cNvPr id="21" name="TextBox 21"/>
            <p:cNvSpPr txBox="1"/>
            <p:nvPr/>
          </p:nvSpPr>
          <p:spPr>
            <a:xfrm>
              <a:off x="0" y="-38100"/>
              <a:ext cx="988006" cy="687222"/>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11298420" y="4152311"/>
            <a:ext cx="4131732" cy="5751436"/>
            <a:chOff x="0" y="0"/>
            <a:chExt cx="1088193" cy="1514781"/>
          </a:xfrm>
        </p:grpSpPr>
        <p:sp>
          <p:nvSpPr>
            <p:cNvPr id="23" name="Freeform 23"/>
            <p:cNvSpPr/>
            <p:nvPr/>
          </p:nvSpPr>
          <p:spPr>
            <a:xfrm>
              <a:off x="0" y="0"/>
              <a:ext cx="1088193" cy="1514781"/>
            </a:xfrm>
            <a:custGeom>
              <a:avLst/>
              <a:gdLst/>
              <a:ahLst/>
              <a:cxnLst/>
              <a:rect l="l" t="t" r="r" b="b"/>
              <a:pathLst>
                <a:path w="1088193" h="1514781">
                  <a:moveTo>
                    <a:pt x="95562" y="0"/>
                  </a:moveTo>
                  <a:lnTo>
                    <a:pt x="992630" y="0"/>
                  </a:lnTo>
                  <a:cubicBezTo>
                    <a:pt x="1017975" y="0"/>
                    <a:pt x="1042282" y="10068"/>
                    <a:pt x="1060203" y="27990"/>
                  </a:cubicBezTo>
                  <a:cubicBezTo>
                    <a:pt x="1078125" y="45911"/>
                    <a:pt x="1088193" y="70218"/>
                    <a:pt x="1088193" y="95562"/>
                  </a:cubicBezTo>
                  <a:lnTo>
                    <a:pt x="1088193" y="1419219"/>
                  </a:lnTo>
                  <a:cubicBezTo>
                    <a:pt x="1088193" y="1444564"/>
                    <a:pt x="1078125" y="1468870"/>
                    <a:pt x="1060203" y="1486792"/>
                  </a:cubicBezTo>
                  <a:cubicBezTo>
                    <a:pt x="1042282" y="1504713"/>
                    <a:pt x="1017975" y="1514781"/>
                    <a:pt x="992630" y="1514781"/>
                  </a:cubicBezTo>
                  <a:lnTo>
                    <a:pt x="95562" y="1514781"/>
                  </a:lnTo>
                  <a:cubicBezTo>
                    <a:pt x="70218" y="1514781"/>
                    <a:pt x="45911" y="1504713"/>
                    <a:pt x="27990" y="1486792"/>
                  </a:cubicBezTo>
                  <a:cubicBezTo>
                    <a:pt x="10068" y="1468870"/>
                    <a:pt x="0" y="1444564"/>
                    <a:pt x="0" y="1419219"/>
                  </a:cubicBezTo>
                  <a:lnTo>
                    <a:pt x="0" y="95562"/>
                  </a:lnTo>
                  <a:cubicBezTo>
                    <a:pt x="0" y="70218"/>
                    <a:pt x="10068" y="45911"/>
                    <a:pt x="27990" y="27990"/>
                  </a:cubicBezTo>
                  <a:cubicBezTo>
                    <a:pt x="45911" y="10068"/>
                    <a:pt x="70218" y="0"/>
                    <a:pt x="95562" y="0"/>
                  </a:cubicBezTo>
                  <a:close/>
                </a:path>
              </a:pathLst>
            </a:custGeom>
            <a:solidFill>
              <a:srgbClr val="145DA0"/>
            </a:solidFill>
          </p:spPr>
          <p:txBody>
            <a:bodyPr/>
            <a:lstStyle/>
            <a:p>
              <a:endParaRPr lang="it-IT"/>
            </a:p>
          </p:txBody>
        </p:sp>
        <p:sp>
          <p:nvSpPr>
            <p:cNvPr id="24" name="TextBox 24"/>
            <p:cNvSpPr txBox="1"/>
            <p:nvPr/>
          </p:nvSpPr>
          <p:spPr>
            <a:xfrm>
              <a:off x="0" y="-38100"/>
              <a:ext cx="1088193" cy="1552881"/>
            </a:xfrm>
            <a:prstGeom prst="rect">
              <a:avLst/>
            </a:prstGeom>
          </p:spPr>
          <p:txBody>
            <a:bodyPr lIns="50800" tIns="50800" rIns="50800" bIns="50800" rtlCol="0" anchor="ctr"/>
            <a:lstStyle/>
            <a:p>
              <a:pPr algn="ctr">
                <a:lnSpc>
                  <a:spcPts val="2659"/>
                </a:lnSpc>
                <a:spcBef>
                  <a:spcPct val="0"/>
                </a:spcBef>
              </a:pPr>
              <a:endParaRPr/>
            </a:p>
          </p:txBody>
        </p:sp>
      </p:grpSp>
      <p:grpSp>
        <p:nvGrpSpPr>
          <p:cNvPr id="25" name="Group 25"/>
          <p:cNvGrpSpPr/>
          <p:nvPr/>
        </p:nvGrpSpPr>
        <p:grpSpPr>
          <a:xfrm>
            <a:off x="11498634" y="7241242"/>
            <a:ext cx="3751335" cy="2464635"/>
            <a:chOff x="0" y="0"/>
            <a:chExt cx="988006" cy="649122"/>
          </a:xfrm>
        </p:grpSpPr>
        <p:sp>
          <p:nvSpPr>
            <p:cNvPr id="26" name="Freeform 26"/>
            <p:cNvSpPr/>
            <p:nvPr/>
          </p:nvSpPr>
          <p:spPr>
            <a:xfrm>
              <a:off x="0" y="0"/>
              <a:ext cx="988006" cy="649122"/>
            </a:xfrm>
            <a:custGeom>
              <a:avLst/>
              <a:gdLst/>
              <a:ahLst/>
              <a:cxnLst/>
              <a:rect l="l" t="t" r="r" b="b"/>
              <a:pathLst>
                <a:path w="988006" h="649122">
                  <a:moveTo>
                    <a:pt x="105253" y="0"/>
                  </a:moveTo>
                  <a:lnTo>
                    <a:pt x="882753" y="0"/>
                  </a:lnTo>
                  <a:cubicBezTo>
                    <a:pt x="910668" y="0"/>
                    <a:pt x="937439" y="11089"/>
                    <a:pt x="957178" y="30828"/>
                  </a:cubicBezTo>
                  <a:cubicBezTo>
                    <a:pt x="976917" y="50566"/>
                    <a:pt x="988006" y="77338"/>
                    <a:pt x="988006" y="105253"/>
                  </a:cubicBezTo>
                  <a:lnTo>
                    <a:pt x="988006" y="543869"/>
                  </a:lnTo>
                  <a:cubicBezTo>
                    <a:pt x="988006" y="601999"/>
                    <a:pt x="940883" y="649122"/>
                    <a:pt x="882753" y="649122"/>
                  </a:cubicBezTo>
                  <a:lnTo>
                    <a:pt x="105253" y="649122"/>
                  </a:lnTo>
                  <a:cubicBezTo>
                    <a:pt x="77338" y="649122"/>
                    <a:pt x="50566" y="638033"/>
                    <a:pt x="30828" y="618294"/>
                  </a:cubicBezTo>
                  <a:cubicBezTo>
                    <a:pt x="11089" y="598555"/>
                    <a:pt x="0" y="571784"/>
                    <a:pt x="0" y="543869"/>
                  </a:cubicBezTo>
                  <a:lnTo>
                    <a:pt x="0" y="105253"/>
                  </a:lnTo>
                  <a:cubicBezTo>
                    <a:pt x="0" y="77338"/>
                    <a:pt x="11089" y="50566"/>
                    <a:pt x="30828" y="30828"/>
                  </a:cubicBezTo>
                  <a:cubicBezTo>
                    <a:pt x="50566" y="11089"/>
                    <a:pt x="77338" y="0"/>
                    <a:pt x="105253" y="0"/>
                  </a:cubicBezTo>
                  <a:close/>
                </a:path>
              </a:pathLst>
            </a:custGeom>
            <a:solidFill>
              <a:srgbClr val="031E40"/>
            </a:solidFill>
            <a:ln w="38100" cap="rnd">
              <a:solidFill>
                <a:srgbClr val="760F0F"/>
              </a:solidFill>
              <a:prstDash val="solid"/>
              <a:round/>
            </a:ln>
          </p:spPr>
          <p:txBody>
            <a:bodyPr/>
            <a:lstStyle/>
            <a:p>
              <a:endParaRPr lang="it-IT"/>
            </a:p>
          </p:txBody>
        </p:sp>
        <p:sp>
          <p:nvSpPr>
            <p:cNvPr id="27" name="TextBox 27"/>
            <p:cNvSpPr txBox="1"/>
            <p:nvPr/>
          </p:nvSpPr>
          <p:spPr>
            <a:xfrm>
              <a:off x="0" y="-38100"/>
              <a:ext cx="988006" cy="687222"/>
            </a:xfrm>
            <a:prstGeom prst="rect">
              <a:avLst/>
            </a:prstGeom>
          </p:spPr>
          <p:txBody>
            <a:bodyPr lIns="50800" tIns="50800" rIns="50800" bIns="50800" rtlCol="0" anchor="ctr"/>
            <a:lstStyle/>
            <a:p>
              <a:pPr algn="ctr">
                <a:lnSpc>
                  <a:spcPts val="2659"/>
                </a:lnSpc>
                <a:spcBef>
                  <a:spcPct val="0"/>
                </a:spcBef>
              </a:pPr>
              <a:endParaRPr/>
            </a:p>
          </p:txBody>
        </p:sp>
      </p:grpSp>
      <p:sp>
        <p:nvSpPr>
          <p:cNvPr id="28" name="Freeform 28"/>
          <p:cNvSpPr/>
          <p:nvPr/>
        </p:nvSpPr>
        <p:spPr>
          <a:xfrm>
            <a:off x="1918173" y="4268867"/>
            <a:ext cx="762972" cy="833849"/>
          </a:xfrm>
          <a:custGeom>
            <a:avLst/>
            <a:gdLst/>
            <a:ahLst/>
            <a:cxnLst/>
            <a:rect l="l" t="t" r="r" b="b"/>
            <a:pathLst>
              <a:path w="762972" h="833849">
                <a:moveTo>
                  <a:pt x="0" y="0"/>
                </a:moveTo>
                <a:lnTo>
                  <a:pt x="762971" y="0"/>
                </a:lnTo>
                <a:lnTo>
                  <a:pt x="762971" y="833848"/>
                </a:lnTo>
                <a:lnTo>
                  <a:pt x="0" y="833848"/>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it-IT"/>
          </a:p>
        </p:txBody>
      </p:sp>
      <p:sp>
        <p:nvSpPr>
          <p:cNvPr id="29" name="Freeform 29"/>
          <p:cNvSpPr/>
          <p:nvPr/>
        </p:nvSpPr>
        <p:spPr>
          <a:xfrm>
            <a:off x="6654529" y="4392089"/>
            <a:ext cx="670507" cy="425772"/>
          </a:xfrm>
          <a:custGeom>
            <a:avLst/>
            <a:gdLst/>
            <a:ahLst/>
            <a:cxnLst/>
            <a:rect l="l" t="t" r="r" b="b"/>
            <a:pathLst>
              <a:path w="670507" h="425772">
                <a:moveTo>
                  <a:pt x="0" y="0"/>
                </a:moveTo>
                <a:lnTo>
                  <a:pt x="670506" y="0"/>
                </a:lnTo>
                <a:lnTo>
                  <a:pt x="670506" y="425772"/>
                </a:lnTo>
                <a:lnTo>
                  <a:pt x="0" y="42577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it-IT"/>
          </a:p>
        </p:txBody>
      </p:sp>
      <p:sp>
        <p:nvSpPr>
          <p:cNvPr id="30" name="Freeform 30"/>
          <p:cNvSpPr/>
          <p:nvPr/>
        </p:nvSpPr>
        <p:spPr>
          <a:xfrm>
            <a:off x="11424065" y="4306859"/>
            <a:ext cx="806238" cy="757863"/>
          </a:xfrm>
          <a:custGeom>
            <a:avLst/>
            <a:gdLst/>
            <a:ahLst/>
            <a:cxnLst/>
            <a:rect l="l" t="t" r="r" b="b"/>
            <a:pathLst>
              <a:path w="806238" h="757863">
                <a:moveTo>
                  <a:pt x="0" y="0"/>
                </a:moveTo>
                <a:lnTo>
                  <a:pt x="806238" y="0"/>
                </a:lnTo>
                <a:lnTo>
                  <a:pt x="806238" y="757864"/>
                </a:lnTo>
                <a:lnTo>
                  <a:pt x="0" y="757864"/>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it-IT"/>
          </a:p>
        </p:txBody>
      </p:sp>
      <p:sp>
        <p:nvSpPr>
          <p:cNvPr id="31" name="TextBox 31"/>
          <p:cNvSpPr txBox="1"/>
          <p:nvPr/>
        </p:nvSpPr>
        <p:spPr>
          <a:xfrm>
            <a:off x="2766869" y="1467525"/>
            <a:ext cx="9504683"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ASSET MODEL</a:t>
            </a:r>
          </a:p>
        </p:txBody>
      </p:sp>
      <p:sp>
        <p:nvSpPr>
          <p:cNvPr id="32" name="TextBox 32"/>
          <p:cNvSpPr txBox="1"/>
          <p:nvPr/>
        </p:nvSpPr>
        <p:spPr>
          <a:xfrm>
            <a:off x="1028700" y="1480657"/>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05</a:t>
            </a:r>
          </a:p>
        </p:txBody>
      </p:sp>
      <p:sp>
        <p:nvSpPr>
          <p:cNvPr id="33" name="TextBox 33"/>
          <p:cNvSpPr txBox="1"/>
          <p:nvPr/>
        </p:nvSpPr>
        <p:spPr>
          <a:xfrm>
            <a:off x="1768405" y="2800873"/>
            <a:ext cx="5216826" cy="951388"/>
          </a:xfrm>
          <a:prstGeom prst="rect">
            <a:avLst/>
          </a:prstGeom>
        </p:spPr>
        <p:txBody>
          <a:bodyPr lIns="0" tIns="0" rIns="0" bIns="0" rtlCol="0" anchor="t">
            <a:spAutoFit/>
          </a:bodyPr>
          <a:lstStyle/>
          <a:p>
            <a:pPr marL="0" lvl="0" indent="0" algn="l">
              <a:lnSpc>
                <a:spcPts val="6355"/>
              </a:lnSpc>
              <a:spcBef>
                <a:spcPct val="0"/>
              </a:spcBef>
            </a:pPr>
            <a:r>
              <a:rPr lang="en-US" sz="4605" b="1">
                <a:solidFill>
                  <a:srgbClr val="17E3B2"/>
                </a:solidFill>
                <a:latin typeface="Almarai Bold"/>
                <a:ea typeface="Almarai Bold"/>
                <a:cs typeface="Almarai Bold"/>
                <a:sym typeface="Almarai Bold"/>
              </a:rPr>
              <a:t>Model Assets</a:t>
            </a:r>
          </a:p>
        </p:txBody>
      </p:sp>
      <p:sp>
        <p:nvSpPr>
          <p:cNvPr id="34" name="TextBox 34"/>
          <p:cNvSpPr txBox="1"/>
          <p:nvPr/>
        </p:nvSpPr>
        <p:spPr>
          <a:xfrm>
            <a:off x="2766869" y="4228511"/>
            <a:ext cx="2777801" cy="714829"/>
          </a:xfrm>
          <a:prstGeom prst="rect">
            <a:avLst/>
          </a:prstGeom>
        </p:spPr>
        <p:txBody>
          <a:bodyPr lIns="0" tIns="0" rIns="0" bIns="0" rtlCol="0" anchor="t">
            <a:spAutoFit/>
          </a:bodyPr>
          <a:lstStyle/>
          <a:p>
            <a:pPr algn="l">
              <a:lnSpc>
                <a:spcPts val="2441"/>
              </a:lnSpc>
              <a:spcBef>
                <a:spcPct val="0"/>
              </a:spcBef>
            </a:pPr>
            <a:r>
              <a:rPr lang="en-US" sz="1769" b="1">
                <a:solidFill>
                  <a:srgbClr val="FFFFFF"/>
                </a:solidFill>
                <a:latin typeface="Almarai Bold"/>
                <a:ea typeface="Almarai Bold"/>
                <a:cs typeface="Almarai Bold"/>
                <a:sym typeface="Almarai Bold"/>
              </a:rPr>
              <a:t>Agenti Decisionali Dual-Brain (M1–M3)</a:t>
            </a:r>
          </a:p>
        </p:txBody>
      </p:sp>
      <p:sp>
        <p:nvSpPr>
          <p:cNvPr id="35" name="TextBox 35"/>
          <p:cNvSpPr txBox="1"/>
          <p:nvPr/>
        </p:nvSpPr>
        <p:spPr>
          <a:xfrm>
            <a:off x="1957037" y="5589060"/>
            <a:ext cx="3751335" cy="1137666"/>
          </a:xfrm>
          <a:prstGeom prst="rect">
            <a:avLst/>
          </a:prstGeom>
        </p:spPr>
        <p:txBody>
          <a:bodyPr lIns="0" tIns="0" rIns="0" bIns="0" rtlCol="0" anchor="t">
            <a:spAutoFit/>
          </a:bodyPr>
          <a:lstStyle/>
          <a:p>
            <a:pPr marL="410209" lvl="1" indent="-205105" algn="l">
              <a:lnSpc>
                <a:spcPts val="2621"/>
              </a:lnSpc>
              <a:buFont typeface="Arial"/>
              <a:buChar char="•"/>
            </a:pPr>
            <a:r>
              <a:rPr lang="en-US" sz="1899" b="1">
                <a:solidFill>
                  <a:srgbClr val="FFFFFF"/>
                </a:solidFill>
                <a:latin typeface="Almarai Bold"/>
                <a:ea typeface="Almarai Bold"/>
                <a:cs typeface="Almarai Bold"/>
                <a:sym typeface="Almarai Bold"/>
              </a:rPr>
              <a:t>Fast-Brain (&lt;800 ms), </a:t>
            </a:r>
          </a:p>
          <a:p>
            <a:pPr marL="410209" lvl="1" indent="-205105" algn="l">
              <a:lnSpc>
                <a:spcPts val="2621"/>
              </a:lnSpc>
              <a:buFont typeface="Arial"/>
              <a:buChar char="•"/>
            </a:pPr>
            <a:r>
              <a:rPr lang="en-US" sz="1899" b="1">
                <a:solidFill>
                  <a:srgbClr val="FFFFFF"/>
                </a:solidFill>
                <a:latin typeface="Almarai Bold"/>
                <a:ea typeface="Almarai Bold"/>
                <a:cs typeface="Almarai Bold"/>
                <a:sym typeface="Almarai Bold"/>
              </a:rPr>
              <a:t>Deep-Brain (RAG), </a:t>
            </a:r>
          </a:p>
          <a:p>
            <a:pPr marL="410209" lvl="1" indent="-205105" algn="l">
              <a:lnSpc>
                <a:spcPts val="2621"/>
              </a:lnSpc>
              <a:buFont typeface="Arial"/>
              <a:buChar char="•"/>
            </a:pPr>
            <a:r>
              <a:rPr lang="en-US" sz="1899" b="1">
                <a:solidFill>
                  <a:srgbClr val="FFFFFF"/>
                </a:solidFill>
                <a:latin typeface="Almarai Bold"/>
                <a:ea typeface="Almarai Bold"/>
                <a:cs typeface="Almarai Bold"/>
                <a:sym typeface="Almarai Bold"/>
              </a:rPr>
              <a:t>System Prompts</a:t>
            </a:r>
          </a:p>
        </p:txBody>
      </p:sp>
      <p:sp>
        <p:nvSpPr>
          <p:cNvPr id="36" name="TextBox 36"/>
          <p:cNvSpPr txBox="1"/>
          <p:nvPr/>
        </p:nvSpPr>
        <p:spPr>
          <a:xfrm>
            <a:off x="2369235" y="7393476"/>
            <a:ext cx="2777801" cy="356241"/>
          </a:xfrm>
          <a:prstGeom prst="rect">
            <a:avLst/>
          </a:prstGeom>
        </p:spPr>
        <p:txBody>
          <a:bodyPr lIns="0" tIns="0" rIns="0" bIns="0" rtlCol="0" anchor="t">
            <a:spAutoFit/>
          </a:bodyPr>
          <a:lstStyle/>
          <a:p>
            <a:pPr algn="l">
              <a:lnSpc>
                <a:spcPts val="2441"/>
              </a:lnSpc>
              <a:spcBef>
                <a:spcPct val="0"/>
              </a:spcBef>
            </a:pPr>
            <a:r>
              <a:rPr lang="en-US" sz="1769" b="1">
                <a:solidFill>
                  <a:srgbClr val="FFFFFF"/>
                </a:solidFill>
                <a:latin typeface="Almarai Bold"/>
                <a:ea typeface="Almarai Bold"/>
                <a:cs typeface="Almarai Bold"/>
                <a:sym typeface="Almarai Bold"/>
              </a:rPr>
              <a:t>Minacce chiave</a:t>
            </a:r>
          </a:p>
        </p:txBody>
      </p:sp>
      <p:sp>
        <p:nvSpPr>
          <p:cNvPr id="37" name="TextBox 37"/>
          <p:cNvSpPr txBox="1"/>
          <p:nvPr/>
        </p:nvSpPr>
        <p:spPr>
          <a:xfrm>
            <a:off x="1957037" y="7810684"/>
            <a:ext cx="3751335" cy="1041385"/>
          </a:xfrm>
          <a:prstGeom prst="rect">
            <a:avLst/>
          </a:prstGeom>
        </p:spPr>
        <p:txBody>
          <a:bodyPr lIns="0" tIns="0" rIns="0" bIns="0" rtlCol="0" anchor="t">
            <a:spAutoFit/>
          </a:bodyPr>
          <a:lstStyle/>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Goal hijack</a:t>
            </a:r>
          </a:p>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 Alterazione filler/trigger</a:t>
            </a:r>
          </a:p>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 Goal drift</a:t>
            </a:r>
          </a:p>
        </p:txBody>
      </p:sp>
      <p:sp>
        <p:nvSpPr>
          <p:cNvPr id="38" name="TextBox 38"/>
          <p:cNvSpPr txBox="1"/>
          <p:nvPr/>
        </p:nvSpPr>
        <p:spPr>
          <a:xfrm>
            <a:off x="7537668" y="4228511"/>
            <a:ext cx="2777801" cy="714829"/>
          </a:xfrm>
          <a:prstGeom prst="rect">
            <a:avLst/>
          </a:prstGeom>
        </p:spPr>
        <p:txBody>
          <a:bodyPr lIns="0" tIns="0" rIns="0" bIns="0" rtlCol="0" anchor="t">
            <a:spAutoFit/>
          </a:bodyPr>
          <a:lstStyle/>
          <a:p>
            <a:pPr algn="l">
              <a:lnSpc>
                <a:spcPts val="2441"/>
              </a:lnSpc>
              <a:spcBef>
                <a:spcPct val="0"/>
              </a:spcBef>
            </a:pPr>
            <a:r>
              <a:rPr lang="en-US" sz="1769" b="1">
                <a:solidFill>
                  <a:srgbClr val="FFFFFF"/>
                </a:solidFill>
                <a:latin typeface="Almarai Bold"/>
                <a:ea typeface="Almarai Bold"/>
                <a:cs typeface="Almarai Bold"/>
                <a:sym typeface="Almarai Bold"/>
              </a:rPr>
              <a:t>Modelli Multimodali Downstream (M4–M8)</a:t>
            </a:r>
          </a:p>
        </p:txBody>
      </p:sp>
      <p:sp>
        <p:nvSpPr>
          <p:cNvPr id="39" name="TextBox 39"/>
          <p:cNvSpPr txBox="1"/>
          <p:nvPr/>
        </p:nvSpPr>
        <p:spPr>
          <a:xfrm>
            <a:off x="6627729" y="5516249"/>
            <a:ext cx="3931517" cy="1476128"/>
          </a:xfrm>
          <a:prstGeom prst="rect">
            <a:avLst/>
          </a:prstGeom>
        </p:spPr>
        <p:txBody>
          <a:bodyPr lIns="0" tIns="0" rIns="0" bIns="0" rtlCol="0" anchor="t">
            <a:spAutoFit/>
          </a:bodyPr>
          <a:lstStyle/>
          <a:p>
            <a:pPr marL="388620" lvl="1" indent="-194310" algn="l">
              <a:lnSpc>
                <a:spcPts val="2483"/>
              </a:lnSpc>
              <a:buFont typeface="Arial"/>
              <a:buChar char="•"/>
            </a:pPr>
            <a:r>
              <a:rPr lang="en-US" sz="1800" b="1">
                <a:solidFill>
                  <a:srgbClr val="FFFFFF"/>
                </a:solidFill>
                <a:latin typeface="Almarai Bold"/>
                <a:ea typeface="Almarai Bold"/>
                <a:cs typeface="Almarai Bold"/>
                <a:sym typeface="Almarai Bold"/>
              </a:rPr>
              <a:t>VAD/STT</a:t>
            </a:r>
          </a:p>
          <a:p>
            <a:pPr marL="388620" lvl="1" indent="-194310" algn="l">
              <a:lnSpc>
                <a:spcPts val="2483"/>
              </a:lnSpc>
              <a:buFont typeface="Arial"/>
              <a:buChar char="•"/>
            </a:pPr>
            <a:r>
              <a:rPr lang="en-US" sz="1800" b="1">
                <a:solidFill>
                  <a:srgbClr val="FFFFFF"/>
                </a:solidFill>
                <a:latin typeface="Almarai Bold"/>
                <a:ea typeface="Almarai Bold"/>
                <a:cs typeface="Almarai Bold"/>
                <a:sym typeface="Almarai Bold"/>
              </a:rPr>
              <a:t>Retriever FAISS</a:t>
            </a:r>
          </a:p>
          <a:p>
            <a:pPr marL="388620" lvl="1" indent="-194310" algn="l">
              <a:lnSpc>
                <a:spcPts val="2483"/>
              </a:lnSpc>
              <a:buFont typeface="Arial"/>
              <a:buChar char="•"/>
            </a:pPr>
            <a:r>
              <a:rPr lang="en-US" sz="1800" b="1">
                <a:solidFill>
                  <a:srgbClr val="FFFFFF"/>
                </a:solidFill>
                <a:latin typeface="Almarai Bold"/>
                <a:ea typeface="Almarai Bold"/>
                <a:cs typeface="Almarai Bold"/>
                <a:sym typeface="Almarai Bold"/>
              </a:rPr>
              <a:t>TTS/Voice Cloning</a:t>
            </a:r>
          </a:p>
          <a:p>
            <a:pPr marL="388620" lvl="1" indent="-194310" algn="l">
              <a:lnSpc>
                <a:spcPts val="2483"/>
              </a:lnSpc>
              <a:buFont typeface="Arial"/>
              <a:buChar char="•"/>
            </a:pPr>
            <a:r>
              <a:rPr lang="en-US" sz="1800" b="1">
                <a:solidFill>
                  <a:srgbClr val="FFFFFF"/>
                </a:solidFill>
                <a:latin typeface="Almarai Bold"/>
                <a:ea typeface="Almarai Bold"/>
                <a:cs typeface="Almarai Bold"/>
                <a:sym typeface="Almarai Bold"/>
              </a:rPr>
              <a:t>Video &amp; Lip-Sync</a:t>
            </a:r>
          </a:p>
        </p:txBody>
      </p:sp>
      <p:sp>
        <p:nvSpPr>
          <p:cNvPr id="40" name="TextBox 40"/>
          <p:cNvSpPr txBox="1"/>
          <p:nvPr/>
        </p:nvSpPr>
        <p:spPr>
          <a:xfrm>
            <a:off x="7140033" y="7393476"/>
            <a:ext cx="2777801" cy="356241"/>
          </a:xfrm>
          <a:prstGeom prst="rect">
            <a:avLst/>
          </a:prstGeom>
        </p:spPr>
        <p:txBody>
          <a:bodyPr lIns="0" tIns="0" rIns="0" bIns="0" rtlCol="0" anchor="t">
            <a:spAutoFit/>
          </a:bodyPr>
          <a:lstStyle/>
          <a:p>
            <a:pPr algn="l">
              <a:lnSpc>
                <a:spcPts val="2441"/>
              </a:lnSpc>
              <a:spcBef>
                <a:spcPct val="0"/>
              </a:spcBef>
            </a:pPr>
            <a:r>
              <a:rPr lang="en-US" sz="1769" b="1">
                <a:solidFill>
                  <a:srgbClr val="FFFFFF"/>
                </a:solidFill>
                <a:latin typeface="Almarai Bold"/>
                <a:ea typeface="Almarai Bold"/>
                <a:cs typeface="Almarai Bold"/>
                <a:sym typeface="Almarai Bold"/>
              </a:rPr>
              <a:t>Minacce chiave</a:t>
            </a:r>
          </a:p>
        </p:txBody>
      </p:sp>
      <p:sp>
        <p:nvSpPr>
          <p:cNvPr id="41" name="TextBox 41"/>
          <p:cNvSpPr txBox="1"/>
          <p:nvPr/>
        </p:nvSpPr>
        <p:spPr>
          <a:xfrm>
            <a:off x="6727836" y="7810684"/>
            <a:ext cx="3587633" cy="1388767"/>
          </a:xfrm>
          <a:prstGeom prst="rect">
            <a:avLst/>
          </a:prstGeom>
        </p:spPr>
        <p:txBody>
          <a:bodyPr lIns="0" tIns="0" rIns="0" bIns="0" rtlCol="0" anchor="t">
            <a:spAutoFit/>
          </a:bodyPr>
          <a:lstStyle/>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Voice/video spoofing</a:t>
            </a:r>
          </a:p>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DoS su rendering/sintesi</a:t>
            </a:r>
          </a:p>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Alterazione sync e lip-sync</a:t>
            </a:r>
          </a:p>
        </p:txBody>
      </p:sp>
      <p:sp>
        <p:nvSpPr>
          <p:cNvPr id="42" name="TextBox 42"/>
          <p:cNvSpPr txBox="1"/>
          <p:nvPr/>
        </p:nvSpPr>
        <p:spPr>
          <a:xfrm>
            <a:off x="12308466" y="4228511"/>
            <a:ext cx="2777801" cy="1073418"/>
          </a:xfrm>
          <a:prstGeom prst="rect">
            <a:avLst/>
          </a:prstGeom>
        </p:spPr>
        <p:txBody>
          <a:bodyPr lIns="0" tIns="0" rIns="0" bIns="0" rtlCol="0" anchor="t">
            <a:spAutoFit/>
          </a:bodyPr>
          <a:lstStyle/>
          <a:p>
            <a:pPr algn="l">
              <a:lnSpc>
                <a:spcPts val="2441"/>
              </a:lnSpc>
            </a:pPr>
            <a:r>
              <a:rPr lang="en-US" sz="1769" b="1">
                <a:solidFill>
                  <a:srgbClr val="FFFFFF"/>
                </a:solidFill>
                <a:latin typeface="Almarai Bold"/>
                <a:ea typeface="Almarai Bold"/>
                <a:cs typeface="Almarai Bold"/>
                <a:sym typeface="Almarai Bold"/>
              </a:rPr>
              <a:t>Control Plane &amp; Enforcement </a:t>
            </a:r>
          </a:p>
          <a:p>
            <a:pPr algn="l">
              <a:lnSpc>
                <a:spcPts val="2441"/>
              </a:lnSpc>
              <a:spcBef>
                <a:spcPct val="0"/>
              </a:spcBef>
            </a:pPr>
            <a:r>
              <a:rPr lang="en-US" sz="1769" b="1">
                <a:solidFill>
                  <a:srgbClr val="FFFFFF"/>
                </a:solidFill>
                <a:latin typeface="Almarai Bold"/>
                <a:ea typeface="Almarai Bold"/>
                <a:cs typeface="Almarai Bold"/>
                <a:sym typeface="Almarai Bold"/>
              </a:rPr>
              <a:t>(M9–M11)</a:t>
            </a:r>
          </a:p>
        </p:txBody>
      </p:sp>
      <p:sp>
        <p:nvSpPr>
          <p:cNvPr id="43" name="TextBox 43"/>
          <p:cNvSpPr txBox="1"/>
          <p:nvPr/>
        </p:nvSpPr>
        <p:spPr>
          <a:xfrm>
            <a:off x="11424065" y="5516249"/>
            <a:ext cx="3751335" cy="1041385"/>
          </a:xfrm>
          <a:prstGeom prst="rect">
            <a:avLst/>
          </a:prstGeom>
        </p:spPr>
        <p:txBody>
          <a:bodyPr lIns="0" tIns="0" rIns="0" bIns="0" rtlCol="0" anchor="t">
            <a:spAutoFit/>
          </a:bodyPr>
          <a:lstStyle/>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Request Router</a:t>
            </a:r>
          </a:p>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Swap Manager</a:t>
            </a:r>
          </a:p>
          <a:p>
            <a:pPr marL="367031" lvl="1" indent="-183515" algn="l">
              <a:lnSpc>
                <a:spcPts val="2346"/>
              </a:lnSpc>
              <a:buFont typeface="Arial"/>
              <a:buChar char="•"/>
            </a:pPr>
            <a:r>
              <a:rPr lang="en-US" sz="1700" b="1">
                <a:solidFill>
                  <a:srgbClr val="FFFFFF"/>
                </a:solidFill>
                <a:latin typeface="Almarai Bold"/>
                <a:ea typeface="Almarai Bold"/>
                <a:cs typeface="Almarai Bold"/>
                <a:sym typeface="Almarai Bold"/>
              </a:rPr>
              <a:t>Validation Layer / Guardrail</a:t>
            </a:r>
          </a:p>
        </p:txBody>
      </p:sp>
      <p:sp>
        <p:nvSpPr>
          <p:cNvPr id="44" name="TextBox 44"/>
          <p:cNvSpPr txBox="1"/>
          <p:nvPr/>
        </p:nvSpPr>
        <p:spPr>
          <a:xfrm>
            <a:off x="11910832" y="7393476"/>
            <a:ext cx="2777801" cy="356241"/>
          </a:xfrm>
          <a:prstGeom prst="rect">
            <a:avLst/>
          </a:prstGeom>
        </p:spPr>
        <p:txBody>
          <a:bodyPr lIns="0" tIns="0" rIns="0" bIns="0" rtlCol="0" anchor="t">
            <a:spAutoFit/>
          </a:bodyPr>
          <a:lstStyle/>
          <a:p>
            <a:pPr algn="l">
              <a:lnSpc>
                <a:spcPts val="2441"/>
              </a:lnSpc>
              <a:spcBef>
                <a:spcPct val="0"/>
              </a:spcBef>
            </a:pPr>
            <a:r>
              <a:rPr lang="en-US" sz="1769" b="1">
                <a:solidFill>
                  <a:srgbClr val="FFFFFF"/>
                </a:solidFill>
                <a:latin typeface="Almarai Bold"/>
                <a:ea typeface="Almarai Bold"/>
                <a:cs typeface="Almarai Bold"/>
                <a:sym typeface="Almarai Bold"/>
              </a:rPr>
              <a:t>Minacce chiave</a:t>
            </a:r>
          </a:p>
        </p:txBody>
      </p:sp>
      <p:sp>
        <p:nvSpPr>
          <p:cNvPr id="45" name="TextBox 45"/>
          <p:cNvSpPr txBox="1"/>
          <p:nvPr/>
        </p:nvSpPr>
        <p:spPr>
          <a:xfrm>
            <a:off x="11498634" y="7810684"/>
            <a:ext cx="3587633" cy="976436"/>
          </a:xfrm>
          <a:prstGeom prst="rect">
            <a:avLst/>
          </a:prstGeom>
        </p:spPr>
        <p:txBody>
          <a:bodyPr lIns="0" tIns="0" rIns="0" bIns="0" rtlCol="0" anchor="t">
            <a:spAutoFit/>
          </a:bodyPr>
          <a:lstStyle/>
          <a:p>
            <a:pPr marL="345441" lvl="1" indent="-172721" algn="l">
              <a:lnSpc>
                <a:spcPts val="2208"/>
              </a:lnSpc>
              <a:buFont typeface="Arial"/>
              <a:buChar char="•"/>
            </a:pPr>
            <a:r>
              <a:rPr lang="en-US" sz="1600" b="1">
                <a:solidFill>
                  <a:srgbClr val="FFFFFF"/>
                </a:solidFill>
                <a:latin typeface="Almarai Bold"/>
                <a:ea typeface="Almarai Bold"/>
                <a:cs typeface="Almarai Bold"/>
                <a:sym typeface="Almarai Bold"/>
              </a:rPr>
              <a:t>Desincronizzazione swap</a:t>
            </a:r>
          </a:p>
          <a:p>
            <a:pPr marL="345441" lvl="1" indent="-172721" algn="l">
              <a:lnSpc>
                <a:spcPts val="2208"/>
              </a:lnSpc>
              <a:buFont typeface="Arial"/>
              <a:buChar char="•"/>
            </a:pPr>
            <a:r>
              <a:rPr lang="en-US" sz="1600" b="1">
                <a:solidFill>
                  <a:srgbClr val="FFFFFF"/>
                </a:solidFill>
                <a:latin typeface="Almarai Bold"/>
                <a:ea typeface="Almarai Bold"/>
                <a:cs typeface="Almarai Bold"/>
                <a:sym typeface="Almarai Bold"/>
              </a:rPr>
              <a:t> Tampering o DoS del layer di guardrail</a:t>
            </a:r>
          </a:p>
        </p:txBody>
      </p:sp>
      <p:sp>
        <p:nvSpPr>
          <p:cNvPr id="47" name="Text 59">
            <a:extLst>
              <a:ext uri="{FF2B5EF4-FFF2-40B4-BE49-F238E27FC236}">
                <a16:creationId xmlns:a16="http://schemas.microsoft.com/office/drawing/2014/main" id="{87865DD2-7D80-482D-4992-57E4EC4AA530}"/>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07</a:t>
            </a:r>
            <a:endParaRPr lang="en-US" sz="15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Freeform 10"/>
          <p:cNvSpPr/>
          <p:nvPr/>
        </p:nvSpPr>
        <p:spPr>
          <a:xfrm>
            <a:off x="2603325" y="2856788"/>
            <a:ext cx="13081351" cy="6401512"/>
          </a:xfrm>
          <a:custGeom>
            <a:avLst/>
            <a:gdLst/>
            <a:ahLst/>
            <a:cxnLst/>
            <a:rect l="l" t="t" r="r" b="b"/>
            <a:pathLst>
              <a:path w="13081351" h="6401512">
                <a:moveTo>
                  <a:pt x="0" y="0"/>
                </a:moveTo>
                <a:lnTo>
                  <a:pt x="13081350" y="0"/>
                </a:lnTo>
                <a:lnTo>
                  <a:pt x="13081350" y="6401512"/>
                </a:lnTo>
                <a:lnTo>
                  <a:pt x="0" y="6401512"/>
                </a:lnTo>
                <a:lnTo>
                  <a:pt x="0" y="0"/>
                </a:lnTo>
                <a:close/>
              </a:path>
            </a:pathLst>
          </a:custGeom>
          <a:blipFill>
            <a:blip r:embed="rId4"/>
            <a:stretch>
              <a:fillRect/>
            </a:stretch>
          </a:blipFill>
        </p:spPr>
        <p:txBody>
          <a:bodyPr/>
          <a:lstStyle/>
          <a:p>
            <a:endParaRPr lang="it-IT"/>
          </a:p>
        </p:txBody>
      </p:sp>
      <p:sp>
        <p:nvSpPr>
          <p:cNvPr id="11" name="TextBox 11"/>
          <p:cNvSpPr txBox="1"/>
          <p:nvPr/>
        </p:nvSpPr>
        <p:spPr>
          <a:xfrm>
            <a:off x="2766869" y="1467525"/>
            <a:ext cx="12252029"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MAPPATURA OWASP </a:t>
            </a:r>
          </a:p>
        </p:txBody>
      </p:sp>
      <p:sp>
        <p:nvSpPr>
          <p:cNvPr id="12" name="TextBox 12"/>
          <p:cNvSpPr txBox="1"/>
          <p:nvPr/>
        </p:nvSpPr>
        <p:spPr>
          <a:xfrm>
            <a:off x="1028700" y="1480657"/>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06</a:t>
            </a:r>
          </a:p>
        </p:txBody>
      </p:sp>
      <p:sp>
        <p:nvSpPr>
          <p:cNvPr id="14" name="Text 59">
            <a:extLst>
              <a:ext uri="{FF2B5EF4-FFF2-40B4-BE49-F238E27FC236}">
                <a16:creationId xmlns:a16="http://schemas.microsoft.com/office/drawing/2014/main" id="{9E629AAC-C906-BB24-A48E-428D89C530DA}"/>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08</a:t>
            </a:r>
            <a:endParaRPr lang="en-US" sz="15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TextBox 10"/>
          <p:cNvSpPr txBox="1"/>
          <p:nvPr/>
        </p:nvSpPr>
        <p:spPr>
          <a:xfrm>
            <a:off x="2766869" y="1467525"/>
            <a:ext cx="9504683"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RISK PRIORITIZATION</a:t>
            </a:r>
          </a:p>
        </p:txBody>
      </p:sp>
      <p:grpSp>
        <p:nvGrpSpPr>
          <p:cNvPr id="11" name="Group 11"/>
          <p:cNvGrpSpPr/>
          <p:nvPr/>
        </p:nvGrpSpPr>
        <p:grpSpPr>
          <a:xfrm rot="-10800000">
            <a:off x="9103516" y="2373424"/>
            <a:ext cx="80969" cy="7607037"/>
            <a:chOff x="0" y="0"/>
            <a:chExt cx="21325" cy="2003499"/>
          </a:xfrm>
        </p:grpSpPr>
        <p:sp>
          <p:nvSpPr>
            <p:cNvPr id="12" name="Freeform 12"/>
            <p:cNvSpPr/>
            <p:nvPr/>
          </p:nvSpPr>
          <p:spPr>
            <a:xfrm>
              <a:off x="0" y="0"/>
              <a:ext cx="21325" cy="2003499"/>
            </a:xfrm>
            <a:custGeom>
              <a:avLst/>
              <a:gdLst/>
              <a:ahLst/>
              <a:cxnLst/>
              <a:rect l="l" t="t" r="r" b="b"/>
              <a:pathLst>
                <a:path w="21325" h="2003499">
                  <a:moveTo>
                    <a:pt x="0" y="0"/>
                  </a:moveTo>
                  <a:lnTo>
                    <a:pt x="21325" y="0"/>
                  </a:lnTo>
                  <a:lnTo>
                    <a:pt x="21325" y="2003499"/>
                  </a:lnTo>
                  <a:lnTo>
                    <a:pt x="0" y="2003499"/>
                  </a:lnTo>
                  <a:close/>
                </a:path>
              </a:pathLst>
            </a:custGeom>
            <a:solidFill>
              <a:srgbClr val="145DA0"/>
            </a:solidFill>
          </p:spPr>
          <p:txBody>
            <a:bodyPr/>
            <a:lstStyle/>
            <a:p>
              <a:endParaRPr lang="it-IT"/>
            </a:p>
          </p:txBody>
        </p:sp>
        <p:sp>
          <p:nvSpPr>
            <p:cNvPr id="13" name="TextBox 13"/>
            <p:cNvSpPr txBox="1"/>
            <p:nvPr/>
          </p:nvSpPr>
          <p:spPr>
            <a:xfrm>
              <a:off x="0" y="-47625"/>
              <a:ext cx="21325" cy="2051124"/>
            </a:xfrm>
            <a:prstGeom prst="rect">
              <a:avLst/>
            </a:prstGeom>
          </p:spPr>
          <p:txBody>
            <a:bodyPr lIns="50800" tIns="50800" rIns="50800" bIns="50800" rtlCol="0" anchor="ctr"/>
            <a:lstStyle/>
            <a:p>
              <a:pPr algn="ctr">
                <a:lnSpc>
                  <a:spcPts val="2605"/>
                </a:lnSpc>
              </a:pPr>
              <a:endParaRPr/>
            </a:p>
          </p:txBody>
        </p:sp>
      </p:grpSp>
      <p:graphicFrame>
        <p:nvGraphicFramePr>
          <p:cNvPr id="14" name="Table 14"/>
          <p:cNvGraphicFramePr>
            <a:graphicFrameLocks noGrp="1"/>
          </p:cNvGraphicFramePr>
          <p:nvPr/>
        </p:nvGraphicFramePr>
        <p:xfrm>
          <a:off x="11220284" y="4285458"/>
          <a:ext cx="6039015" cy="2581275"/>
        </p:xfrm>
        <a:graphic>
          <a:graphicData uri="http://schemas.openxmlformats.org/drawingml/2006/table">
            <a:tbl>
              <a:tblPr/>
              <a:tblGrid>
                <a:gridCol w="2013005">
                  <a:extLst>
                    <a:ext uri="{9D8B030D-6E8A-4147-A177-3AD203B41FA5}">
                      <a16:colId xmlns:a16="http://schemas.microsoft.com/office/drawing/2014/main" val="20000"/>
                    </a:ext>
                  </a:extLst>
                </a:gridCol>
                <a:gridCol w="2013005">
                  <a:extLst>
                    <a:ext uri="{9D8B030D-6E8A-4147-A177-3AD203B41FA5}">
                      <a16:colId xmlns:a16="http://schemas.microsoft.com/office/drawing/2014/main" val="20001"/>
                    </a:ext>
                  </a:extLst>
                </a:gridCol>
                <a:gridCol w="2013005">
                  <a:extLst>
                    <a:ext uri="{9D8B030D-6E8A-4147-A177-3AD203B41FA5}">
                      <a16:colId xmlns:a16="http://schemas.microsoft.com/office/drawing/2014/main" val="20002"/>
                    </a:ext>
                  </a:extLst>
                </a:gridCol>
              </a:tblGrid>
              <a:tr h="860425">
                <a:tc>
                  <a:txBody>
                    <a:bodyPr/>
                    <a:lstStyle/>
                    <a:p>
                      <a:pPr algn="ctr">
                        <a:lnSpc>
                          <a:spcPts val="2380"/>
                        </a:lnSpc>
                        <a:defRPr/>
                      </a:pPr>
                      <a:r>
                        <a:rPr lang="en-US" sz="1700">
                          <a:solidFill>
                            <a:srgbClr val="FFFFFF"/>
                          </a:solidFill>
                          <a:latin typeface="Almarai"/>
                          <a:ea typeface="Almarai"/>
                          <a:cs typeface="Almarai"/>
                          <a:sym typeface="Almarai"/>
                        </a:rPr>
                        <a:t>MEDIO</a:t>
                      </a:r>
                      <a:endParaRPr lang="en-US" sz="1100"/>
                    </a:p>
                  </a:txBody>
                  <a:tcPr marL="190500" marR="190500" marT="190500" marB="1905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D3BD68"/>
                    </a:solidFill>
                  </a:tcPr>
                </a:tc>
                <a:tc>
                  <a:txBody>
                    <a:bodyPr/>
                    <a:lstStyle/>
                    <a:p>
                      <a:pPr algn="ctr">
                        <a:lnSpc>
                          <a:spcPts val="2380"/>
                        </a:lnSpc>
                        <a:defRPr/>
                      </a:pPr>
                      <a:r>
                        <a:rPr lang="en-US" sz="1700">
                          <a:solidFill>
                            <a:srgbClr val="FFFFFF"/>
                          </a:solidFill>
                          <a:latin typeface="Almarai"/>
                          <a:ea typeface="Almarai"/>
                          <a:cs typeface="Almarai"/>
                          <a:sym typeface="Almarai"/>
                        </a:rPr>
                        <a:t>ALTO</a:t>
                      </a:r>
                      <a:endParaRPr lang="en-US" sz="1100"/>
                    </a:p>
                  </a:txBody>
                  <a:tcPr marL="190500" marR="190500" marT="190500" marB="1905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B77A54"/>
                    </a:solidFill>
                  </a:tcPr>
                </a:tc>
                <a:tc>
                  <a:txBody>
                    <a:bodyPr/>
                    <a:lstStyle/>
                    <a:p>
                      <a:pPr algn="ctr">
                        <a:lnSpc>
                          <a:spcPts val="2380"/>
                        </a:lnSpc>
                        <a:defRPr/>
                      </a:pPr>
                      <a:r>
                        <a:rPr lang="en-US" sz="1700">
                          <a:solidFill>
                            <a:srgbClr val="FFFFFF"/>
                          </a:solidFill>
                          <a:latin typeface="Almarai"/>
                          <a:ea typeface="Almarai"/>
                          <a:cs typeface="Almarai"/>
                          <a:sym typeface="Almarai"/>
                        </a:rPr>
                        <a:t>CRITICO</a:t>
                      </a:r>
                      <a:endParaRPr lang="en-US" sz="1100"/>
                    </a:p>
                  </a:txBody>
                  <a:tcPr marL="190500" marR="190500" marT="190500" marB="1905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760F0F"/>
                    </a:solidFill>
                  </a:tcPr>
                </a:tc>
                <a:extLst>
                  <a:ext uri="{0D108BD9-81ED-4DB2-BD59-A6C34878D82A}">
                    <a16:rowId xmlns:a16="http://schemas.microsoft.com/office/drawing/2014/main" val="10000"/>
                  </a:ext>
                </a:extLst>
              </a:tr>
              <a:tr h="860425">
                <a:tc>
                  <a:txBody>
                    <a:bodyPr/>
                    <a:lstStyle/>
                    <a:p>
                      <a:pPr algn="ctr">
                        <a:lnSpc>
                          <a:spcPts val="2380"/>
                        </a:lnSpc>
                        <a:defRPr/>
                      </a:pPr>
                      <a:r>
                        <a:rPr lang="en-US" sz="1700">
                          <a:solidFill>
                            <a:srgbClr val="FFFFFF"/>
                          </a:solidFill>
                          <a:latin typeface="Almarai"/>
                          <a:ea typeface="Almarai"/>
                          <a:cs typeface="Almarai"/>
                          <a:sym typeface="Almarai"/>
                        </a:rPr>
                        <a:t>BASSO</a:t>
                      </a:r>
                      <a:endParaRPr lang="en-US" sz="1100"/>
                    </a:p>
                  </a:txBody>
                  <a:tcPr marL="190500" marR="190500" marT="190500" marB="1905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235849"/>
                    </a:solidFill>
                  </a:tcPr>
                </a:tc>
                <a:tc>
                  <a:txBody>
                    <a:bodyPr/>
                    <a:lstStyle/>
                    <a:p>
                      <a:pPr algn="ctr">
                        <a:lnSpc>
                          <a:spcPts val="2380"/>
                        </a:lnSpc>
                        <a:defRPr/>
                      </a:pPr>
                      <a:r>
                        <a:rPr lang="en-US" sz="1700">
                          <a:solidFill>
                            <a:srgbClr val="FFFFFF"/>
                          </a:solidFill>
                          <a:latin typeface="Almarai"/>
                          <a:ea typeface="Almarai"/>
                          <a:cs typeface="Almarai"/>
                          <a:sym typeface="Almarai"/>
                        </a:rPr>
                        <a:t>MEDIO</a:t>
                      </a:r>
                      <a:endParaRPr lang="en-US" sz="1100"/>
                    </a:p>
                  </a:txBody>
                  <a:tcPr marL="190500" marR="190500" marT="190500" marB="1905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D3BD68"/>
                    </a:solidFill>
                  </a:tcPr>
                </a:tc>
                <a:tc>
                  <a:txBody>
                    <a:bodyPr/>
                    <a:lstStyle/>
                    <a:p>
                      <a:pPr algn="ctr">
                        <a:lnSpc>
                          <a:spcPts val="2380"/>
                        </a:lnSpc>
                        <a:defRPr/>
                      </a:pPr>
                      <a:r>
                        <a:rPr lang="en-US" sz="1700">
                          <a:solidFill>
                            <a:srgbClr val="FFFFFF"/>
                          </a:solidFill>
                          <a:latin typeface="Almarai"/>
                          <a:ea typeface="Almarai"/>
                          <a:cs typeface="Almarai"/>
                          <a:sym typeface="Almarai"/>
                        </a:rPr>
                        <a:t>ALTO</a:t>
                      </a:r>
                      <a:endParaRPr lang="en-US" sz="1100"/>
                    </a:p>
                  </a:txBody>
                  <a:tcPr marL="190500" marR="190500" marT="190500" marB="1905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B77A54"/>
                    </a:solidFill>
                  </a:tcPr>
                </a:tc>
                <a:extLst>
                  <a:ext uri="{0D108BD9-81ED-4DB2-BD59-A6C34878D82A}">
                    <a16:rowId xmlns:a16="http://schemas.microsoft.com/office/drawing/2014/main" val="10001"/>
                  </a:ext>
                </a:extLst>
              </a:tr>
              <a:tr h="860425">
                <a:tc>
                  <a:txBody>
                    <a:bodyPr/>
                    <a:lstStyle/>
                    <a:p>
                      <a:pPr algn="ctr">
                        <a:lnSpc>
                          <a:spcPts val="2380"/>
                        </a:lnSpc>
                        <a:defRPr/>
                      </a:pPr>
                      <a:r>
                        <a:rPr lang="en-US" sz="1700">
                          <a:solidFill>
                            <a:srgbClr val="FFFFFF"/>
                          </a:solidFill>
                          <a:latin typeface="Almarai"/>
                          <a:ea typeface="Almarai"/>
                          <a:cs typeface="Almarai"/>
                          <a:sym typeface="Almarai"/>
                        </a:rPr>
                        <a:t>BASSO</a:t>
                      </a:r>
                      <a:endParaRPr lang="en-US" sz="1100"/>
                    </a:p>
                  </a:txBody>
                  <a:tcPr marL="190500" marR="190500" marT="190500" marB="1905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235849"/>
                    </a:solidFill>
                  </a:tcPr>
                </a:tc>
                <a:tc>
                  <a:txBody>
                    <a:bodyPr/>
                    <a:lstStyle/>
                    <a:p>
                      <a:pPr algn="ctr">
                        <a:lnSpc>
                          <a:spcPts val="2380"/>
                        </a:lnSpc>
                        <a:defRPr/>
                      </a:pPr>
                      <a:r>
                        <a:rPr lang="en-US" sz="1700">
                          <a:solidFill>
                            <a:srgbClr val="FFFFFF"/>
                          </a:solidFill>
                          <a:latin typeface="Almarai"/>
                          <a:ea typeface="Almarai"/>
                          <a:cs typeface="Almarai"/>
                          <a:sym typeface="Almarai"/>
                        </a:rPr>
                        <a:t>BASSO</a:t>
                      </a:r>
                      <a:endParaRPr lang="en-US" sz="1100"/>
                    </a:p>
                  </a:txBody>
                  <a:tcPr marL="190500" marR="190500" marT="190500" marB="1905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235849"/>
                    </a:solidFill>
                  </a:tcPr>
                </a:tc>
                <a:tc>
                  <a:txBody>
                    <a:bodyPr/>
                    <a:lstStyle/>
                    <a:p>
                      <a:pPr algn="ctr">
                        <a:lnSpc>
                          <a:spcPts val="2380"/>
                        </a:lnSpc>
                        <a:defRPr/>
                      </a:pPr>
                      <a:r>
                        <a:rPr lang="en-US" sz="1700">
                          <a:solidFill>
                            <a:srgbClr val="FFFFFF"/>
                          </a:solidFill>
                          <a:latin typeface="Almarai"/>
                          <a:ea typeface="Almarai"/>
                          <a:cs typeface="Almarai"/>
                          <a:sym typeface="Almarai"/>
                        </a:rPr>
                        <a:t>MEDIO</a:t>
                      </a:r>
                      <a:endParaRPr lang="en-US" sz="1100"/>
                    </a:p>
                  </a:txBody>
                  <a:tcPr marL="190500" marR="190500" marT="190500" marB="1905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D3BD68"/>
                    </a:solidFill>
                  </a:tcPr>
                </a:tc>
                <a:extLst>
                  <a:ext uri="{0D108BD9-81ED-4DB2-BD59-A6C34878D82A}">
                    <a16:rowId xmlns:a16="http://schemas.microsoft.com/office/drawing/2014/main" val="10002"/>
                  </a:ext>
                </a:extLst>
              </a:tr>
            </a:tbl>
          </a:graphicData>
        </a:graphic>
      </p:graphicFrame>
      <p:sp>
        <p:nvSpPr>
          <p:cNvPr id="15" name="TextBox 15"/>
          <p:cNvSpPr txBox="1"/>
          <p:nvPr/>
        </p:nvSpPr>
        <p:spPr>
          <a:xfrm>
            <a:off x="1028700" y="1480657"/>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07</a:t>
            </a:r>
          </a:p>
        </p:txBody>
      </p:sp>
      <p:sp>
        <p:nvSpPr>
          <p:cNvPr id="16" name="TextBox 16"/>
          <p:cNvSpPr txBox="1"/>
          <p:nvPr/>
        </p:nvSpPr>
        <p:spPr>
          <a:xfrm>
            <a:off x="1768405" y="2819923"/>
            <a:ext cx="5750806" cy="724572"/>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Fattori di valutazione</a:t>
            </a:r>
          </a:p>
        </p:txBody>
      </p:sp>
      <p:sp>
        <p:nvSpPr>
          <p:cNvPr id="17" name="TextBox 17"/>
          <p:cNvSpPr txBox="1"/>
          <p:nvPr/>
        </p:nvSpPr>
        <p:spPr>
          <a:xfrm>
            <a:off x="10087216" y="2686108"/>
            <a:ext cx="5216826" cy="724572"/>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Matrice di rischio</a:t>
            </a:r>
          </a:p>
        </p:txBody>
      </p:sp>
      <p:sp>
        <p:nvSpPr>
          <p:cNvPr id="18" name="TextBox 18"/>
          <p:cNvSpPr txBox="1"/>
          <p:nvPr/>
        </p:nvSpPr>
        <p:spPr>
          <a:xfrm>
            <a:off x="1028700" y="3630464"/>
            <a:ext cx="7809432" cy="5385682"/>
          </a:xfrm>
          <a:prstGeom prst="rect">
            <a:avLst/>
          </a:prstGeom>
        </p:spPr>
        <p:txBody>
          <a:bodyPr lIns="0" tIns="0" rIns="0" bIns="0" rtlCol="0" anchor="t">
            <a:spAutoFit/>
          </a:bodyPr>
          <a:lstStyle/>
          <a:p>
            <a:pPr algn="l">
              <a:lnSpc>
                <a:spcPts val="3035"/>
              </a:lnSpc>
            </a:pPr>
            <a:r>
              <a:rPr lang="en-US" sz="2199" b="1">
                <a:solidFill>
                  <a:srgbClr val="FFFFFF"/>
                </a:solidFill>
                <a:latin typeface="Almarai Bold"/>
                <a:ea typeface="Almarai Bold"/>
                <a:cs typeface="Almarai Bold"/>
                <a:sym typeface="Almarai Bold"/>
              </a:rPr>
              <a:t>Severity (impatto)</a:t>
            </a:r>
            <a:r>
              <a:rPr lang="en-US" sz="2199">
                <a:solidFill>
                  <a:srgbClr val="FFFFFF"/>
                </a:solidFill>
                <a:latin typeface="Almarai"/>
                <a:ea typeface="Almarai"/>
                <a:cs typeface="Almarai"/>
                <a:sym typeface="Almarai"/>
              </a:rPr>
              <a:t>: esprime la gravità delle conseguenze dello scenario. Considera:</a:t>
            </a:r>
          </a:p>
          <a:p>
            <a:pPr marL="474976" lvl="1" indent="-237488" algn="l">
              <a:lnSpc>
                <a:spcPts val="3035"/>
              </a:lnSpc>
              <a:buFont typeface="Arial"/>
              <a:buChar char="•"/>
            </a:pPr>
            <a:r>
              <a:rPr lang="en-US" sz="2199">
                <a:solidFill>
                  <a:srgbClr val="FFFFFF"/>
                </a:solidFill>
                <a:latin typeface="Almarai"/>
                <a:ea typeface="Almarai"/>
                <a:cs typeface="Almarai"/>
                <a:sym typeface="Almarai"/>
              </a:rPr>
              <a:t>Violazione delle proprietà CIA3-R</a:t>
            </a:r>
          </a:p>
          <a:p>
            <a:pPr marL="474976" lvl="1" indent="-237488" algn="l">
              <a:lnSpc>
                <a:spcPts val="3035"/>
              </a:lnSpc>
              <a:buFont typeface="Arial"/>
              <a:buChar char="•"/>
            </a:pPr>
            <a:r>
              <a:rPr lang="en-US" sz="2199">
                <a:solidFill>
                  <a:srgbClr val="FFFFFF"/>
                </a:solidFill>
                <a:latin typeface="Almarai"/>
                <a:ea typeface="Almarai"/>
                <a:cs typeface="Almarai"/>
                <a:sym typeface="Almarai"/>
              </a:rPr>
              <a:t>Persistenza del danno</a:t>
            </a:r>
          </a:p>
          <a:p>
            <a:pPr marL="474976" lvl="1" indent="-237488" algn="l">
              <a:lnSpc>
                <a:spcPts val="3035"/>
              </a:lnSpc>
              <a:buFont typeface="Arial"/>
              <a:buChar char="•"/>
            </a:pPr>
            <a:r>
              <a:rPr lang="en-US" sz="2199">
                <a:solidFill>
                  <a:srgbClr val="FFFFFF"/>
                </a:solidFill>
                <a:latin typeface="Almarai"/>
                <a:ea typeface="Almarai"/>
                <a:cs typeface="Almarai"/>
                <a:sym typeface="Almarai"/>
              </a:rPr>
              <a:t>Propagazione ai servizi  downstream</a:t>
            </a:r>
          </a:p>
          <a:p>
            <a:pPr algn="l">
              <a:lnSpc>
                <a:spcPts val="3035"/>
              </a:lnSpc>
            </a:pPr>
            <a:endParaRPr lang="en-US" sz="2199">
              <a:solidFill>
                <a:srgbClr val="FFFFFF"/>
              </a:solidFill>
              <a:latin typeface="Almarai"/>
              <a:ea typeface="Almarai"/>
              <a:cs typeface="Almarai"/>
              <a:sym typeface="Almarai"/>
            </a:endParaRPr>
          </a:p>
          <a:p>
            <a:pPr algn="l">
              <a:lnSpc>
                <a:spcPts val="3035"/>
              </a:lnSpc>
            </a:pPr>
            <a:r>
              <a:rPr lang="en-US" sz="2199" b="1">
                <a:solidFill>
                  <a:srgbClr val="FFFFFF"/>
                </a:solidFill>
                <a:latin typeface="Almarai Bold"/>
                <a:ea typeface="Almarai Bold"/>
                <a:cs typeface="Almarai Bold"/>
                <a:sym typeface="Almarai Bold"/>
              </a:rPr>
              <a:t>Likelihood (probabilità)</a:t>
            </a:r>
            <a:r>
              <a:rPr lang="en-US" sz="2199">
                <a:solidFill>
                  <a:srgbClr val="FFFFFF"/>
                </a:solidFill>
                <a:latin typeface="Almarai"/>
                <a:ea typeface="Almarai"/>
                <a:cs typeface="Almarai"/>
                <a:sym typeface="Almarai"/>
              </a:rPr>
              <a:t>: esprime la fattibilità di un attacco. Considera:</a:t>
            </a:r>
          </a:p>
          <a:p>
            <a:pPr marL="474976" lvl="1" indent="-237488" algn="l">
              <a:lnSpc>
                <a:spcPts val="3035"/>
              </a:lnSpc>
              <a:buFont typeface="Arial"/>
              <a:buChar char="•"/>
            </a:pPr>
            <a:r>
              <a:rPr lang="en-US" sz="2199">
                <a:solidFill>
                  <a:srgbClr val="FFFFFF"/>
                </a:solidFill>
                <a:latin typeface="Almarai"/>
                <a:ea typeface="Almarai"/>
                <a:cs typeface="Almarai"/>
                <a:sym typeface="Almarai"/>
              </a:rPr>
              <a:t> Accessibilità del vettore</a:t>
            </a:r>
          </a:p>
          <a:p>
            <a:pPr marL="474976" lvl="1" indent="-237488" algn="l">
              <a:lnSpc>
                <a:spcPts val="3035"/>
              </a:lnSpc>
              <a:buFont typeface="Arial"/>
              <a:buChar char="•"/>
            </a:pPr>
            <a:r>
              <a:rPr lang="en-US" sz="2199">
                <a:solidFill>
                  <a:srgbClr val="FFFFFF"/>
                </a:solidFill>
                <a:latin typeface="Almarai"/>
                <a:ea typeface="Almarai"/>
                <a:cs typeface="Almarai"/>
                <a:sym typeface="Almarai"/>
              </a:rPr>
              <a:t>Privilegi e precondizioni richiesti</a:t>
            </a:r>
          </a:p>
          <a:p>
            <a:pPr marL="474976" lvl="1" indent="-237488" algn="l">
              <a:lnSpc>
                <a:spcPts val="3035"/>
              </a:lnSpc>
              <a:buFont typeface="Arial"/>
              <a:buChar char="•"/>
            </a:pPr>
            <a:r>
              <a:rPr lang="en-US" sz="2199">
                <a:solidFill>
                  <a:srgbClr val="FFFFFF"/>
                </a:solidFill>
                <a:latin typeface="Almarai"/>
                <a:ea typeface="Almarai"/>
                <a:cs typeface="Almarai"/>
                <a:sym typeface="Almarai"/>
              </a:rPr>
              <a:t>Complessità tecnica</a:t>
            </a:r>
          </a:p>
          <a:p>
            <a:pPr marL="474976" lvl="1" indent="-237488" algn="l">
              <a:lnSpc>
                <a:spcPts val="3035"/>
              </a:lnSpc>
              <a:buFont typeface="Arial"/>
              <a:buChar char="•"/>
            </a:pPr>
            <a:r>
              <a:rPr lang="en-US" sz="2199">
                <a:solidFill>
                  <a:srgbClr val="FFFFFF"/>
                </a:solidFill>
                <a:latin typeface="Almarai"/>
                <a:ea typeface="Almarai"/>
                <a:cs typeface="Almarai"/>
                <a:sym typeface="Almarai"/>
              </a:rPr>
              <a:t>Esposizione di Knowledge Base e Supply Chain</a:t>
            </a:r>
          </a:p>
        </p:txBody>
      </p:sp>
      <p:sp>
        <p:nvSpPr>
          <p:cNvPr id="19" name="TextBox 19"/>
          <p:cNvSpPr txBox="1"/>
          <p:nvPr/>
        </p:nvSpPr>
        <p:spPr>
          <a:xfrm rot="-5400000">
            <a:off x="8874224" y="5246613"/>
            <a:ext cx="1845308" cy="455094"/>
          </a:xfrm>
          <a:prstGeom prst="rect">
            <a:avLst/>
          </a:prstGeom>
        </p:spPr>
        <p:txBody>
          <a:bodyPr lIns="0" tIns="0" rIns="0" bIns="0" rtlCol="0" anchor="t">
            <a:spAutoFit/>
          </a:bodyPr>
          <a:lstStyle/>
          <a:p>
            <a:pPr algn="l">
              <a:lnSpc>
                <a:spcPts val="3035"/>
              </a:lnSpc>
            </a:pPr>
            <a:r>
              <a:rPr lang="en-US" sz="2199" b="1">
                <a:solidFill>
                  <a:srgbClr val="FFFFFF"/>
                </a:solidFill>
                <a:latin typeface="Almarai Bold"/>
                <a:ea typeface="Almarai Bold"/>
                <a:cs typeface="Almarai Bold"/>
                <a:sym typeface="Almarai Bold"/>
              </a:rPr>
              <a:t>Likelihood</a:t>
            </a:r>
          </a:p>
        </p:txBody>
      </p:sp>
      <p:sp>
        <p:nvSpPr>
          <p:cNvPr id="20" name="TextBox 20"/>
          <p:cNvSpPr txBox="1"/>
          <p:nvPr/>
        </p:nvSpPr>
        <p:spPr>
          <a:xfrm>
            <a:off x="10262512" y="4513406"/>
            <a:ext cx="696344" cy="366746"/>
          </a:xfrm>
          <a:prstGeom prst="rect">
            <a:avLst/>
          </a:prstGeom>
        </p:spPr>
        <p:txBody>
          <a:bodyPr lIns="0" tIns="0" rIns="0" bIns="0" rtlCol="0" anchor="t">
            <a:spAutoFit/>
          </a:bodyPr>
          <a:lstStyle/>
          <a:p>
            <a:pPr algn="l">
              <a:lnSpc>
                <a:spcPts val="2483"/>
              </a:lnSpc>
            </a:pPr>
            <a:r>
              <a:rPr lang="en-US" sz="1799">
                <a:solidFill>
                  <a:srgbClr val="FFFFFF"/>
                </a:solidFill>
                <a:latin typeface="Almarai"/>
                <a:ea typeface="Almarai"/>
                <a:cs typeface="Almarai"/>
                <a:sym typeface="Almarai"/>
              </a:rPr>
              <a:t>Alta</a:t>
            </a:r>
          </a:p>
        </p:txBody>
      </p:sp>
      <p:sp>
        <p:nvSpPr>
          <p:cNvPr id="21" name="TextBox 21"/>
          <p:cNvSpPr txBox="1"/>
          <p:nvPr/>
        </p:nvSpPr>
        <p:spPr>
          <a:xfrm>
            <a:off x="10262512" y="5373672"/>
            <a:ext cx="829694" cy="366746"/>
          </a:xfrm>
          <a:prstGeom prst="rect">
            <a:avLst/>
          </a:prstGeom>
        </p:spPr>
        <p:txBody>
          <a:bodyPr lIns="0" tIns="0" rIns="0" bIns="0" rtlCol="0" anchor="t">
            <a:spAutoFit/>
          </a:bodyPr>
          <a:lstStyle/>
          <a:p>
            <a:pPr algn="l">
              <a:lnSpc>
                <a:spcPts val="2483"/>
              </a:lnSpc>
            </a:pPr>
            <a:r>
              <a:rPr lang="en-US" sz="1799">
                <a:solidFill>
                  <a:srgbClr val="FFFFFF"/>
                </a:solidFill>
                <a:latin typeface="Almarai"/>
                <a:ea typeface="Almarai"/>
                <a:cs typeface="Almarai"/>
                <a:sym typeface="Almarai"/>
              </a:rPr>
              <a:t>Media</a:t>
            </a:r>
          </a:p>
        </p:txBody>
      </p:sp>
      <p:sp>
        <p:nvSpPr>
          <p:cNvPr id="22" name="TextBox 22"/>
          <p:cNvSpPr txBox="1"/>
          <p:nvPr/>
        </p:nvSpPr>
        <p:spPr>
          <a:xfrm>
            <a:off x="10262272" y="6148329"/>
            <a:ext cx="963044" cy="366746"/>
          </a:xfrm>
          <a:prstGeom prst="rect">
            <a:avLst/>
          </a:prstGeom>
        </p:spPr>
        <p:txBody>
          <a:bodyPr lIns="0" tIns="0" rIns="0" bIns="0" rtlCol="0" anchor="t">
            <a:spAutoFit/>
          </a:bodyPr>
          <a:lstStyle/>
          <a:p>
            <a:pPr algn="l">
              <a:lnSpc>
                <a:spcPts val="2483"/>
              </a:lnSpc>
            </a:pPr>
            <a:r>
              <a:rPr lang="en-US" sz="1799">
                <a:solidFill>
                  <a:srgbClr val="FFFFFF"/>
                </a:solidFill>
                <a:latin typeface="Almarai"/>
                <a:ea typeface="Almarai"/>
                <a:cs typeface="Almarai"/>
                <a:sym typeface="Almarai"/>
              </a:rPr>
              <a:t>Bassa</a:t>
            </a:r>
          </a:p>
        </p:txBody>
      </p:sp>
      <p:sp>
        <p:nvSpPr>
          <p:cNvPr id="23" name="TextBox 23"/>
          <p:cNvSpPr txBox="1"/>
          <p:nvPr/>
        </p:nvSpPr>
        <p:spPr>
          <a:xfrm>
            <a:off x="13419074" y="7613334"/>
            <a:ext cx="1499231" cy="455094"/>
          </a:xfrm>
          <a:prstGeom prst="rect">
            <a:avLst/>
          </a:prstGeom>
        </p:spPr>
        <p:txBody>
          <a:bodyPr lIns="0" tIns="0" rIns="0" bIns="0" rtlCol="0" anchor="t">
            <a:spAutoFit/>
          </a:bodyPr>
          <a:lstStyle/>
          <a:p>
            <a:pPr algn="l">
              <a:lnSpc>
                <a:spcPts val="3035"/>
              </a:lnSpc>
            </a:pPr>
            <a:r>
              <a:rPr lang="en-US" sz="2199" b="1">
                <a:solidFill>
                  <a:srgbClr val="FFFFFF"/>
                </a:solidFill>
                <a:latin typeface="Almarai Bold"/>
                <a:ea typeface="Almarai Bold"/>
                <a:cs typeface="Almarai Bold"/>
                <a:sym typeface="Almarai Bold"/>
              </a:rPr>
              <a:t>Severity</a:t>
            </a:r>
          </a:p>
        </p:txBody>
      </p:sp>
      <p:sp>
        <p:nvSpPr>
          <p:cNvPr id="24" name="TextBox 24"/>
          <p:cNvSpPr txBox="1"/>
          <p:nvPr/>
        </p:nvSpPr>
        <p:spPr>
          <a:xfrm>
            <a:off x="16084902" y="7029865"/>
            <a:ext cx="696344" cy="366746"/>
          </a:xfrm>
          <a:prstGeom prst="rect">
            <a:avLst/>
          </a:prstGeom>
        </p:spPr>
        <p:txBody>
          <a:bodyPr lIns="0" tIns="0" rIns="0" bIns="0" rtlCol="0" anchor="t">
            <a:spAutoFit/>
          </a:bodyPr>
          <a:lstStyle/>
          <a:p>
            <a:pPr algn="l">
              <a:lnSpc>
                <a:spcPts val="2483"/>
              </a:lnSpc>
            </a:pPr>
            <a:r>
              <a:rPr lang="en-US" sz="1799">
                <a:solidFill>
                  <a:srgbClr val="FFFFFF"/>
                </a:solidFill>
                <a:latin typeface="Almarai"/>
                <a:ea typeface="Almarai"/>
                <a:cs typeface="Almarai"/>
                <a:sym typeface="Almarai"/>
              </a:rPr>
              <a:t>Alta</a:t>
            </a:r>
          </a:p>
        </p:txBody>
      </p:sp>
      <p:sp>
        <p:nvSpPr>
          <p:cNvPr id="25" name="TextBox 25"/>
          <p:cNvSpPr txBox="1"/>
          <p:nvPr/>
        </p:nvSpPr>
        <p:spPr>
          <a:xfrm>
            <a:off x="13824945" y="7029865"/>
            <a:ext cx="829694" cy="366746"/>
          </a:xfrm>
          <a:prstGeom prst="rect">
            <a:avLst/>
          </a:prstGeom>
        </p:spPr>
        <p:txBody>
          <a:bodyPr lIns="0" tIns="0" rIns="0" bIns="0" rtlCol="0" anchor="t">
            <a:spAutoFit/>
          </a:bodyPr>
          <a:lstStyle/>
          <a:p>
            <a:pPr algn="l">
              <a:lnSpc>
                <a:spcPts val="2483"/>
              </a:lnSpc>
            </a:pPr>
            <a:r>
              <a:rPr lang="en-US" sz="1799">
                <a:solidFill>
                  <a:srgbClr val="FFFFFF"/>
                </a:solidFill>
                <a:latin typeface="Almarai"/>
                <a:ea typeface="Almarai"/>
                <a:cs typeface="Almarai"/>
                <a:sym typeface="Almarai"/>
              </a:rPr>
              <a:t>Media</a:t>
            </a:r>
          </a:p>
        </p:txBody>
      </p:sp>
      <p:sp>
        <p:nvSpPr>
          <p:cNvPr id="26" name="TextBox 26"/>
          <p:cNvSpPr txBox="1"/>
          <p:nvPr/>
        </p:nvSpPr>
        <p:spPr>
          <a:xfrm>
            <a:off x="11685911" y="7029865"/>
            <a:ext cx="963044" cy="366746"/>
          </a:xfrm>
          <a:prstGeom prst="rect">
            <a:avLst/>
          </a:prstGeom>
        </p:spPr>
        <p:txBody>
          <a:bodyPr lIns="0" tIns="0" rIns="0" bIns="0" rtlCol="0" anchor="t">
            <a:spAutoFit/>
          </a:bodyPr>
          <a:lstStyle/>
          <a:p>
            <a:pPr algn="l">
              <a:lnSpc>
                <a:spcPts val="2483"/>
              </a:lnSpc>
            </a:pPr>
            <a:r>
              <a:rPr lang="en-US" sz="1799">
                <a:solidFill>
                  <a:srgbClr val="FFFFFF"/>
                </a:solidFill>
                <a:latin typeface="Almarai"/>
                <a:ea typeface="Almarai"/>
                <a:cs typeface="Almarai"/>
                <a:sym typeface="Almarai"/>
              </a:rPr>
              <a:t>Bassa</a:t>
            </a:r>
          </a:p>
        </p:txBody>
      </p:sp>
      <p:sp>
        <p:nvSpPr>
          <p:cNvPr id="28" name="Text 59">
            <a:extLst>
              <a:ext uri="{FF2B5EF4-FFF2-40B4-BE49-F238E27FC236}">
                <a16:creationId xmlns:a16="http://schemas.microsoft.com/office/drawing/2014/main" id="{90FF3938-17BA-8A62-7CC7-5DC1C768FF65}"/>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09</a:t>
            </a:r>
            <a:endParaRPr lang="en-US" sz="15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TextBox 10"/>
          <p:cNvSpPr txBox="1"/>
          <p:nvPr/>
        </p:nvSpPr>
        <p:spPr>
          <a:xfrm>
            <a:off x="2766869" y="1467525"/>
            <a:ext cx="9504683"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LE SETTE PRECAUZIONI</a:t>
            </a:r>
          </a:p>
        </p:txBody>
      </p:sp>
      <p:sp>
        <p:nvSpPr>
          <p:cNvPr id="11" name="TextBox 11"/>
          <p:cNvSpPr txBox="1"/>
          <p:nvPr/>
        </p:nvSpPr>
        <p:spPr>
          <a:xfrm>
            <a:off x="1028700" y="1480657"/>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08</a:t>
            </a:r>
          </a:p>
        </p:txBody>
      </p:sp>
      <p:sp>
        <p:nvSpPr>
          <p:cNvPr id="12" name="TextBox 12"/>
          <p:cNvSpPr txBox="1"/>
          <p:nvPr/>
        </p:nvSpPr>
        <p:spPr>
          <a:xfrm>
            <a:off x="2152487" y="2838973"/>
            <a:ext cx="3661328" cy="616099"/>
          </a:xfrm>
          <a:prstGeom prst="rect">
            <a:avLst/>
          </a:prstGeom>
        </p:spPr>
        <p:txBody>
          <a:bodyPr lIns="0" tIns="0" rIns="0" bIns="0" rtlCol="0" anchor="t">
            <a:spAutoFit/>
          </a:bodyPr>
          <a:lstStyle/>
          <a:p>
            <a:pPr marL="0" lvl="0" indent="0" algn="l">
              <a:lnSpc>
                <a:spcPts val="4140"/>
              </a:lnSpc>
              <a:spcBef>
                <a:spcPct val="0"/>
              </a:spcBef>
            </a:pPr>
            <a:r>
              <a:rPr lang="en-US" sz="3000" b="1">
                <a:solidFill>
                  <a:srgbClr val="17E3B2"/>
                </a:solidFill>
                <a:latin typeface="Almarai Bold"/>
                <a:ea typeface="Almarai Bold"/>
                <a:cs typeface="Almarai Bold"/>
                <a:sym typeface="Almarai Bold"/>
              </a:rPr>
              <a:t>P1: Least Agency</a:t>
            </a:r>
          </a:p>
        </p:txBody>
      </p:sp>
      <p:sp>
        <p:nvSpPr>
          <p:cNvPr id="13" name="TextBox 13"/>
          <p:cNvSpPr txBox="1"/>
          <p:nvPr/>
        </p:nvSpPr>
        <p:spPr>
          <a:xfrm>
            <a:off x="1922524" y="3537473"/>
            <a:ext cx="4199542" cy="1606027"/>
          </a:xfrm>
          <a:prstGeom prst="rect">
            <a:avLst/>
          </a:prstGeom>
        </p:spPr>
        <p:txBody>
          <a:bodyPr lIns="0" tIns="0" rIns="0" bIns="0" rtlCol="0" anchor="t">
            <a:spAutoFit/>
          </a:bodyPr>
          <a:lstStyle/>
          <a:p>
            <a:pPr marL="431797" lvl="1" indent="-215899" algn="l">
              <a:lnSpc>
                <a:spcPts val="2759"/>
              </a:lnSpc>
              <a:buFont typeface="Arial"/>
              <a:buChar char="•"/>
            </a:pPr>
            <a:r>
              <a:rPr lang="en-US" sz="1999">
                <a:solidFill>
                  <a:srgbClr val="FFFFFF"/>
                </a:solidFill>
                <a:latin typeface="Almarai"/>
                <a:ea typeface="Almarai"/>
                <a:cs typeface="Almarai"/>
                <a:sym typeface="Almarai"/>
              </a:rPr>
              <a:t>Principio del privilegio minimo su azioni e memorie</a:t>
            </a:r>
          </a:p>
          <a:p>
            <a:pPr marL="431797" lvl="1" indent="-215899" algn="l">
              <a:lnSpc>
                <a:spcPts val="2759"/>
              </a:lnSpc>
              <a:buFont typeface="Arial"/>
              <a:buChar char="•"/>
            </a:pPr>
            <a:r>
              <a:rPr lang="en-US" sz="1999">
                <a:solidFill>
                  <a:srgbClr val="FFFFFF"/>
                </a:solidFill>
                <a:latin typeface="Almarai"/>
                <a:ea typeface="Almarai"/>
                <a:cs typeface="Almarai"/>
                <a:sym typeface="Almarai"/>
              </a:rPr>
              <a:t>Autonomia circoscritta al solo compito previsto</a:t>
            </a:r>
          </a:p>
        </p:txBody>
      </p:sp>
      <p:sp>
        <p:nvSpPr>
          <p:cNvPr id="14" name="TextBox 14"/>
          <p:cNvSpPr txBox="1"/>
          <p:nvPr/>
        </p:nvSpPr>
        <p:spPr>
          <a:xfrm>
            <a:off x="7143880" y="2838973"/>
            <a:ext cx="3661328" cy="616099"/>
          </a:xfrm>
          <a:prstGeom prst="rect">
            <a:avLst/>
          </a:prstGeom>
        </p:spPr>
        <p:txBody>
          <a:bodyPr lIns="0" tIns="0" rIns="0" bIns="0" rtlCol="0" anchor="t">
            <a:spAutoFit/>
          </a:bodyPr>
          <a:lstStyle/>
          <a:p>
            <a:pPr marL="0" lvl="0" indent="0" algn="l">
              <a:lnSpc>
                <a:spcPts val="4140"/>
              </a:lnSpc>
              <a:spcBef>
                <a:spcPct val="0"/>
              </a:spcBef>
            </a:pPr>
            <a:r>
              <a:rPr lang="en-US" sz="3000" b="1">
                <a:solidFill>
                  <a:srgbClr val="17E3B2"/>
                </a:solidFill>
                <a:latin typeface="Almarai Bold"/>
                <a:ea typeface="Almarai Bold"/>
                <a:cs typeface="Almarai Bold"/>
                <a:sym typeface="Almarai Bold"/>
              </a:rPr>
              <a:t>P2: Guardrail </a:t>
            </a:r>
          </a:p>
        </p:txBody>
      </p:sp>
      <p:sp>
        <p:nvSpPr>
          <p:cNvPr id="15" name="TextBox 15"/>
          <p:cNvSpPr txBox="1"/>
          <p:nvPr/>
        </p:nvSpPr>
        <p:spPr>
          <a:xfrm>
            <a:off x="6913916" y="3537473"/>
            <a:ext cx="4812778" cy="1606027"/>
          </a:xfrm>
          <a:prstGeom prst="rect">
            <a:avLst/>
          </a:prstGeom>
        </p:spPr>
        <p:txBody>
          <a:bodyPr lIns="0" tIns="0" rIns="0" bIns="0" rtlCol="0" anchor="t">
            <a:spAutoFit/>
          </a:bodyPr>
          <a:lstStyle/>
          <a:p>
            <a:pPr marL="431797" lvl="1" indent="-215899" algn="l">
              <a:lnSpc>
                <a:spcPts val="2759"/>
              </a:lnSpc>
              <a:buFont typeface="Arial"/>
              <a:buChar char="•"/>
            </a:pPr>
            <a:r>
              <a:rPr lang="en-US" sz="1999">
                <a:solidFill>
                  <a:srgbClr val="FFFFFF"/>
                </a:solidFill>
                <a:latin typeface="Almarai"/>
                <a:ea typeface="Almarai"/>
                <a:cs typeface="Almarai"/>
                <a:sym typeface="Almarai"/>
              </a:rPr>
              <a:t>Validazione deterministica di I/O</a:t>
            </a:r>
          </a:p>
          <a:p>
            <a:pPr marL="431797" lvl="1" indent="-215899" algn="l">
              <a:lnSpc>
                <a:spcPts val="2759"/>
              </a:lnSpc>
              <a:buFont typeface="Arial"/>
              <a:buChar char="•"/>
            </a:pPr>
            <a:r>
              <a:rPr lang="en-US" sz="1999">
                <a:solidFill>
                  <a:srgbClr val="FFFFFF"/>
                </a:solidFill>
                <a:latin typeface="Almarai"/>
                <a:ea typeface="Almarai"/>
                <a:cs typeface="Almarai"/>
                <a:sym typeface="Almarai"/>
              </a:rPr>
              <a:t>Strict schema</a:t>
            </a:r>
          </a:p>
          <a:p>
            <a:pPr marL="431797" lvl="1" indent="-215899" algn="l">
              <a:lnSpc>
                <a:spcPts val="2759"/>
              </a:lnSpc>
              <a:buFont typeface="Arial"/>
              <a:buChar char="•"/>
            </a:pPr>
            <a:r>
              <a:rPr lang="en-US" sz="1999">
                <a:solidFill>
                  <a:srgbClr val="FFFFFF"/>
                </a:solidFill>
                <a:latin typeface="Almarai"/>
                <a:ea typeface="Almarai"/>
                <a:cs typeface="Almarai"/>
                <a:sym typeface="Almarai"/>
              </a:rPr>
              <a:t>Fallback sicuro e HIL su modifiche</a:t>
            </a:r>
          </a:p>
        </p:txBody>
      </p:sp>
      <p:sp>
        <p:nvSpPr>
          <p:cNvPr id="16" name="TextBox 16"/>
          <p:cNvSpPr txBox="1"/>
          <p:nvPr/>
        </p:nvSpPr>
        <p:spPr>
          <a:xfrm>
            <a:off x="12518544" y="2838973"/>
            <a:ext cx="3661328" cy="616099"/>
          </a:xfrm>
          <a:prstGeom prst="rect">
            <a:avLst/>
          </a:prstGeom>
        </p:spPr>
        <p:txBody>
          <a:bodyPr lIns="0" tIns="0" rIns="0" bIns="0" rtlCol="0" anchor="t">
            <a:spAutoFit/>
          </a:bodyPr>
          <a:lstStyle/>
          <a:p>
            <a:pPr marL="0" lvl="0" indent="0" algn="l">
              <a:lnSpc>
                <a:spcPts val="4140"/>
              </a:lnSpc>
              <a:spcBef>
                <a:spcPct val="0"/>
              </a:spcBef>
            </a:pPr>
            <a:r>
              <a:rPr lang="en-US" sz="3000" b="1">
                <a:solidFill>
                  <a:srgbClr val="17E3B2"/>
                </a:solidFill>
                <a:latin typeface="Almarai Bold"/>
                <a:ea typeface="Almarai Bold"/>
                <a:cs typeface="Almarai Bold"/>
                <a:sym typeface="Almarai Bold"/>
              </a:rPr>
              <a:t>P3: Sandboxing</a:t>
            </a:r>
          </a:p>
        </p:txBody>
      </p:sp>
      <p:sp>
        <p:nvSpPr>
          <p:cNvPr id="17" name="TextBox 17"/>
          <p:cNvSpPr txBox="1"/>
          <p:nvPr/>
        </p:nvSpPr>
        <p:spPr>
          <a:xfrm>
            <a:off x="12288581" y="3537473"/>
            <a:ext cx="4076895" cy="1606027"/>
          </a:xfrm>
          <a:prstGeom prst="rect">
            <a:avLst/>
          </a:prstGeom>
        </p:spPr>
        <p:txBody>
          <a:bodyPr lIns="0" tIns="0" rIns="0" bIns="0" rtlCol="0" anchor="t">
            <a:spAutoFit/>
          </a:bodyPr>
          <a:lstStyle/>
          <a:p>
            <a:pPr marL="431797" lvl="1" indent="-215899" algn="l">
              <a:lnSpc>
                <a:spcPts val="2759"/>
              </a:lnSpc>
              <a:buFont typeface="Arial"/>
              <a:buChar char="•"/>
            </a:pPr>
            <a:r>
              <a:rPr lang="en-US" sz="1999">
                <a:solidFill>
                  <a:srgbClr val="FFFFFF"/>
                </a:solidFill>
                <a:latin typeface="Almarai"/>
                <a:ea typeface="Almarai"/>
                <a:cs typeface="Almarai"/>
                <a:sym typeface="Almarai"/>
              </a:rPr>
              <a:t>Esecuzioni in container</a:t>
            </a:r>
          </a:p>
          <a:p>
            <a:pPr marL="431797" lvl="1" indent="-215899" algn="l">
              <a:lnSpc>
                <a:spcPts val="2759"/>
              </a:lnSpc>
              <a:buFont typeface="Arial"/>
              <a:buChar char="•"/>
            </a:pPr>
            <a:r>
              <a:rPr lang="en-US" sz="1999">
                <a:solidFill>
                  <a:srgbClr val="FFFFFF"/>
                </a:solidFill>
                <a:latin typeface="Almarai"/>
                <a:ea typeface="Almarai"/>
                <a:cs typeface="Almarai"/>
                <a:sym typeface="Almarai"/>
              </a:rPr>
              <a:t>Policy deny-by-default</a:t>
            </a:r>
          </a:p>
          <a:p>
            <a:pPr marL="431797" lvl="1" indent="-215899" algn="l">
              <a:lnSpc>
                <a:spcPts val="2759"/>
              </a:lnSpc>
              <a:buFont typeface="Arial"/>
              <a:buChar char="•"/>
            </a:pPr>
            <a:r>
              <a:rPr lang="en-US" sz="1999">
                <a:solidFill>
                  <a:srgbClr val="FFFFFF"/>
                </a:solidFill>
                <a:latin typeface="Almarai"/>
                <a:ea typeface="Almarai"/>
                <a:cs typeface="Almarai"/>
                <a:sym typeface="Almarai"/>
              </a:rPr>
              <a:t>Segregazione delle memorie</a:t>
            </a:r>
          </a:p>
        </p:txBody>
      </p:sp>
      <p:sp>
        <p:nvSpPr>
          <p:cNvPr id="18" name="TextBox 18"/>
          <p:cNvSpPr txBox="1"/>
          <p:nvPr/>
        </p:nvSpPr>
        <p:spPr>
          <a:xfrm>
            <a:off x="805921" y="5711715"/>
            <a:ext cx="3661328" cy="616099"/>
          </a:xfrm>
          <a:prstGeom prst="rect">
            <a:avLst/>
          </a:prstGeom>
        </p:spPr>
        <p:txBody>
          <a:bodyPr lIns="0" tIns="0" rIns="0" bIns="0" rtlCol="0" anchor="t">
            <a:spAutoFit/>
          </a:bodyPr>
          <a:lstStyle/>
          <a:p>
            <a:pPr marL="0" lvl="0" indent="0" algn="l">
              <a:lnSpc>
                <a:spcPts val="4140"/>
              </a:lnSpc>
              <a:spcBef>
                <a:spcPct val="0"/>
              </a:spcBef>
            </a:pPr>
            <a:r>
              <a:rPr lang="en-US" sz="3000" b="1">
                <a:solidFill>
                  <a:srgbClr val="17E3B2"/>
                </a:solidFill>
                <a:latin typeface="Almarai Bold"/>
                <a:ea typeface="Almarai Bold"/>
                <a:cs typeface="Almarai Bold"/>
                <a:sym typeface="Almarai Bold"/>
              </a:rPr>
              <a:t>P4: Audit trail</a:t>
            </a:r>
          </a:p>
        </p:txBody>
      </p:sp>
      <p:sp>
        <p:nvSpPr>
          <p:cNvPr id="19" name="TextBox 19"/>
          <p:cNvSpPr txBox="1"/>
          <p:nvPr/>
        </p:nvSpPr>
        <p:spPr>
          <a:xfrm>
            <a:off x="575958" y="6410215"/>
            <a:ext cx="4076895" cy="1202615"/>
          </a:xfrm>
          <a:prstGeom prst="rect">
            <a:avLst/>
          </a:prstGeom>
        </p:spPr>
        <p:txBody>
          <a:bodyPr lIns="0" tIns="0" rIns="0" bIns="0" rtlCol="0" anchor="t">
            <a:spAutoFit/>
          </a:bodyPr>
          <a:lstStyle/>
          <a:p>
            <a:pPr marL="431797" lvl="1" indent="-215899" algn="l">
              <a:lnSpc>
                <a:spcPts val="2759"/>
              </a:lnSpc>
              <a:buFont typeface="Arial"/>
              <a:buChar char="•"/>
            </a:pPr>
            <a:r>
              <a:rPr lang="en-US" sz="1999">
                <a:solidFill>
                  <a:srgbClr val="FFFFFF"/>
                </a:solidFill>
                <a:latin typeface="Almarai"/>
                <a:ea typeface="Almarai"/>
                <a:cs typeface="Almarai"/>
                <a:sym typeface="Almarai"/>
              </a:rPr>
              <a:t>Tracciabilità forense</a:t>
            </a:r>
          </a:p>
          <a:p>
            <a:pPr marL="431797" lvl="1" indent="-215899" algn="l">
              <a:lnSpc>
                <a:spcPts val="2759"/>
              </a:lnSpc>
              <a:buFont typeface="Arial"/>
              <a:buChar char="•"/>
            </a:pPr>
            <a:r>
              <a:rPr lang="en-US" sz="1999">
                <a:solidFill>
                  <a:srgbClr val="FFFFFF"/>
                </a:solidFill>
                <a:latin typeface="Almarai"/>
                <a:ea typeface="Almarai"/>
                <a:cs typeface="Almarai"/>
                <a:sym typeface="Almarai"/>
              </a:rPr>
              <a:t>Registrazione immutabile di metadati</a:t>
            </a:r>
          </a:p>
        </p:txBody>
      </p:sp>
      <p:sp>
        <p:nvSpPr>
          <p:cNvPr id="20" name="TextBox 20"/>
          <p:cNvSpPr txBox="1"/>
          <p:nvPr/>
        </p:nvSpPr>
        <p:spPr>
          <a:xfrm>
            <a:off x="5066182" y="5711715"/>
            <a:ext cx="3661328" cy="1243629"/>
          </a:xfrm>
          <a:prstGeom prst="rect">
            <a:avLst/>
          </a:prstGeom>
        </p:spPr>
        <p:txBody>
          <a:bodyPr lIns="0" tIns="0" rIns="0" bIns="0" rtlCol="0" anchor="t">
            <a:spAutoFit/>
          </a:bodyPr>
          <a:lstStyle/>
          <a:p>
            <a:pPr algn="l">
              <a:lnSpc>
                <a:spcPts val="4140"/>
              </a:lnSpc>
            </a:pPr>
            <a:r>
              <a:rPr lang="en-US" sz="3000" b="1">
                <a:solidFill>
                  <a:srgbClr val="17E3B2"/>
                </a:solidFill>
                <a:latin typeface="Almarai Bold"/>
                <a:ea typeface="Almarai Bold"/>
                <a:cs typeface="Almarai Bold"/>
                <a:sym typeface="Almarai Bold"/>
              </a:rPr>
              <a:t>P5: Supply Chain</a:t>
            </a:r>
          </a:p>
          <a:p>
            <a:pPr marL="0" lvl="0" indent="0" algn="l">
              <a:lnSpc>
                <a:spcPts val="4140"/>
              </a:lnSpc>
              <a:spcBef>
                <a:spcPct val="0"/>
              </a:spcBef>
            </a:pPr>
            <a:endParaRPr lang="en-US" sz="3000" b="1">
              <a:solidFill>
                <a:srgbClr val="17E3B2"/>
              </a:solidFill>
              <a:latin typeface="Almarai Bold"/>
              <a:ea typeface="Almarai Bold"/>
              <a:cs typeface="Almarai Bold"/>
              <a:sym typeface="Almarai Bold"/>
            </a:endParaRPr>
          </a:p>
        </p:txBody>
      </p:sp>
      <p:sp>
        <p:nvSpPr>
          <p:cNvPr id="21" name="TextBox 21"/>
          <p:cNvSpPr txBox="1"/>
          <p:nvPr/>
        </p:nvSpPr>
        <p:spPr>
          <a:xfrm>
            <a:off x="4836219" y="6410215"/>
            <a:ext cx="4076895" cy="2412851"/>
          </a:xfrm>
          <a:prstGeom prst="rect">
            <a:avLst/>
          </a:prstGeom>
        </p:spPr>
        <p:txBody>
          <a:bodyPr lIns="0" tIns="0" rIns="0" bIns="0" rtlCol="0" anchor="t">
            <a:spAutoFit/>
          </a:bodyPr>
          <a:lstStyle/>
          <a:p>
            <a:pPr marL="431797" lvl="1" indent="-215899" algn="l">
              <a:lnSpc>
                <a:spcPts val="2759"/>
              </a:lnSpc>
              <a:buFont typeface="Arial"/>
              <a:buChar char="•"/>
            </a:pPr>
            <a:r>
              <a:rPr lang="en-US" sz="1999">
                <a:solidFill>
                  <a:srgbClr val="FFFFFF"/>
                </a:solidFill>
                <a:latin typeface="Almarai"/>
                <a:ea typeface="Almarai"/>
                <a:cs typeface="Almarai"/>
                <a:sym typeface="Almarai"/>
              </a:rPr>
              <a:t>Verifica preventiva su modelli, container e sw</a:t>
            </a:r>
          </a:p>
          <a:p>
            <a:pPr marL="431797" lvl="1" indent="-215899" algn="l">
              <a:lnSpc>
                <a:spcPts val="2759"/>
              </a:lnSpc>
              <a:buFont typeface="Arial"/>
              <a:buChar char="•"/>
            </a:pPr>
            <a:r>
              <a:rPr lang="en-US" sz="1999">
                <a:solidFill>
                  <a:srgbClr val="FFFFFF"/>
                </a:solidFill>
                <a:latin typeface="Almarai"/>
                <a:ea typeface="Almarai"/>
                <a:cs typeface="Almarai"/>
                <a:sym typeface="Almarai"/>
              </a:rPr>
              <a:t>Richiede registri approvati, hash e firme</a:t>
            </a:r>
          </a:p>
          <a:p>
            <a:pPr marL="431797" lvl="1" indent="-215899" algn="l">
              <a:lnSpc>
                <a:spcPts val="2759"/>
              </a:lnSpc>
              <a:buFont typeface="Arial"/>
              <a:buChar char="•"/>
            </a:pPr>
            <a:r>
              <a:rPr lang="en-US" sz="1999">
                <a:solidFill>
                  <a:srgbClr val="FFFFFF"/>
                </a:solidFill>
                <a:latin typeface="Almarai"/>
                <a:ea typeface="Almarai"/>
                <a:cs typeface="Almarai"/>
                <a:sym typeface="Almarai"/>
              </a:rPr>
              <a:t>Scansioni continue di vulenrabilità</a:t>
            </a:r>
          </a:p>
        </p:txBody>
      </p:sp>
      <p:sp>
        <p:nvSpPr>
          <p:cNvPr id="22" name="TextBox 22"/>
          <p:cNvSpPr txBox="1"/>
          <p:nvPr/>
        </p:nvSpPr>
        <p:spPr>
          <a:xfrm>
            <a:off x="9512047" y="5711715"/>
            <a:ext cx="3661328" cy="616099"/>
          </a:xfrm>
          <a:prstGeom prst="rect">
            <a:avLst/>
          </a:prstGeom>
        </p:spPr>
        <p:txBody>
          <a:bodyPr lIns="0" tIns="0" rIns="0" bIns="0" rtlCol="0" anchor="t">
            <a:spAutoFit/>
          </a:bodyPr>
          <a:lstStyle/>
          <a:p>
            <a:pPr marL="0" lvl="0" indent="0" algn="l">
              <a:lnSpc>
                <a:spcPts val="4140"/>
              </a:lnSpc>
              <a:spcBef>
                <a:spcPct val="0"/>
              </a:spcBef>
            </a:pPr>
            <a:r>
              <a:rPr lang="en-US" sz="3000" b="1">
                <a:solidFill>
                  <a:srgbClr val="17E3B2"/>
                </a:solidFill>
                <a:latin typeface="Almarai Bold"/>
                <a:ea typeface="Almarai Bold"/>
                <a:cs typeface="Almarai Bold"/>
                <a:sym typeface="Almarai Bold"/>
              </a:rPr>
              <a:t>P6: Monitoraggio</a:t>
            </a:r>
          </a:p>
        </p:txBody>
      </p:sp>
      <p:sp>
        <p:nvSpPr>
          <p:cNvPr id="23" name="TextBox 23"/>
          <p:cNvSpPr txBox="1"/>
          <p:nvPr/>
        </p:nvSpPr>
        <p:spPr>
          <a:xfrm>
            <a:off x="9282084" y="6410215"/>
            <a:ext cx="4076895" cy="2009439"/>
          </a:xfrm>
          <a:prstGeom prst="rect">
            <a:avLst/>
          </a:prstGeom>
        </p:spPr>
        <p:txBody>
          <a:bodyPr lIns="0" tIns="0" rIns="0" bIns="0" rtlCol="0" anchor="t">
            <a:spAutoFit/>
          </a:bodyPr>
          <a:lstStyle/>
          <a:p>
            <a:pPr marL="431797" lvl="1" indent="-215899" algn="l">
              <a:lnSpc>
                <a:spcPts val="2759"/>
              </a:lnSpc>
              <a:buFont typeface="Arial"/>
              <a:buChar char="•"/>
            </a:pPr>
            <a:r>
              <a:rPr lang="en-US" sz="1999">
                <a:solidFill>
                  <a:srgbClr val="FFFFFF"/>
                </a:solidFill>
                <a:latin typeface="Almarai"/>
                <a:ea typeface="Almarai"/>
                <a:cs typeface="Almarai"/>
                <a:sym typeface="Almarai"/>
              </a:rPr>
              <a:t>Osservabilità runtime del comportamento</a:t>
            </a:r>
          </a:p>
          <a:p>
            <a:pPr marL="431797" lvl="1" indent="-215899" algn="l">
              <a:lnSpc>
                <a:spcPts val="2759"/>
              </a:lnSpc>
              <a:buFont typeface="Arial"/>
              <a:buChar char="•"/>
            </a:pPr>
            <a:r>
              <a:rPr lang="en-US" sz="1999">
                <a:solidFill>
                  <a:srgbClr val="FFFFFF"/>
                </a:solidFill>
                <a:latin typeface="Almarai"/>
                <a:ea typeface="Almarai"/>
                <a:cs typeface="Almarai"/>
                <a:sym typeface="Almarai"/>
              </a:rPr>
              <a:t>Rilevamento anomalie</a:t>
            </a:r>
          </a:p>
          <a:p>
            <a:pPr marL="431797" lvl="1" indent="-215899" algn="l">
              <a:lnSpc>
                <a:spcPts val="2759"/>
              </a:lnSpc>
              <a:buFont typeface="Arial"/>
              <a:buChar char="•"/>
            </a:pPr>
            <a:r>
              <a:rPr lang="en-US" sz="1999">
                <a:solidFill>
                  <a:srgbClr val="FFFFFF"/>
                </a:solidFill>
                <a:latin typeface="Almarai"/>
                <a:ea typeface="Almarai"/>
                <a:cs typeface="Almarai"/>
                <a:sym typeface="Almarai"/>
              </a:rPr>
              <a:t>Circuit-braker e fail-safe automatizzati</a:t>
            </a:r>
          </a:p>
        </p:txBody>
      </p:sp>
      <p:sp>
        <p:nvSpPr>
          <p:cNvPr id="24" name="TextBox 24"/>
          <p:cNvSpPr txBox="1"/>
          <p:nvPr/>
        </p:nvSpPr>
        <p:spPr>
          <a:xfrm>
            <a:off x="13865110" y="5711715"/>
            <a:ext cx="3661328" cy="616099"/>
          </a:xfrm>
          <a:prstGeom prst="rect">
            <a:avLst/>
          </a:prstGeom>
        </p:spPr>
        <p:txBody>
          <a:bodyPr lIns="0" tIns="0" rIns="0" bIns="0" rtlCol="0" anchor="t">
            <a:spAutoFit/>
          </a:bodyPr>
          <a:lstStyle/>
          <a:p>
            <a:pPr marL="0" lvl="0" indent="0" algn="l">
              <a:lnSpc>
                <a:spcPts val="4140"/>
              </a:lnSpc>
              <a:spcBef>
                <a:spcPct val="0"/>
              </a:spcBef>
            </a:pPr>
            <a:r>
              <a:rPr lang="en-US" sz="3000" b="1">
                <a:solidFill>
                  <a:srgbClr val="17E3B2"/>
                </a:solidFill>
                <a:latin typeface="Almarai Bold"/>
                <a:ea typeface="Almarai Bold"/>
                <a:cs typeface="Almarai Bold"/>
                <a:sym typeface="Almarai Bold"/>
              </a:rPr>
              <a:t>P7: Audit AIVSS</a:t>
            </a:r>
          </a:p>
        </p:txBody>
      </p:sp>
      <p:sp>
        <p:nvSpPr>
          <p:cNvPr id="25" name="TextBox 25"/>
          <p:cNvSpPr txBox="1"/>
          <p:nvPr/>
        </p:nvSpPr>
        <p:spPr>
          <a:xfrm>
            <a:off x="13635147" y="6410215"/>
            <a:ext cx="4076895" cy="1606027"/>
          </a:xfrm>
          <a:prstGeom prst="rect">
            <a:avLst/>
          </a:prstGeom>
        </p:spPr>
        <p:txBody>
          <a:bodyPr lIns="0" tIns="0" rIns="0" bIns="0" rtlCol="0" anchor="t">
            <a:spAutoFit/>
          </a:bodyPr>
          <a:lstStyle/>
          <a:p>
            <a:pPr marL="431797" lvl="1" indent="-215899" algn="l">
              <a:lnSpc>
                <a:spcPts val="2759"/>
              </a:lnSpc>
              <a:buFont typeface="Arial"/>
              <a:buChar char="•"/>
            </a:pPr>
            <a:r>
              <a:rPr lang="en-US" sz="1999">
                <a:solidFill>
                  <a:srgbClr val="FFFFFF"/>
                </a:solidFill>
                <a:latin typeface="Almarai"/>
                <a:ea typeface="Almarai"/>
                <a:cs typeface="Almarai"/>
                <a:sym typeface="Almarai"/>
              </a:rPr>
              <a:t>Valutazione periodica del profilo di rischio</a:t>
            </a:r>
          </a:p>
          <a:p>
            <a:pPr marL="431797" lvl="1" indent="-215899" algn="l">
              <a:lnSpc>
                <a:spcPts val="2759"/>
              </a:lnSpc>
              <a:buFont typeface="Arial"/>
              <a:buChar char="•"/>
            </a:pPr>
            <a:r>
              <a:rPr lang="en-US" sz="1999">
                <a:solidFill>
                  <a:srgbClr val="FFFFFF"/>
                </a:solidFill>
                <a:latin typeface="Almarai"/>
                <a:ea typeface="Almarai"/>
                <a:cs typeface="Almarai"/>
                <a:sym typeface="Almarai"/>
              </a:rPr>
              <a:t>Utilizzo AIVSS come checklist di conformità</a:t>
            </a:r>
          </a:p>
        </p:txBody>
      </p:sp>
      <p:sp>
        <p:nvSpPr>
          <p:cNvPr id="36" name="Text 59">
            <a:extLst>
              <a:ext uri="{FF2B5EF4-FFF2-40B4-BE49-F238E27FC236}">
                <a16:creationId xmlns:a16="http://schemas.microsoft.com/office/drawing/2014/main" id="{1715E77E-2FA8-11E1-8178-820E240F09FE}"/>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10</a:t>
            </a:r>
            <a:endParaRPr lang="en-US" sz="15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TextBox 10"/>
          <p:cNvSpPr txBox="1"/>
          <p:nvPr/>
        </p:nvSpPr>
        <p:spPr>
          <a:xfrm>
            <a:off x="2766869" y="1467525"/>
            <a:ext cx="9504683"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SCENARI PRIORITARI</a:t>
            </a:r>
          </a:p>
        </p:txBody>
      </p:sp>
      <p:sp>
        <p:nvSpPr>
          <p:cNvPr id="11" name="TextBox 11"/>
          <p:cNvSpPr txBox="1"/>
          <p:nvPr/>
        </p:nvSpPr>
        <p:spPr>
          <a:xfrm>
            <a:off x="1028700" y="1480657"/>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09</a:t>
            </a:r>
          </a:p>
        </p:txBody>
      </p:sp>
      <p:sp>
        <p:nvSpPr>
          <p:cNvPr id="12" name="TextBox 12"/>
          <p:cNvSpPr txBox="1"/>
          <p:nvPr/>
        </p:nvSpPr>
        <p:spPr>
          <a:xfrm>
            <a:off x="1768405" y="2819923"/>
            <a:ext cx="14837544" cy="724572"/>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Scenari Critici: SC1  - Goal Hijack &amp; Chunk Splitting (ASI01)</a:t>
            </a:r>
          </a:p>
        </p:txBody>
      </p:sp>
      <p:sp>
        <p:nvSpPr>
          <p:cNvPr id="13" name="TextBox 13"/>
          <p:cNvSpPr txBox="1"/>
          <p:nvPr/>
        </p:nvSpPr>
        <p:spPr>
          <a:xfrm>
            <a:off x="1768405" y="3686461"/>
            <a:ext cx="14555022" cy="5236733"/>
          </a:xfrm>
          <a:prstGeom prst="rect">
            <a:avLst/>
          </a:prstGeom>
        </p:spPr>
        <p:txBody>
          <a:bodyPr lIns="0" tIns="0" rIns="0" bIns="0" rtlCol="0" anchor="t">
            <a:spAutoFit/>
          </a:bodyPr>
          <a:lstStyle/>
          <a:p>
            <a:pPr algn="l">
              <a:lnSpc>
                <a:spcPts val="2759"/>
              </a:lnSpc>
            </a:pPr>
            <a:r>
              <a:rPr lang="en-US" sz="1999" b="1">
                <a:solidFill>
                  <a:srgbClr val="FFFFFF"/>
                </a:solidFill>
                <a:latin typeface="Almarai Bold"/>
                <a:ea typeface="Almarai Bold"/>
                <a:cs typeface="Almarai Bold"/>
                <a:sym typeface="Almarai Bold"/>
              </a:rPr>
              <a:t>Meccanismo di Attacco</a:t>
            </a:r>
          </a:p>
          <a:p>
            <a:pPr marL="431797" lvl="1" indent="-215899" algn="l">
              <a:lnSpc>
                <a:spcPts val="2759"/>
              </a:lnSpc>
              <a:buFont typeface="Arial"/>
              <a:buChar char="•"/>
            </a:pPr>
            <a:r>
              <a:rPr lang="en-US" sz="1999">
                <a:solidFill>
                  <a:srgbClr val="FFFFFF"/>
                </a:solidFill>
                <a:latin typeface="Almarai"/>
                <a:ea typeface="Almarai"/>
                <a:cs typeface="Almarai"/>
                <a:sym typeface="Almarai"/>
              </a:rPr>
              <a:t>L'avversario usa chunk splitting su token parziali o prompt injection sul testo completo/RAG. Il Fast-Brain (&lt;800 ms) esegue l'istruzione deviando filler e trigger; il Deep-Brain genera risposte dannose propagate al video</a:t>
            </a:r>
          </a:p>
          <a:p>
            <a:pPr algn="l">
              <a:lnSpc>
                <a:spcPts val="2759"/>
              </a:lnSpc>
            </a:pPr>
            <a:endParaRPr lang="en-US" sz="1999">
              <a:solidFill>
                <a:srgbClr val="FFFFFF"/>
              </a:solidFill>
              <a:latin typeface="Almarai"/>
              <a:ea typeface="Almarai"/>
              <a:cs typeface="Almarai"/>
              <a:sym typeface="Almarai"/>
            </a:endParaRPr>
          </a:p>
          <a:p>
            <a:pPr algn="l">
              <a:lnSpc>
                <a:spcPts val="2759"/>
              </a:lnSpc>
            </a:pPr>
            <a:r>
              <a:rPr lang="en-US" sz="1999" b="1">
                <a:solidFill>
                  <a:srgbClr val="FFFFFF"/>
                </a:solidFill>
                <a:latin typeface="Almarai Bold"/>
                <a:ea typeface="Almarai Bold"/>
                <a:cs typeface="Almarai Bold"/>
                <a:sym typeface="Almarai Bold"/>
              </a:rPr>
              <a:t>Proprietà violate</a:t>
            </a:r>
          </a:p>
          <a:p>
            <a:pPr marL="431797" lvl="1" indent="-215899" algn="l">
              <a:lnSpc>
                <a:spcPts val="2759"/>
              </a:lnSpc>
              <a:buFont typeface="Arial"/>
              <a:buChar char="•"/>
            </a:pPr>
            <a:r>
              <a:rPr lang="en-US" sz="1999">
                <a:solidFill>
                  <a:srgbClr val="FFFFFF"/>
                </a:solidFill>
                <a:latin typeface="Almarai"/>
                <a:ea typeface="Almarai"/>
                <a:cs typeface="Almarai"/>
                <a:sym typeface="Almarai"/>
              </a:rPr>
              <a:t>I, Au, Ac</a:t>
            </a:r>
          </a:p>
          <a:p>
            <a:pPr algn="l">
              <a:lnSpc>
                <a:spcPts val="2759"/>
              </a:lnSpc>
            </a:pPr>
            <a:endParaRPr lang="en-US" sz="1999">
              <a:solidFill>
                <a:srgbClr val="FFFFFF"/>
              </a:solidFill>
              <a:latin typeface="Almarai"/>
              <a:ea typeface="Almarai"/>
              <a:cs typeface="Almarai"/>
              <a:sym typeface="Almarai"/>
            </a:endParaRPr>
          </a:p>
          <a:p>
            <a:pPr algn="l">
              <a:lnSpc>
                <a:spcPts val="2759"/>
              </a:lnSpc>
            </a:pPr>
            <a:r>
              <a:rPr lang="en-US" sz="1999" b="1">
                <a:solidFill>
                  <a:srgbClr val="FFFFFF"/>
                </a:solidFill>
                <a:latin typeface="Almarai Bold"/>
                <a:ea typeface="Almarai Bold"/>
                <a:cs typeface="Almarai Bold"/>
                <a:sym typeface="Almarai Bold"/>
              </a:rPr>
              <a:t>Contromisure</a:t>
            </a:r>
          </a:p>
          <a:p>
            <a:pPr marL="431797" lvl="1" indent="-215899" algn="l">
              <a:lnSpc>
                <a:spcPts val="2759"/>
              </a:lnSpc>
              <a:buFont typeface="Arial"/>
              <a:buChar char="•"/>
            </a:pPr>
            <a:r>
              <a:rPr lang="en-US" sz="1999">
                <a:solidFill>
                  <a:srgbClr val="FFFFFF"/>
                </a:solidFill>
                <a:latin typeface="Almarai"/>
                <a:ea typeface="Almarai"/>
                <a:cs typeface="Almarai"/>
                <a:sym typeface="Almarai"/>
              </a:rPr>
              <a:t>P1: Fast-Brain isolato da memoria e tool downstream; trigger gestuali vincolati ad allowlist chiusa.</a:t>
            </a:r>
          </a:p>
          <a:p>
            <a:pPr marL="431797" lvl="1" indent="-215899" algn="l">
              <a:lnSpc>
                <a:spcPts val="2759"/>
              </a:lnSpc>
              <a:buFont typeface="Arial"/>
              <a:buChar char="•"/>
            </a:pPr>
            <a:r>
              <a:rPr lang="en-US" sz="1999">
                <a:solidFill>
                  <a:srgbClr val="FFFFFF"/>
                </a:solidFill>
                <a:latin typeface="Almarai"/>
                <a:ea typeface="Almarai"/>
                <a:cs typeface="Almarai"/>
                <a:sym typeface="Almarai"/>
              </a:rPr>
              <a:t>P2: M11 valida schema e semantica di input/output; fallback statico su violazione o timeout.</a:t>
            </a:r>
          </a:p>
          <a:p>
            <a:pPr marL="431797" lvl="1" indent="-215899" algn="l">
              <a:lnSpc>
                <a:spcPts val="2759"/>
              </a:lnSpc>
              <a:buFont typeface="Arial"/>
              <a:buChar char="•"/>
            </a:pPr>
            <a:r>
              <a:rPr lang="en-US" sz="1999">
                <a:solidFill>
                  <a:srgbClr val="FFFFFF"/>
                </a:solidFill>
                <a:latin typeface="Almarai"/>
                <a:ea typeface="Almarai"/>
                <a:cs typeface="Almarai"/>
                <a:sym typeface="Almarai"/>
              </a:rPr>
              <a:t>P3: Workload separati per Fast/Deep-Brain; accesso alla Knowledge Base rigorosamente in sola lettura.</a:t>
            </a:r>
          </a:p>
          <a:p>
            <a:pPr marL="431797" lvl="1" indent="-215899" algn="l">
              <a:lnSpc>
                <a:spcPts val="2759"/>
              </a:lnSpc>
              <a:buFont typeface="Arial"/>
              <a:buChar char="•"/>
            </a:pPr>
            <a:r>
              <a:rPr lang="en-US" sz="1999">
                <a:solidFill>
                  <a:srgbClr val="FFFFFF"/>
                </a:solidFill>
                <a:latin typeface="Almarai"/>
                <a:ea typeface="Almarai"/>
                <a:cs typeface="Almarai"/>
                <a:sym typeface="Almarai"/>
              </a:rPr>
              <a:t>P4 &amp; P6: Tracciamento immutabile degli eventi e circuit breaker runtime su anomalie o drift</a:t>
            </a:r>
          </a:p>
        </p:txBody>
      </p:sp>
      <p:sp>
        <p:nvSpPr>
          <p:cNvPr id="20" name="Text 59">
            <a:extLst>
              <a:ext uri="{FF2B5EF4-FFF2-40B4-BE49-F238E27FC236}">
                <a16:creationId xmlns:a16="http://schemas.microsoft.com/office/drawing/2014/main" id="{89631027-8EE8-2B3B-0A56-8997E7A4D4FA}"/>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11</a:t>
            </a:r>
            <a:endParaRPr lang="en-US" sz="15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TextBox 10"/>
          <p:cNvSpPr txBox="1"/>
          <p:nvPr/>
        </p:nvSpPr>
        <p:spPr>
          <a:xfrm>
            <a:off x="2766869" y="1467525"/>
            <a:ext cx="9504683"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SCENARI PRIORITARI</a:t>
            </a:r>
          </a:p>
        </p:txBody>
      </p:sp>
      <p:sp>
        <p:nvSpPr>
          <p:cNvPr id="11" name="TextBox 11"/>
          <p:cNvSpPr txBox="1"/>
          <p:nvPr/>
        </p:nvSpPr>
        <p:spPr>
          <a:xfrm>
            <a:off x="1768405" y="2819923"/>
            <a:ext cx="14837544" cy="724572"/>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Scenari Critici: SC6  - Memory &amp; Context Poisoning (ASI06)</a:t>
            </a:r>
          </a:p>
        </p:txBody>
      </p:sp>
      <p:sp>
        <p:nvSpPr>
          <p:cNvPr id="12" name="TextBox 12"/>
          <p:cNvSpPr txBox="1"/>
          <p:nvPr/>
        </p:nvSpPr>
        <p:spPr>
          <a:xfrm>
            <a:off x="1768405" y="3686461"/>
            <a:ext cx="14837544" cy="5640145"/>
          </a:xfrm>
          <a:prstGeom prst="rect">
            <a:avLst/>
          </a:prstGeom>
        </p:spPr>
        <p:txBody>
          <a:bodyPr lIns="0" tIns="0" rIns="0" bIns="0" rtlCol="0" anchor="t">
            <a:spAutoFit/>
          </a:bodyPr>
          <a:lstStyle/>
          <a:p>
            <a:pPr algn="l">
              <a:lnSpc>
                <a:spcPts val="2760"/>
              </a:lnSpc>
            </a:pPr>
            <a:r>
              <a:rPr lang="en-US" sz="2000" b="1">
                <a:solidFill>
                  <a:srgbClr val="FFFFFF"/>
                </a:solidFill>
                <a:latin typeface="Almarai Bold"/>
                <a:ea typeface="Almarai Bold"/>
                <a:cs typeface="Almarai Bold"/>
                <a:sym typeface="Almarai Bold"/>
              </a:rPr>
              <a:t>Meccanismo di Attacco</a:t>
            </a:r>
          </a:p>
          <a:p>
            <a:pPr marL="431801" lvl="1" indent="-215900" algn="l">
              <a:lnSpc>
                <a:spcPts val="2760"/>
              </a:lnSpc>
              <a:buFont typeface="Arial"/>
              <a:buChar char="•"/>
            </a:pPr>
            <a:r>
              <a:rPr lang="en-US" sz="2000">
                <a:solidFill>
                  <a:srgbClr val="FFFFFF"/>
                </a:solidFill>
                <a:latin typeface="Almarai"/>
                <a:ea typeface="Almarai"/>
                <a:cs typeface="Almarai"/>
                <a:sym typeface="Almarai"/>
              </a:rPr>
              <a:t>L'avversario inietta chunk malevoli nell'indice FAISS o altera i feedback (D12) tramite account multipli. Il contenuto avvelenato viene promosso stabilmente in memoria (D4) e recuperato dal Deep-Brain nei turni successivi, generando risposte non sicure con impatto persistente e cross-sessione.</a:t>
            </a:r>
          </a:p>
          <a:p>
            <a:pPr algn="l">
              <a:lnSpc>
                <a:spcPts val="2760"/>
              </a:lnSpc>
            </a:pPr>
            <a:endParaRPr lang="en-US" sz="2000">
              <a:solidFill>
                <a:srgbClr val="FFFFFF"/>
              </a:solidFill>
              <a:latin typeface="Almarai"/>
              <a:ea typeface="Almarai"/>
              <a:cs typeface="Almarai"/>
              <a:sym typeface="Almarai"/>
            </a:endParaRPr>
          </a:p>
          <a:p>
            <a:pPr algn="l">
              <a:lnSpc>
                <a:spcPts val="2760"/>
              </a:lnSpc>
            </a:pPr>
            <a:r>
              <a:rPr lang="en-US" sz="2000" b="1">
                <a:solidFill>
                  <a:srgbClr val="FFFFFF"/>
                </a:solidFill>
                <a:latin typeface="Almarai Bold"/>
                <a:ea typeface="Almarai Bold"/>
                <a:cs typeface="Almarai Bold"/>
                <a:sym typeface="Almarai Bold"/>
              </a:rPr>
              <a:t>Proprietà violate</a:t>
            </a:r>
          </a:p>
          <a:p>
            <a:pPr marL="431801" lvl="1" indent="-215900" algn="l">
              <a:lnSpc>
                <a:spcPts val="2760"/>
              </a:lnSpc>
              <a:buFont typeface="Arial"/>
              <a:buChar char="•"/>
            </a:pPr>
            <a:r>
              <a:rPr lang="en-US" sz="2000">
                <a:solidFill>
                  <a:srgbClr val="FFFFFF"/>
                </a:solidFill>
                <a:latin typeface="Almarai"/>
                <a:ea typeface="Almarai"/>
                <a:cs typeface="Almarai"/>
                <a:sym typeface="Almarai"/>
              </a:rPr>
              <a:t>I, C, Ac, R</a:t>
            </a:r>
          </a:p>
          <a:p>
            <a:pPr algn="l">
              <a:lnSpc>
                <a:spcPts val="2760"/>
              </a:lnSpc>
            </a:pPr>
            <a:endParaRPr lang="en-US" sz="2000">
              <a:solidFill>
                <a:srgbClr val="FFFFFF"/>
              </a:solidFill>
              <a:latin typeface="Almarai"/>
              <a:ea typeface="Almarai"/>
              <a:cs typeface="Almarai"/>
              <a:sym typeface="Almarai"/>
            </a:endParaRPr>
          </a:p>
          <a:p>
            <a:pPr algn="l">
              <a:lnSpc>
                <a:spcPts val="2760"/>
              </a:lnSpc>
            </a:pPr>
            <a:r>
              <a:rPr lang="en-US" sz="2000" b="1">
                <a:solidFill>
                  <a:srgbClr val="FFFFFF"/>
                </a:solidFill>
                <a:latin typeface="Almarai Bold"/>
                <a:ea typeface="Almarai Bold"/>
                <a:cs typeface="Almarai Bold"/>
                <a:sym typeface="Almarai Bold"/>
              </a:rPr>
              <a:t>Contromisure</a:t>
            </a:r>
          </a:p>
          <a:p>
            <a:pPr marL="431801" lvl="1" indent="-215900" algn="l">
              <a:lnSpc>
                <a:spcPts val="2760"/>
              </a:lnSpc>
              <a:buFont typeface="Arial"/>
              <a:buChar char="•"/>
            </a:pPr>
            <a:r>
              <a:rPr lang="en-US" sz="2000">
                <a:solidFill>
                  <a:srgbClr val="FFFFFF"/>
                </a:solidFill>
                <a:latin typeface="Almarai"/>
                <a:ea typeface="Almarai"/>
                <a:cs typeface="Almarai"/>
                <a:sym typeface="Almarai"/>
              </a:rPr>
              <a:t>P1: Deep-Brain (M2) e Retriever (M4) privi di permessi di scrittura diretta su KB e few-shot.</a:t>
            </a:r>
          </a:p>
          <a:p>
            <a:pPr marL="431801" lvl="1" indent="-215900" algn="l">
              <a:lnSpc>
                <a:spcPts val="2760"/>
              </a:lnSpc>
              <a:buFont typeface="Arial"/>
              <a:buChar char="•"/>
            </a:pPr>
            <a:r>
              <a:rPr lang="en-US" sz="2000">
                <a:solidFill>
                  <a:srgbClr val="FFFFFF"/>
                </a:solidFill>
                <a:latin typeface="Almarai"/>
                <a:ea typeface="Almarai"/>
                <a:cs typeface="Almarai"/>
                <a:sym typeface="Almarai"/>
              </a:rPr>
              <a:t>P2: Guardrail M11 con rate-limiting sui feedback e approvazione umana obbligatoria per temi ad alto impatto.</a:t>
            </a:r>
          </a:p>
          <a:p>
            <a:pPr marL="431801" lvl="1" indent="-215900" algn="l">
              <a:lnSpc>
                <a:spcPts val="2760"/>
              </a:lnSpc>
              <a:buFont typeface="Arial"/>
              <a:buChar char="•"/>
            </a:pPr>
            <a:r>
              <a:rPr lang="en-US" sz="2000">
                <a:solidFill>
                  <a:srgbClr val="FFFFFF"/>
                </a:solidFill>
                <a:latin typeface="Almarai"/>
                <a:ea typeface="Almarai"/>
                <a:cs typeface="Almarai"/>
                <a:sym typeface="Almarai"/>
              </a:rPr>
              <a:t>P3: Segregazione della memoria per sessione e accesso a FAISS rigorosamente read-only durante il serving.</a:t>
            </a:r>
          </a:p>
          <a:p>
            <a:pPr marL="431801" lvl="1" indent="-215900" algn="l">
              <a:lnSpc>
                <a:spcPts val="2760"/>
              </a:lnSpc>
              <a:buFont typeface="Arial"/>
              <a:buChar char="•"/>
            </a:pPr>
            <a:r>
              <a:rPr lang="en-US" sz="2000">
                <a:solidFill>
                  <a:srgbClr val="FFFFFF"/>
                </a:solidFill>
                <a:latin typeface="Almarai"/>
                <a:ea typeface="Almarai"/>
                <a:cs typeface="Almarai"/>
                <a:sym typeface="Almarai"/>
              </a:rPr>
              <a:t>P4 &amp; P6: Audit log versionato di ogni delta per consentire il rollback e monitoraggio statistico delle anomalie di ranking per il blocco preventivo degli indici.</a:t>
            </a:r>
          </a:p>
        </p:txBody>
      </p:sp>
      <p:sp>
        <p:nvSpPr>
          <p:cNvPr id="13" name="TextBox 13"/>
          <p:cNvSpPr txBox="1"/>
          <p:nvPr/>
        </p:nvSpPr>
        <p:spPr>
          <a:xfrm>
            <a:off x="1028700" y="1480657"/>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09</a:t>
            </a:r>
          </a:p>
        </p:txBody>
      </p:sp>
      <p:sp>
        <p:nvSpPr>
          <p:cNvPr id="16" name="Text 59">
            <a:extLst>
              <a:ext uri="{FF2B5EF4-FFF2-40B4-BE49-F238E27FC236}">
                <a16:creationId xmlns:a16="http://schemas.microsoft.com/office/drawing/2014/main" id="{E52C5091-8A1E-80BF-B168-F41CA2D58B3F}"/>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12</a:t>
            </a:r>
            <a:endParaRPr lang="en-US" sz="15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TextBox 10"/>
          <p:cNvSpPr txBox="1"/>
          <p:nvPr/>
        </p:nvSpPr>
        <p:spPr>
          <a:xfrm>
            <a:off x="2766869" y="1467525"/>
            <a:ext cx="9504683"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SCENARI PRIORITARI</a:t>
            </a:r>
          </a:p>
        </p:txBody>
      </p:sp>
      <p:sp>
        <p:nvSpPr>
          <p:cNvPr id="11" name="TextBox 11"/>
          <p:cNvSpPr txBox="1"/>
          <p:nvPr/>
        </p:nvSpPr>
        <p:spPr>
          <a:xfrm>
            <a:off x="1768405" y="2819923"/>
            <a:ext cx="14837544" cy="724572"/>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Scenari Alti: SC3  - Identity &amp; Privilege Abuse (ASI03)</a:t>
            </a:r>
          </a:p>
        </p:txBody>
      </p:sp>
      <p:sp>
        <p:nvSpPr>
          <p:cNvPr id="12" name="TextBox 12"/>
          <p:cNvSpPr txBox="1"/>
          <p:nvPr/>
        </p:nvSpPr>
        <p:spPr>
          <a:xfrm>
            <a:off x="1768405" y="3686461"/>
            <a:ext cx="14953625" cy="6043556"/>
          </a:xfrm>
          <a:prstGeom prst="rect">
            <a:avLst/>
          </a:prstGeom>
        </p:spPr>
        <p:txBody>
          <a:bodyPr lIns="0" tIns="0" rIns="0" bIns="0" rtlCol="0" anchor="t">
            <a:spAutoFit/>
          </a:bodyPr>
          <a:lstStyle/>
          <a:p>
            <a:pPr algn="l">
              <a:lnSpc>
                <a:spcPts val="2759"/>
              </a:lnSpc>
            </a:pPr>
            <a:r>
              <a:rPr lang="en-US" sz="1999" b="1">
                <a:solidFill>
                  <a:srgbClr val="FFFFFF"/>
                </a:solidFill>
                <a:latin typeface="Almarai Bold"/>
                <a:ea typeface="Almarai Bold"/>
                <a:cs typeface="Almarai Bold"/>
                <a:sym typeface="Almarai Bold"/>
              </a:rPr>
              <a:t>Meccanismo di Attacco</a:t>
            </a:r>
          </a:p>
          <a:p>
            <a:pPr marL="431797" lvl="1" indent="-215899" algn="l">
              <a:lnSpc>
                <a:spcPts val="2759"/>
              </a:lnSpc>
              <a:buFont typeface="Arial"/>
              <a:buChar char="•"/>
            </a:pPr>
            <a:r>
              <a:rPr lang="en-US" sz="1999">
                <a:solidFill>
                  <a:srgbClr val="FFFFFF"/>
                </a:solidFill>
                <a:latin typeface="Almarai"/>
                <a:ea typeface="Almarai"/>
                <a:cs typeface="Almarai"/>
                <a:sym typeface="Almarai"/>
              </a:rPr>
              <a:t>L'avversario usa un componente a basso privilegio e token con scope eccessivo. L'Orchestratore (M9), agendo da confused deputy, esegue la chiamata senza validare sessione o job (D10), consentendo esfiltrazione dati e output video/audio illegittimi.</a:t>
            </a:r>
          </a:p>
          <a:p>
            <a:pPr algn="l">
              <a:lnSpc>
                <a:spcPts val="2759"/>
              </a:lnSpc>
            </a:pPr>
            <a:endParaRPr lang="en-US" sz="1999">
              <a:solidFill>
                <a:srgbClr val="FFFFFF"/>
              </a:solidFill>
              <a:latin typeface="Almarai"/>
              <a:ea typeface="Almarai"/>
              <a:cs typeface="Almarai"/>
              <a:sym typeface="Almarai"/>
            </a:endParaRPr>
          </a:p>
          <a:p>
            <a:pPr algn="l">
              <a:lnSpc>
                <a:spcPts val="2759"/>
              </a:lnSpc>
            </a:pPr>
            <a:r>
              <a:rPr lang="en-US" sz="1999" b="1">
                <a:solidFill>
                  <a:srgbClr val="FFFFFF"/>
                </a:solidFill>
                <a:latin typeface="Almarai Bold"/>
                <a:ea typeface="Almarai Bold"/>
                <a:cs typeface="Almarai Bold"/>
                <a:sym typeface="Almarai Bold"/>
              </a:rPr>
              <a:t>Proprietà violate</a:t>
            </a:r>
          </a:p>
          <a:p>
            <a:pPr marL="431797" lvl="1" indent="-215899" algn="l">
              <a:lnSpc>
                <a:spcPts val="2759"/>
              </a:lnSpc>
              <a:buFont typeface="Arial"/>
              <a:buChar char="•"/>
            </a:pPr>
            <a:r>
              <a:rPr lang="en-US" sz="1999">
                <a:solidFill>
                  <a:srgbClr val="FFFFFF"/>
                </a:solidFill>
                <a:latin typeface="Almarai"/>
                <a:ea typeface="Almarai"/>
                <a:cs typeface="Almarai"/>
                <a:sym typeface="Almarai"/>
              </a:rPr>
              <a:t>Au, Az, C, Ac</a:t>
            </a:r>
          </a:p>
          <a:p>
            <a:pPr algn="l">
              <a:lnSpc>
                <a:spcPts val="2759"/>
              </a:lnSpc>
            </a:pPr>
            <a:endParaRPr lang="en-US" sz="1999">
              <a:solidFill>
                <a:srgbClr val="FFFFFF"/>
              </a:solidFill>
              <a:latin typeface="Almarai"/>
              <a:ea typeface="Almarai"/>
              <a:cs typeface="Almarai"/>
              <a:sym typeface="Almarai"/>
            </a:endParaRPr>
          </a:p>
          <a:p>
            <a:pPr algn="l">
              <a:lnSpc>
                <a:spcPts val="2759"/>
              </a:lnSpc>
            </a:pPr>
            <a:r>
              <a:rPr lang="en-US" sz="1999" b="1">
                <a:solidFill>
                  <a:srgbClr val="FFFFFF"/>
                </a:solidFill>
                <a:latin typeface="Almarai Bold"/>
                <a:ea typeface="Almarai Bold"/>
                <a:cs typeface="Almarai Bold"/>
                <a:sym typeface="Almarai Bold"/>
              </a:rPr>
              <a:t>Contromisure</a:t>
            </a:r>
          </a:p>
          <a:p>
            <a:pPr marL="431797" lvl="1" indent="-215899" algn="l">
              <a:lnSpc>
                <a:spcPts val="2759"/>
              </a:lnSpc>
              <a:buFont typeface="Arial"/>
              <a:buChar char="•"/>
            </a:pPr>
            <a:r>
              <a:rPr lang="en-US" sz="1999">
                <a:solidFill>
                  <a:srgbClr val="FFFFFF"/>
                </a:solidFill>
                <a:latin typeface="Almarai"/>
                <a:ea typeface="Almarai"/>
                <a:cs typeface="Almarai"/>
                <a:sym typeface="Almarai"/>
              </a:rPr>
              <a:t>P1: Segregazione delle identità tecniche (D13); esclusa ereditarietà di privilegi dal Fast-Brain verso risorse o servizi downstream.</a:t>
            </a:r>
          </a:p>
          <a:p>
            <a:pPr marL="431797" lvl="1" indent="-215899" algn="l">
              <a:lnSpc>
                <a:spcPts val="2759"/>
              </a:lnSpc>
              <a:buFont typeface="Arial"/>
              <a:buChar char="•"/>
            </a:pPr>
            <a:r>
              <a:rPr lang="en-US" sz="1999">
                <a:solidFill>
                  <a:srgbClr val="FFFFFF"/>
                </a:solidFill>
                <a:latin typeface="Almarai"/>
                <a:ea typeface="Almarai"/>
                <a:cs typeface="Almarai"/>
                <a:sym typeface="Almarai"/>
              </a:rPr>
              <a:t>P2: Validazione deterministica obbligatoria su sessione, job ID (D10) e azione.</a:t>
            </a:r>
          </a:p>
          <a:p>
            <a:pPr marL="431797" lvl="1" indent="-215899" algn="l">
              <a:lnSpc>
                <a:spcPts val="2759"/>
              </a:lnSpc>
              <a:buFont typeface="Arial"/>
              <a:buChar char="•"/>
            </a:pPr>
            <a:r>
              <a:rPr lang="en-US" sz="1999">
                <a:solidFill>
                  <a:srgbClr val="FFFFFF"/>
                </a:solidFill>
                <a:latin typeface="Almarai"/>
                <a:ea typeface="Almarai"/>
                <a:cs typeface="Almarai"/>
                <a:sym typeface="Almarai"/>
              </a:rPr>
              <a:t>P3: Workload identity isolate, token short-lived e accesso a D8 vincolato al singolo job.</a:t>
            </a:r>
          </a:p>
          <a:p>
            <a:pPr marL="431797" lvl="1" indent="-215899" algn="l">
              <a:lnSpc>
                <a:spcPts val="2759"/>
              </a:lnSpc>
              <a:buFont typeface="Arial"/>
              <a:buChar char="•"/>
            </a:pPr>
            <a:r>
              <a:rPr lang="en-US" sz="1999">
                <a:solidFill>
                  <a:srgbClr val="FFFFFF"/>
                </a:solidFill>
                <a:latin typeface="Almarai"/>
                <a:ea typeface="Almarai"/>
                <a:cs typeface="Almarai"/>
                <a:sym typeface="Almarai"/>
              </a:rPr>
              <a:t>P4, P6 &amp; P7: Tracciamento immutabile della catena di delega, revoca immediata dei token su anomalie comportamentali (P6) e revisione periodica della matrice di autorizzazione (P7)</a:t>
            </a:r>
          </a:p>
        </p:txBody>
      </p:sp>
      <p:sp>
        <p:nvSpPr>
          <p:cNvPr id="13" name="TextBox 13"/>
          <p:cNvSpPr txBox="1"/>
          <p:nvPr/>
        </p:nvSpPr>
        <p:spPr>
          <a:xfrm>
            <a:off x="1028700" y="1480657"/>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09</a:t>
            </a:r>
          </a:p>
        </p:txBody>
      </p:sp>
      <p:sp>
        <p:nvSpPr>
          <p:cNvPr id="16" name="Text 59">
            <a:extLst>
              <a:ext uri="{FF2B5EF4-FFF2-40B4-BE49-F238E27FC236}">
                <a16:creationId xmlns:a16="http://schemas.microsoft.com/office/drawing/2014/main" id="{BAD17981-42F5-A285-E8E9-DCD364717470}"/>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13</a:t>
            </a:r>
            <a:endParaRPr lang="en-US" sz="15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TextBox 10"/>
          <p:cNvSpPr txBox="1"/>
          <p:nvPr/>
        </p:nvSpPr>
        <p:spPr>
          <a:xfrm>
            <a:off x="2766869" y="1467525"/>
            <a:ext cx="9504683"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SCENARI PRIORITARI</a:t>
            </a:r>
          </a:p>
        </p:txBody>
      </p:sp>
      <p:sp>
        <p:nvSpPr>
          <p:cNvPr id="11" name="TextBox 11"/>
          <p:cNvSpPr txBox="1"/>
          <p:nvPr/>
        </p:nvSpPr>
        <p:spPr>
          <a:xfrm>
            <a:off x="1768405" y="2819923"/>
            <a:ext cx="14837544" cy="724572"/>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Scenari Alti: SC7  - Insecure Inter-Agent Communication</a:t>
            </a:r>
          </a:p>
        </p:txBody>
      </p:sp>
      <p:sp>
        <p:nvSpPr>
          <p:cNvPr id="12" name="TextBox 12"/>
          <p:cNvSpPr txBox="1"/>
          <p:nvPr/>
        </p:nvSpPr>
        <p:spPr>
          <a:xfrm>
            <a:off x="1768405" y="3686461"/>
            <a:ext cx="14555022" cy="5158740"/>
          </a:xfrm>
          <a:prstGeom prst="rect">
            <a:avLst/>
          </a:prstGeom>
        </p:spPr>
        <p:txBody>
          <a:bodyPr lIns="0" tIns="0" rIns="0" bIns="0" rtlCol="0" anchor="t">
            <a:spAutoFit/>
          </a:bodyPr>
          <a:lstStyle/>
          <a:p>
            <a:pPr algn="l">
              <a:lnSpc>
                <a:spcPts val="2760"/>
              </a:lnSpc>
            </a:pPr>
            <a:r>
              <a:rPr lang="en-US" sz="2000" b="1">
                <a:solidFill>
                  <a:srgbClr val="FFFFFF"/>
                </a:solidFill>
                <a:latin typeface="Almarai Bold"/>
                <a:ea typeface="Almarai Bold"/>
                <a:cs typeface="Almarai Bold"/>
                <a:sym typeface="Almarai Bold"/>
              </a:rPr>
              <a:t>Meccanismo di Attacco</a:t>
            </a:r>
          </a:p>
          <a:p>
            <a:pPr marL="431801" lvl="1" indent="-215900" algn="l">
              <a:lnSpc>
                <a:spcPts val="2760"/>
              </a:lnSpc>
              <a:buFont typeface="Arial"/>
              <a:buChar char="•"/>
            </a:pPr>
            <a:r>
              <a:rPr lang="en-US" sz="2000">
                <a:solidFill>
                  <a:srgbClr val="FFFFFF"/>
                </a:solidFill>
                <a:latin typeface="Almarai"/>
                <a:ea typeface="Almarai"/>
                <a:cs typeface="Almarai"/>
                <a:sym typeface="Almarai"/>
              </a:rPr>
              <a:t>L'avversario intercetta e altera o ripete segnali interni di coordinamento (D10). M9 e M10 validano la sola sintassi omettendo verifiche di freshness e session binding, inducendo lo Swap Manager a scambiare stream video tra job diversi, con conseguente esposizione cross-sessione o glitch visivi all'utente.</a:t>
            </a:r>
          </a:p>
          <a:p>
            <a:pPr algn="l">
              <a:lnSpc>
                <a:spcPts val="2760"/>
              </a:lnSpc>
            </a:pPr>
            <a:endParaRPr lang="en-US" sz="2000">
              <a:solidFill>
                <a:srgbClr val="FFFFFF"/>
              </a:solidFill>
              <a:latin typeface="Almarai"/>
              <a:ea typeface="Almarai"/>
              <a:cs typeface="Almarai"/>
              <a:sym typeface="Almarai"/>
            </a:endParaRPr>
          </a:p>
          <a:p>
            <a:pPr algn="l">
              <a:lnSpc>
                <a:spcPts val="2760"/>
              </a:lnSpc>
            </a:pPr>
            <a:r>
              <a:rPr lang="en-US" sz="2000" b="1">
                <a:solidFill>
                  <a:srgbClr val="FFFFFF"/>
                </a:solidFill>
                <a:latin typeface="Almarai Bold"/>
                <a:ea typeface="Almarai Bold"/>
                <a:cs typeface="Almarai Bold"/>
                <a:sym typeface="Almarai Bold"/>
              </a:rPr>
              <a:t>Proprietà violate</a:t>
            </a:r>
          </a:p>
          <a:p>
            <a:pPr marL="431801" lvl="1" indent="-215900" algn="l">
              <a:lnSpc>
                <a:spcPts val="2760"/>
              </a:lnSpc>
              <a:buFont typeface="Arial"/>
              <a:buChar char="•"/>
            </a:pPr>
            <a:r>
              <a:rPr lang="en-US" sz="2000">
                <a:solidFill>
                  <a:srgbClr val="FFFFFF"/>
                </a:solidFill>
                <a:latin typeface="Almarai"/>
                <a:ea typeface="Almarai"/>
                <a:cs typeface="Almarai"/>
                <a:sym typeface="Almarai"/>
              </a:rPr>
              <a:t>Au, I, Ac, C, A</a:t>
            </a:r>
          </a:p>
          <a:p>
            <a:pPr algn="l">
              <a:lnSpc>
                <a:spcPts val="2760"/>
              </a:lnSpc>
            </a:pPr>
            <a:endParaRPr lang="en-US" sz="2000">
              <a:solidFill>
                <a:srgbClr val="FFFFFF"/>
              </a:solidFill>
              <a:latin typeface="Almarai"/>
              <a:ea typeface="Almarai"/>
              <a:cs typeface="Almarai"/>
              <a:sym typeface="Almarai"/>
            </a:endParaRPr>
          </a:p>
          <a:p>
            <a:pPr algn="l">
              <a:lnSpc>
                <a:spcPts val="2760"/>
              </a:lnSpc>
            </a:pPr>
            <a:r>
              <a:rPr lang="en-US" sz="2000" b="1">
                <a:solidFill>
                  <a:srgbClr val="FFFFFF"/>
                </a:solidFill>
                <a:latin typeface="Almarai Bold"/>
                <a:ea typeface="Almarai Bold"/>
                <a:cs typeface="Almarai Bold"/>
                <a:sym typeface="Almarai Bold"/>
              </a:rPr>
              <a:t>Contromisure</a:t>
            </a:r>
          </a:p>
          <a:p>
            <a:pPr marL="431801" lvl="1" indent="-215900" algn="l">
              <a:lnSpc>
                <a:spcPts val="2760"/>
              </a:lnSpc>
              <a:buFont typeface="Arial"/>
              <a:buChar char="•"/>
            </a:pPr>
            <a:r>
              <a:rPr lang="en-US" sz="2000">
                <a:solidFill>
                  <a:srgbClr val="FFFFFF"/>
                </a:solidFill>
                <a:latin typeface="Almarai"/>
                <a:ea typeface="Almarai"/>
                <a:cs typeface="Almarai"/>
                <a:sym typeface="Almarai"/>
              </a:rPr>
              <a:t>P1: Topic e code isolati; solo i worker video autorizzati pubblicano segnali di swap.</a:t>
            </a:r>
          </a:p>
          <a:p>
            <a:pPr marL="431801" lvl="1" indent="-215900" algn="l">
              <a:lnSpc>
                <a:spcPts val="2760"/>
              </a:lnSpc>
              <a:buFont typeface="Arial"/>
              <a:buChar char="•"/>
            </a:pPr>
            <a:r>
              <a:rPr lang="en-US" sz="2000">
                <a:solidFill>
                  <a:srgbClr val="FFFFFF"/>
                </a:solidFill>
                <a:latin typeface="Almarai"/>
                <a:ea typeface="Almarai"/>
                <a:cs typeface="Almarai"/>
                <a:sym typeface="Almarai"/>
              </a:rPr>
              <a:t>P2: Validazione deterministica (M11) di macchina a stati, monotonicità dei sequence number, finestre di freshness e vincolo rigido sessione/job.</a:t>
            </a:r>
          </a:p>
          <a:p>
            <a:pPr marL="431801" lvl="1" indent="-215900" algn="l">
              <a:lnSpc>
                <a:spcPts val="2760"/>
              </a:lnSpc>
              <a:buFont typeface="Arial"/>
              <a:buChar char="•"/>
            </a:pPr>
            <a:r>
              <a:rPr lang="en-US" sz="2000">
                <a:solidFill>
                  <a:srgbClr val="FFFFFF"/>
                </a:solidFill>
                <a:latin typeface="Almarai"/>
                <a:ea typeface="Almarai"/>
                <a:cs typeface="Almarai"/>
                <a:sym typeface="Almarai"/>
              </a:rPr>
              <a:t>P3: Isolamento del piano di controllo tramite mTLS e payload firmati crittograficamente con token per-job.</a:t>
            </a:r>
          </a:p>
          <a:p>
            <a:pPr marL="431801" lvl="1" indent="-215900" algn="l">
              <a:lnSpc>
                <a:spcPts val="2760"/>
              </a:lnSpc>
              <a:buFont typeface="Arial"/>
              <a:buChar char="•"/>
            </a:pPr>
            <a:r>
              <a:rPr lang="en-US" sz="2000">
                <a:solidFill>
                  <a:srgbClr val="FFFFFF"/>
                </a:solidFill>
                <a:latin typeface="Almarai"/>
                <a:ea typeface="Almarai"/>
                <a:cs typeface="Almarai"/>
                <a:sym typeface="Almarai"/>
              </a:rPr>
              <a:t>P4, P6 &amp; P7: Tracciamento immutabile delle transizioni di stato (P4), circuit breaker fail-safe su anomalie di sincronizzazione (P6) e test periodici di iniezione messaggi fuori sequenza (P7).</a:t>
            </a:r>
          </a:p>
        </p:txBody>
      </p:sp>
      <p:sp>
        <p:nvSpPr>
          <p:cNvPr id="13" name="TextBox 13"/>
          <p:cNvSpPr txBox="1"/>
          <p:nvPr/>
        </p:nvSpPr>
        <p:spPr>
          <a:xfrm>
            <a:off x="1028700" y="1480657"/>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09</a:t>
            </a:r>
          </a:p>
        </p:txBody>
      </p:sp>
      <p:sp>
        <p:nvSpPr>
          <p:cNvPr id="16" name="Text 59">
            <a:extLst>
              <a:ext uri="{FF2B5EF4-FFF2-40B4-BE49-F238E27FC236}">
                <a16:creationId xmlns:a16="http://schemas.microsoft.com/office/drawing/2014/main" id="{224BE442-B176-1258-05F5-BD0744DA6461}"/>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14</a:t>
            </a:r>
            <a:endParaRPr lang="en-US" sz="157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TextBox 10"/>
          <p:cNvSpPr txBox="1"/>
          <p:nvPr/>
        </p:nvSpPr>
        <p:spPr>
          <a:xfrm>
            <a:off x="2766869" y="1467525"/>
            <a:ext cx="9504683"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SCENARI PRIORITARI</a:t>
            </a:r>
          </a:p>
        </p:txBody>
      </p:sp>
      <p:sp>
        <p:nvSpPr>
          <p:cNvPr id="11" name="TextBox 11"/>
          <p:cNvSpPr txBox="1"/>
          <p:nvPr/>
        </p:nvSpPr>
        <p:spPr>
          <a:xfrm>
            <a:off x="1768405" y="2819923"/>
            <a:ext cx="14837544" cy="724572"/>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Scenari Alti: SC9  -  Human-Agent Trust Exploitation</a:t>
            </a:r>
          </a:p>
        </p:txBody>
      </p:sp>
      <p:sp>
        <p:nvSpPr>
          <p:cNvPr id="12" name="TextBox 12"/>
          <p:cNvSpPr txBox="1"/>
          <p:nvPr/>
        </p:nvSpPr>
        <p:spPr>
          <a:xfrm>
            <a:off x="1768405" y="3686461"/>
            <a:ext cx="14555022" cy="6043556"/>
          </a:xfrm>
          <a:prstGeom prst="rect">
            <a:avLst/>
          </a:prstGeom>
        </p:spPr>
        <p:txBody>
          <a:bodyPr lIns="0" tIns="0" rIns="0" bIns="0" rtlCol="0" anchor="t">
            <a:spAutoFit/>
          </a:bodyPr>
          <a:lstStyle/>
          <a:p>
            <a:pPr algn="l">
              <a:lnSpc>
                <a:spcPts val="2759"/>
              </a:lnSpc>
            </a:pPr>
            <a:r>
              <a:rPr lang="en-US" sz="1999" b="1">
                <a:solidFill>
                  <a:srgbClr val="FFFFFF"/>
                </a:solidFill>
                <a:latin typeface="Almarai Bold"/>
                <a:ea typeface="Almarai Bold"/>
                <a:cs typeface="Almarai Bold"/>
                <a:sym typeface="Almarai Bold"/>
              </a:rPr>
              <a:t>Meccanismo di Attacco</a:t>
            </a:r>
          </a:p>
          <a:p>
            <a:pPr marL="431797" lvl="1" indent="-215899" algn="l">
              <a:lnSpc>
                <a:spcPts val="2759"/>
              </a:lnSpc>
              <a:buFont typeface="Arial"/>
              <a:buChar char="•"/>
            </a:pPr>
            <a:r>
              <a:rPr lang="en-US" sz="1999">
                <a:solidFill>
                  <a:srgbClr val="FFFFFF"/>
                </a:solidFill>
                <a:latin typeface="Almarai"/>
                <a:ea typeface="Almarai"/>
                <a:cs typeface="Almarai"/>
                <a:sym typeface="Almarai"/>
              </a:rPr>
              <a:t>A seguito di una deviazione a monte, il Deep-Brain emette output pericolosi con il tono materno dell'avatar. Il realismo di voce e video (D8, M6–M7) disarma le difese cognitive dell'utente, inducendolo a cedere dati sensibili o ad attuare consigli sanitari dannosi.</a:t>
            </a:r>
          </a:p>
          <a:p>
            <a:pPr algn="l">
              <a:lnSpc>
                <a:spcPts val="2759"/>
              </a:lnSpc>
            </a:pPr>
            <a:endParaRPr lang="en-US" sz="1999">
              <a:solidFill>
                <a:srgbClr val="FFFFFF"/>
              </a:solidFill>
              <a:latin typeface="Almarai"/>
              <a:ea typeface="Almarai"/>
              <a:cs typeface="Almarai"/>
              <a:sym typeface="Almarai"/>
            </a:endParaRPr>
          </a:p>
          <a:p>
            <a:pPr algn="l">
              <a:lnSpc>
                <a:spcPts val="2759"/>
              </a:lnSpc>
            </a:pPr>
            <a:r>
              <a:rPr lang="en-US" sz="1999" b="1">
                <a:solidFill>
                  <a:srgbClr val="FFFFFF"/>
                </a:solidFill>
                <a:latin typeface="Almarai Bold"/>
                <a:ea typeface="Almarai Bold"/>
                <a:cs typeface="Almarai Bold"/>
                <a:sym typeface="Almarai Bold"/>
              </a:rPr>
              <a:t>Proprietà violate</a:t>
            </a:r>
          </a:p>
          <a:p>
            <a:pPr marL="431797" lvl="1" indent="-215899" algn="l">
              <a:lnSpc>
                <a:spcPts val="2759"/>
              </a:lnSpc>
              <a:buFont typeface="Arial"/>
              <a:buChar char="•"/>
            </a:pPr>
            <a:r>
              <a:rPr lang="en-US" sz="1999">
                <a:solidFill>
                  <a:srgbClr val="FFFFFF"/>
                </a:solidFill>
                <a:latin typeface="Almarai"/>
                <a:ea typeface="Almarai"/>
                <a:cs typeface="Almarai"/>
                <a:sym typeface="Almarai"/>
              </a:rPr>
              <a:t>I, C, Au, Ac</a:t>
            </a:r>
          </a:p>
          <a:p>
            <a:pPr algn="l">
              <a:lnSpc>
                <a:spcPts val="2759"/>
              </a:lnSpc>
            </a:pPr>
            <a:endParaRPr lang="en-US" sz="1999">
              <a:solidFill>
                <a:srgbClr val="FFFFFF"/>
              </a:solidFill>
              <a:latin typeface="Almarai"/>
              <a:ea typeface="Almarai"/>
              <a:cs typeface="Almarai"/>
              <a:sym typeface="Almarai"/>
            </a:endParaRPr>
          </a:p>
          <a:p>
            <a:pPr algn="l">
              <a:lnSpc>
                <a:spcPts val="2759"/>
              </a:lnSpc>
            </a:pPr>
            <a:r>
              <a:rPr lang="en-US" sz="1999" b="1">
                <a:solidFill>
                  <a:srgbClr val="FFFFFF"/>
                </a:solidFill>
                <a:latin typeface="Almarai Bold"/>
                <a:ea typeface="Almarai Bold"/>
                <a:cs typeface="Almarai Bold"/>
                <a:sym typeface="Almarai Bold"/>
              </a:rPr>
              <a:t>Contromisure</a:t>
            </a:r>
          </a:p>
          <a:p>
            <a:pPr marL="431797" lvl="1" indent="-215899" algn="l">
              <a:lnSpc>
                <a:spcPts val="2759"/>
              </a:lnSpc>
              <a:buFont typeface="Arial"/>
              <a:buChar char="•"/>
            </a:pPr>
            <a:r>
              <a:rPr lang="en-US" sz="1999">
                <a:solidFill>
                  <a:srgbClr val="FFFFFF"/>
                </a:solidFill>
                <a:latin typeface="Almarai"/>
                <a:ea typeface="Almarai"/>
                <a:cs typeface="Almarai"/>
                <a:sym typeface="Almarai"/>
              </a:rPr>
              <a:t>P1: Divieto di richiedere dati personali; Deep-Brain vincolato al dominio prefissato senza alterazione dei tratti identitari (D7).</a:t>
            </a:r>
          </a:p>
          <a:p>
            <a:pPr marL="431797" lvl="1" indent="-215899" algn="l">
              <a:lnSpc>
                <a:spcPts val="2759"/>
              </a:lnSpc>
              <a:buFont typeface="Arial"/>
              <a:buChar char="•"/>
            </a:pPr>
            <a:r>
              <a:rPr lang="en-US" sz="1999">
                <a:solidFill>
                  <a:srgbClr val="FFFFFF"/>
                </a:solidFill>
                <a:latin typeface="Almarai"/>
                <a:ea typeface="Almarai"/>
                <a:cs typeface="Almarai"/>
                <a:sym typeface="Almarai"/>
              </a:rPr>
              <a:t>P2: Guardrail M11 semantico pre-sintesi contro richieste indebite e disclaimer visivi su salute/AI.</a:t>
            </a:r>
          </a:p>
          <a:p>
            <a:pPr marL="431797" lvl="1" indent="-215899" algn="l">
              <a:lnSpc>
                <a:spcPts val="2759"/>
              </a:lnSpc>
              <a:buFont typeface="Arial"/>
              <a:buChar char="•"/>
            </a:pPr>
            <a:r>
              <a:rPr lang="en-US" sz="1999">
                <a:solidFill>
                  <a:srgbClr val="FFFFFF"/>
                </a:solidFill>
                <a:latin typeface="Almarai"/>
                <a:ea typeface="Almarai"/>
                <a:cs typeface="Almarai"/>
                <a:sym typeface="Almarai"/>
              </a:rPr>
              <a:t>P3: Asset biometrici (D8) e moduli di rendering accessibili solo tramite token crittografici dedicati.</a:t>
            </a:r>
          </a:p>
          <a:p>
            <a:pPr marL="431797" lvl="1" indent="-215899" algn="l">
              <a:lnSpc>
                <a:spcPts val="2759"/>
              </a:lnSpc>
              <a:buFont typeface="Arial"/>
              <a:buChar char="•"/>
            </a:pPr>
            <a:r>
              <a:rPr lang="en-US" sz="1999">
                <a:solidFill>
                  <a:srgbClr val="FFFFFF"/>
                </a:solidFill>
                <a:latin typeface="Almarai"/>
                <a:ea typeface="Almarai"/>
                <a:cs typeface="Almarai"/>
                <a:sym typeface="Almarai"/>
              </a:rPr>
              <a:t>P4, P6 &amp; P7: Audit immutabile dei flussi I/O (P4), blocco runtime su anomalie di tono/registro (P6) e red teaming socio-tecnico ciclico (P7).</a:t>
            </a:r>
          </a:p>
        </p:txBody>
      </p:sp>
      <p:sp>
        <p:nvSpPr>
          <p:cNvPr id="13" name="TextBox 13"/>
          <p:cNvSpPr txBox="1"/>
          <p:nvPr/>
        </p:nvSpPr>
        <p:spPr>
          <a:xfrm>
            <a:off x="1028700" y="1480657"/>
            <a:ext cx="1456246" cy="1015216"/>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09</a:t>
            </a:r>
          </a:p>
        </p:txBody>
      </p:sp>
      <p:sp>
        <p:nvSpPr>
          <p:cNvPr id="16" name="Text 59">
            <a:extLst>
              <a:ext uri="{FF2B5EF4-FFF2-40B4-BE49-F238E27FC236}">
                <a16:creationId xmlns:a16="http://schemas.microsoft.com/office/drawing/2014/main" id="{24419FBE-7805-8917-2BBB-2BAEF02AB4D7}"/>
              </a:ext>
            </a:extLst>
          </p:cNvPr>
          <p:cNvSpPr/>
          <p:nvPr/>
        </p:nvSpPr>
        <p:spPr>
          <a:xfrm>
            <a:off x="17221200"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15</a:t>
            </a:r>
            <a:endParaRPr lang="en-US" sz="157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Freeform 10"/>
          <p:cNvSpPr/>
          <p:nvPr/>
        </p:nvSpPr>
        <p:spPr>
          <a:xfrm>
            <a:off x="7088760" y="2400639"/>
            <a:ext cx="10800023" cy="6087118"/>
          </a:xfrm>
          <a:custGeom>
            <a:avLst/>
            <a:gdLst/>
            <a:ahLst/>
            <a:cxnLst/>
            <a:rect l="l" t="t" r="r" b="b"/>
            <a:pathLst>
              <a:path w="10800023" h="6087118">
                <a:moveTo>
                  <a:pt x="0" y="0"/>
                </a:moveTo>
                <a:lnTo>
                  <a:pt x="10800023" y="0"/>
                </a:lnTo>
                <a:lnTo>
                  <a:pt x="10800023" y="6087118"/>
                </a:lnTo>
                <a:lnTo>
                  <a:pt x="0" y="6087118"/>
                </a:lnTo>
                <a:lnTo>
                  <a:pt x="0" y="0"/>
                </a:lnTo>
                <a:close/>
              </a:path>
            </a:pathLst>
          </a:custGeom>
          <a:blipFill>
            <a:blip r:embed="rId4"/>
            <a:stretch>
              <a:fillRect/>
            </a:stretch>
          </a:blipFill>
        </p:spPr>
        <p:txBody>
          <a:bodyPr/>
          <a:lstStyle/>
          <a:p>
            <a:endParaRPr lang="it-IT"/>
          </a:p>
        </p:txBody>
      </p:sp>
      <p:sp>
        <p:nvSpPr>
          <p:cNvPr id="11" name="TextBox 11"/>
          <p:cNvSpPr txBox="1"/>
          <p:nvPr/>
        </p:nvSpPr>
        <p:spPr>
          <a:xfrm>
            <a:off x="2766869" y="1467525"/>
            <a:ext cx="11618461" cy="786765"/>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SECURE ARCHITECTURE PROPOSTA</a:t>
            </a:r>
          </a:p>
        </p:txBody>
      </p:sp>
      <p:sp>
        <p:nvSpPr>
          <p:cNvPr id="12" name="TextBox 12"/>
          <p:cNvSpPr txBox="1"/>
          <p:nvPr/>
        </p:nvSpPr>
        <p:spPr>
          <a:xfrm>
            <a:off x="1028700" y="1480657"/>
            <a:ext cx="1456246" cy="850434"/>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10</a:t>
            </a:r>
          </a:p>
        </p:txBody>
      </p:sp>
      <p:sp>
        <p:nvSpPr>
          <p:cNvPr id="13" name="TextBox 13"/>
          <p:cNvSpPr txBox="1"/>
          <p:nvPr/>
        </p:nvSpPr>
        <p:spPr>
          <a:xfrm>
            <a:off x="762460" y="2635597"/>
            <a:ext cx="6326300" cy="5852160"/>
          </a:xfrm>
          <a:prstGeom prst="rect">
            <a:avLst/>
          </a:prstGeom>
        </p:spPr>
        <p:txBody>
          <a:bodyPr lIns="0" tIns="0" rIns="0" bIns="0" rtlCol="0" anchor="t">
            <a:spAutoFit/>
          </a:bodyPr>
          <a:lstStyle/>
          <a:p>
            <a:pPr algn="l">
              <a:lnSpc>
                <a:spcPts val="2760"/>
              </a:lnSpc>
            </a:pPr>
            <a:r>
              <a:rPr lang="en-US" sz="2000" b="1">
                <a:solidFill>
                  <a:srgbClr val="FFFFFF"/>
                </a:solidFill>
                <a:latin typeface="Almarai Bold"/>
                <a:ea typeface="Almarai Bold"/>
                <a:cs typeface="Almarai Bold"/>
                <a:sym typeface="Almarai Bold"/>
              </a:rPr>
              <a:t>Security enforcement at trust boundaries</a:t>
            </a:r>
          </a:p>
          <a:p>
            <a:pPr marL="431801" lvl="1" indent="-215900" algn="l">
              <a:lnSpc>
                <a:spcPts val="2760"/>
              </a:lnSpc>
              <a:buFont typeface="Arial"/>
              <a:buChar char="•"/>
            </a:pPr>
            <a:r>
              <a:rPr lang="en-US" sz="2000">
                <a:solidFill>
                  <a:srgbClr val="FFFFFF"/>
                </a:solidFill>
                <a:latin typeface="Almarai"/>
                <a:ea typeface="Almarai"/>
                <a:cs typeface="Almarai"/>
                <a:sym typeface="Almarai"/>
              </a:rPr>
              <a:t>M11 valida input e output agentici prima che possano produrre effetti downstream.</a:t>
            </a:r>
          </a:p>
          <a:p>
            <a:pPr algn="l">
              <a:lnSpc>
                <a:spcPts val="2760"/>
              </a:lnSpc>
            </a:pPr>
            <a:endParaRPr lang="en-US" sz="2000">
              <a:solidFill>
                <a:srgbClr val="FFFFFF"/>
              </a:solidFill>
              <a:latin typeface="Almarai"/>
              <a:ea typeface="Almarai"/>
              <a:cs typeface="Almarai"/>
              <a:sym typeface="Almarai"/>
            </a:endParaRPr>
          </a:p>
          <a:p>
            <a:pPr algn="l">
              <a:lnSpc>
                <a:spcPts val="2760"/>
              </a:lnSpc>
            </a:pPr>
            <a:r>
              <a:rPr lang="en-US" sz="2000" b="1">
                <a:solidFill>
                  <a:srgbClr val="FFFFFF"/>
                </a:solidFill>
                <a:latin typeface="Almarai Bold"/>
                <a:ea typeface="Almarai Bold"/>
                <a:cs typeface="Almarai Bold"/>
                <a:sym typeface="Almarai Bold"/>
              </a:rPr>
              <a:t>Piano di controllo affidabile</a:t>
            </a:r>
          </a:p>
          <a:p>
            <a:pPr marL="431801" lvl="1" indent="-215900" algn="l">
              <a:lnSpc>
                <a:spcPts val="2760"/>
              </a:lnSpc>
              <a:buFont typeface="Arial"/>
              <a:buChar char="•"/>
            </a:pPr>
            <a:r>
              <a:rPr lang="en-US" sz="2000">
                <a:solidFill>
                  <a:srgbClr val="FFFFFF"/>
                </a:solidFill>
                <a:latin typeface="Almarai"/>
                <a:ea typeface="Almarai"/>
                <a:cs typeface="Almarai"/>
                <a:sym typeface="Almarai"/>
              </a:rPr>
              <a:t>Session ID, Job ID, sequence number e timestamp sono gestiti dall’Orchestratore, non dal modello.</a:t>
            </a:r>
          </a:p>
          <a:p>
            <a:pPr algn="l">
              <a:lnSpc>
                <a:spcPts val="2760"/>
              </a:lnSpc>
            </a:pPr>
            <a:endParaRPr lang="en-US" sz="2000">
              <a:solidFill>
                <a:srgbClr val="FFFFFF"/>
              </a:solidFill>
              <a:latin typeface="Almarai"/>
              <a:ea typeface="Almarai"/>
              <a:cs typeface="Almarai"/>
              <a:sym typeface="Almarai"/>
            </a:endParaRPr>
          </a:p>
          <a:p>
            <a:pPr algn="l">
              <a:lnSpc>
                <a:spcPts val="2760"/>
              </a:lnSpc>
            </a:pPr>
            <a:r>
              <a:rPr lang="en-US" sz="2000" b="1">
                <a:solidFill>
                  <a:srgbClr val="FFFFFF"/>
                </a:solidFill>
                <a:latin typeface="Almarai Bold"/>
                <a:ea typeface="Almarai Bold"/>
                <a:cs typeface="Almarai Bold"/>
                <a:sym typeface="Almarai Bold"/>
              </a:rPr>
              <a:t>Isolamento delle risorse critiche</a:t>
            </a:r>
          </a:p>
          <a:p>
            <a:pPr marL="431801" lvl="1" indent="-215900" algn="l">
              <a:lnSpc>
                <a:spcPts val="2760"/>
              </a:lnSpc>
              <a:buFont typeface="Arial"/>
              <a:buChar char="•"/>
            </a:pPr>
            <a:r>
              <a:rPr lang="en-US" sz="2000">
                <a:solidFill>
                  <a:srgbClr val="FFFFFF"/>
                </a:solidFill>
                <a:latin typeface="Almarai"/>
                <a:ea typeface="Almarai"/>
                <a:cs typeface="Almarai"/>
                <a:sym typeface="Almarai"/>
              </a:rPr>
              <a:t>Knowledge Base read-only durante il serving; gli aggiornamenti persistenti seguono un percorso separato con validazione, versioning e HITL.</a:t>
            </a:r>
          </a:p>
          <a:p>
            <a:pPr algn="l">
              <a:lnSpc>
                <a:spcPts val="2760"/>
              </a:lnSpc>
            </a:pPr>
            <a:endParaRPr lang="en-US" sz="2000">
              <a:solidFill>
                <a:srgbClr val="FFFFFF"/>
              </a:solidFill>
              <a:latin typeface="Almarai"/>
              <a:ea typeface="Almarai"/>
              <a:cs typeface="Almarai"/>
              <a:sym typeface="Almarai"/>
            </a:endParaRPr>
          </a:p>
          <a:p>
            <a:pPr algn="l">
              <a:lnSpc>
                <a:spcPts val="2760"/>
              </a:lnSpc>
            </a:pPr>
            <a:r>
              <a:rPr lang="en-US" sz="2000" b="1">
                <a:solidFill>
                  <a:srgbClr val="FFFFFF"/>
                </a:solidFill>
                <a:latin typeface="Almarai Bold"/>
                <a:ea typeface="Almarai Bold"/>
                <a:cs typeface="Almarai Bold"/>
                <a:sym typeface="Almarai Bold"/>
              </a:rPr>
              <a:t>Azioni downstream autenticate</a:t>
            </a:r>
          </a:p>
          <a:p>
            <a:pPr marL="431801" lvl="1" indent="-215900" algn="l">
              <a:lnSpc>
                <a:spcPts val="2760"/>
              </a:lnSpc>
              <a:buFont typeface="Arial"/>
              <a:buChar char="•"/>
            </a:pPr>
            <a:r>
              <a:rPr lang="en-US" sz="2000">
                <a:solidFill>
                  <a:srgbClr val="FFFFFF"/>
                </a:solidFill>
                <a:latin typeface="Almarai"/>
                <a:ea typeface="Almarai"/>
                <a:cs typeface="Almarai"/>
                <a:sym typeface="Almarai"/>
              </a:rPr>
              <a:t>Workload identity, mTLS e autorizzazione per azione proteggono servizi multimediali e transizioni dello Swap Manager.</a:t>
            </a:r>
          </a:p>
        </p:txBody>
      </p:sp>
      <p:sp>
        <p:nvSpPr>
          <p:cNvPr id="14" name="TextBox 14"/>
          <p:cNvSpPr txBox="1"/>
          <p:nvPr/>
        </p:nvSpPr>
        <p:spPr>
          <a:xfrm>
            <a:off x="762460" y="8784966"/>
            <a:ext cx="12873879" cy="685800"/>
          </a:xfrm>
          <a:prstGeom prst="rect">
            <a:avLst/>
          </a:prstGeom>
        </p:spPr>
        <p:txBody>
          <a:bodyPr lIns="0" tIns="0" rIns="0" bIns="0" rtlCol="0" anchor="t">
            <a:spAutoFit/>
          </a:bodyPr>
          <a:lstStyle/>
          <a:p>
            <a:pPr algn="just">
              <a:lnSpc>
                <a:spcPts val="2760"/>
              </a:lnSpc>
              <a:spcBef>
                <a:spcPct val="0"/>
              </a:spcBef>
            </a:pPr>
            <a:r>
              <a:rPr lang="en-US" sz="2000" b="1">
                <a:solidFill>
                  <a:srgbClr val="17E3B2"/>
                </a:solidFill>
                <a:latin typeface="Almarai Bold"/>
                <a:ea typeface="Almarai Bold"/>
                <a:cs typeface="Almarai Bold"/>
                <a:sym typeface="Almarai Bold"/>
              </a:rPr>
              <a:t>PIANO DI GENERAZIONE ≠ PIANO DI ENFORCEMENT</a:t>
            </a:r>
          </a:p>
          <a:p>
            <a:pPr algn="just">
              <a:lnSpc>
                <a:spcPts val="2760"/>
              </a:lnSpc>
              <a:spcBef>
                <a:spcPct val="0"/>
              </a:spcBef>
            </a:pPr>
            <a:r>
              <a:rPr lang="en-US" sz="2000">
                <a:solidFill>
                  <a:srgbClr val="FFFFFF"/>
                </a:solidFill>
                <a:latin typeface="Almarai"/>
                <a:ea typeface="Almarai"/>
                <a:cs typeface="Almarai"/>
                <a:sym typeface="Almarai"/>
              </a:rPr>
              <a:t>Gli agenti generano contenuti; stato, privilegi e transizioni restano sotto controllo deterministico esterno al modello.</a:t>
            </a:r>
          </a:p>
        </p:txBody>
      </p:sp>
      <p:sp>
        <p:nvSpPr>
          <p:cNvPr id="17" name="Text 59">
            <a:extLst>
              <a:ext uri="{FF2B5EF4-FFF2-40B4-BE49-F238E27FC236}">
                <a16:creationId xmlns:a16="http://schemas.microsoft.com/office/drawing/2014/main" id="{BBDC9C32-C05F-1188-47D7-32A926FEF1A5}"/>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16</a:t>
            </a:r>
            <a:endParaRPr lang="en-US" sz="157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TextBox 10"/>
          <p:cNvSpPr txBox="1"/>
          <p:nvPr/>
        </p:nvSpPr>
        <p:spPr>
          <a:xfrm>
            <a:off x="2766869" y="1467525"/>
            <a:ext cx="14536549" cy="786765"/>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FAIL-SAFE E TRADE-OFF SICUREZZA–LATENZA</a:t>
            </a:r>
          </a:p>
        </p:txBody>
      </p:sp>
      <p:sp>
        <p:nvSpPr>
          <p:cNvPr id="11" name="TextBox 11"/>
          <p:cNvSpPr txBox="1"/>
          <p:nvPr/>
        </p:nvSpPr>
        <p:spPr>
          <a:xfrm>
            <a:off x="1028700" y="1480657"/>
            <a:ext cx="1456246" cy="850434"/>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10</a:t>
            </a:r>
          </a:p>
        </p:txBody>
      </p:sp>
      <p:grpSp>
        <p:nvGrpSpPr>
          <p:cNvPr id="12" name="Group 12"/>
          <p:cNvGrpSpPr/>
          <p:nvPr/>
        </p:nvGrpSpPr>
        <p:grpSpPr>
          <a:xfrm>
            <a:off x="781211" y="2624270"/>
            <a:ext cx="7616061" cy="7395222"/>
            <a:chOff x="0" y="0"/>
            <a:chExt cx="2005876" cy="1947713"/>
          </a:xfrm>
        </p:grpSpPr>
        <p:sp>
          <p:nvSpPr>
            <p:cNvPr id="13" name="Freeform 13"/>
            <p:cNvSpPr/>
            <p:nvPr/>
          </p:nvSpPr>
          <p:spPr>
            <a:xfrm>
              <a:off x="0" y="0"/>
              <a:ext cx="2005876" cy="1947713"/>
            </a:xfrm>
            <a:custGeom>
              <a:avLst/>
              <a:gdLst/>
              <a:ahLst/>
              <a:cxnLst/>
              <a:rect l="l" t="t" r="r" b="b"/>
              <a:pathLst>
                <a:path w="2005876" h="1947713">
                  <a:moveTo>
                    <a:pt x="51843" y="0"/>
                  </a:moveTo>
                  <a:lnTo>
                    <a:pt x="1954033" y="0"/>
                  </a:lnTo>
                  <a:cubicBezTo>
                    <a:pt x="1982665" y="0"/>
                    <a:pt x="2005876" y="23211"/>
                    <a:pt x="2005876" y="51843"/>
                  </a:cubicBezTo>
                  <a:lnTo>
                    <a:pt x="2005876" y="1895870"/>
                  </a:lnTo>
                  <a:cubicBezTo>
                    <a:pt x="2005876" y="1924502"/>
                    <a:pt x="1982665" y="1947713"/>
                    <a:pt x="1954033" y="1947713"/>
                  </a:cubicBezTo>
                  <a:lnTo>
                    <a:pt x="51843" y="1947713"/>
                  </a:lnTo>
                  <a:cubicBezTo>
                    <a:pt x="23211" y="1947713"/>
                    <a:pt x="0" y="1924502"/>
                    <a:pt x="0" y="1895870"/>
                  </a:cubicBezTo>
                  <a:lnTo>
                    <a:pt x="0" y="51843"/>
                  </a:lnTo>
                  <a:cubicBezTo>
                    <a:pt x="0" y="23211"/>
                    <a:pt x="23211" y="0"/>
                    <a:pt x="51843" y="0"/>
                  </a:cubicBezTo>
                  <a:close/>
                </a:path>
              </a:pathLst>
            </a:custGeom>
            <a:solidFill>
              <a:srgbClr val="145DA0"/>
            </a:solidFill>
            <a:ln w="38100" cap="rnd">
              <a:solidFill>
                <a:srgbClr val="FBFCFD"/>
              </a:solidFill>
              <a:prstDash val="solid"/>
              <a:round/>
            </a:ln>
          </p:spPr>
          <p:txBody>
            <a:bodyPr/>
            <a:lstStyle/>
            <a:p>
              <a:endParaRPr lang="it-IT"/>
            </a:p>
          </p:txBody>
        </p:sp>
        <p:sp>
          <p:nvSpPr>
            <p:cNvPr id="14" name="TextBox 14"/>
            <p:cNvSpPr txBox="1"/>
            <p:nvPr/>
          </p:nvSpPr>
          <p:spPr>
            <a:xfrm>
              <a:off x="0" y="-38100"/>
              <a:ext cx="2005876" cy="1985813"/>
            </a:xfrm>
            <a:prstGeom prst="rect">
              <a:avLst/>
            </a:prstGeom>
          </p:spPr>
          <p:txBody>
            <a:bodyPr lIns="50800" tIns="50800" rIns="50800" bIns="50800" rtlCol="0" anchor="ctr"/>
            <a:lstStyle/>
            <a:p>
              <a:pPr algn="ctr">
                <a:lnSpc>
                  <a:spcPts val="2659"/>
                </a:lnSpc>
                <a:spcBef>
                  <a:spcPct val="0"/>
                </a:spcBef>
              </a:pPr>
              <a:endParaRPr/>
            </a:p>
          </p:txBody>
        </p:sp>
      </p:grpSp>
      <p:grpSp>
        <p:nvGrpSpPr>
          <p:cNvPr id="15" name="Group 15"/>
          <p:cNvGrpSpPr/>
          <p:nvPr/>
        </p:nvGrpSpPr>
        <p:grpSpPr>
          <a:xfrm>
            <a:off x="8693580" y="2624270"/>
            <a:ext cx="7616061" cy="7395222"/>
            <a:chOff x="0" y="0"/>
            <a:chExt cx="2005876" cy="1947713"/>
          </a:xfrm>
        </p:grpSpPr>
        <p:sp>
          <p:nvSpPr>
            <p:cNvPr id="16" name="Freeform 16"/>
            <p:cNvSpPr/>
            <p:nvPr/>
          </p:nvSpPr>
          <p:spPr>
            <a:xfrm>
              <a:off x="0" y="0"/>
              <a:ext cx="2005876" cy="1947713"/>
            </a:xfrm>
            <a:custGeom>
              <a:avLst/>
              <a:gdLst/>
              <a:ahLst/>
              <a:cxnLst/>
              <a:rect l="l" t="t" r="r" b="b"/>
              <a:pathLst>
                <a:path w="2005876" h="1947713">
                  <a:moveTo>
                    <a:pt x="51843" y="0"/>
                  </a:moveTo>
                  <a:lnTo>
                    <a:pt x="1954033" y="0"/>
                  </a:lnTo>
                  <a:cubicBezTo>
                    <a:pt x="1982665" y="0"/>
                    <a:pt x="2005876" y="23211"/>
                    <a:pt x="2005876" y="51843"/>
                  </a:cubicBezTo>
                  <a:lnTo>
                    <a:pt x="2005876" y="1895870"/>
                  </a:lnTo>
                  <a:cubicBezTo>
                    <a:pt x="2005876" y="1924502"/>
                    <a:pt x="1982665" y="1947713"/>
                    <a:pt x="1954033" y="1947713"/>
                  </a:cubicBezTo>
                  <a:lnTo>
                    <a:pt x="51843" y="1947713"/>
                  </a:lnTo>
                  <a:cubicBezTo>
                    <a:pt x="23211" y="1947713"/>
                    <a:pt x="0" y="1924502"/>
                    <a:pt x="0" y="1895870"/>
                  </a:cubicBezTo>
                  <a:lnTo>
                    <a:pt x="0" y="51843"/>
                  </a:lnTo>
                  <a:cubicBezTo>
                    <a:pt x="0" y="23211"/>
                    <a:pt x="23211" y="0"/>
                    <a:pt x="51843" y="0"/>
                  </a:cubicBezTo>
                  <a:close/>
                </a:path>
              </a:pathLst>
            </a:custGeom>
            <a:solidFill>
              <a:srgbClr val="145DA0"/>
            </a:solidFill>
            <a:ln w="38100" cap="rnd">
              <a:solidFill>
                <a:srgbClr val="FBFCFD"/>
              </a:solidFill>
              <a:prstDash val="solid"/>
              <a:round/>
            </a:ln>
          </p:spPr>
          <p:txBody>
            <a:bodyPr/>
            <a:lstStyle/>
            <a:p>
              <a:endParaRPr lang="it-IT"/>
            </a:p>
          </p:txBody>
        </p:sp>
        <p:sp>
          <p:nvSpPr>
            <p:cNvPr id="17" name="TextBox 17"/>
            <p:cNvSpPr txBox="1"/>
            <p:nvPr/>
          </p:nvSpPr>
          <p:spPr>
            <a:xfrm>
              <a:off x="0" y="-38100"/>
              <a:ext cx="2005876" cy="1985813"/>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8"/>
          <p:cNvSpPr txBox="1"/>
          <p:nvPr/>
        </p:nvSpPr>
        <p:spPr>
          <a:xfrm>
            <a:off x="1794963" y="2870113"/>
            <a:ext cx="5588556" cy="474345"/>
          </a:xfrm>
          <a:prstGeom prst="rect">
            <a:avLst/>
          </a:prstGeom>
        </p:spPr>
        <p:txBody>
          <a:bodyPr lIns="0" tIns="0" rIns="0" bIns="0" rtlCol="0" anchor="t">
            <a:spAutoFit/>
          </a:bodyPr>
          <a:lstStyle/>
          <a:p>
            <a:pPr algn="ctr">
              <a:lnSpc>
                <a:spcPts val="3600"/>
              </a:lnSpc>
              <a:spcBef>
                <a:spcPct val="0"/>
              </a:spcBef>
            </a:pPr>
            <a:r>
              <a:rPr lang="en-US" sz="3000" b="1">
                <a:solidFill>
                  <a:srgbClr val="17E3B2"/>
                </a:solidFill>
                <a:latin typeface="Almarai Bold"/>
                <a:ea typeface="Almarai Bold"/>
                <a:cs typeface="Almarai Bold"/>
                <a:sym typeface="Almarai Bold"/>
              </a:rPr>
              <a:t>COMPORTAMENTO FAIL-SAFE</a:t>
            </a:r>
          </a:p>
        </p:txBody>
      </p:sp>
      <p:sp>
        <p:nvSpPr>
          <p:cNvPr id="19" name="TextBox 19"/>
          <p:cNvSpPr txBox="1"/>
          <p:nvPr/>
        </p:nvSpPr>
        <p:spPr>
          <a:xfrm>
            <a:off x="1348425" y="8912052"/>
            <a:ext cx="6528715" cy="742950"/>
          </a:xfrm>
          <a:prstGeom prst="rect">
            <a:avLst/>
          </a:prstGeom>
        </p:spPr>
        <p:txBody>
          <a:bodyPr lIns="0" tIns="0" rIns="0" bIns="0" rtlCol="0" anchor="t">
            <a:spAutoFit/>
          </a:bodyPr>
          <a:lstStyle/>
          <a:p>
            <a:pPr algn="ctr">
              <a:lnSpc>
                <a:spcPts val="2999"/>
              </a:lnSpc>
              <a:spcBef>
                <a:spcPct val="0"/>
              </a:spcBef>
            </a:pPr>
            <a:r>
              <a:rPr lang="en-US" sz="2499">
                <a:solidFill>
                  <a:srgbClr val="17E3B2"/>
                </a:solidFill>
                <a:latin typeface="Almarai"/>
                <a:ea typeface="Almarai"/>
                <a:cs typeface="Almarai"/>
                <a:sym typeface="Almarai"/>
              </a:rPr>
              <a:t>La qualità del servizio può degradare.</a:t>
            </a:r>
          </a:p>
          <a:p>
            <a:pPr algn="ctr">
              <a:lnSpc>
                <a:spcPts val="2999"/>
              </a:lnSpc>
              <a:spcBef>
                <a:spcPct val="0"/>
              </a:spcBef>
            </a:pPr>
            <a:r>
              <a:rPr lang="en-US" sz="2499">
                <a:solidFill>
                  <a:srgbClr val="17E3B2"/>
                </a:solidFill>
                <a:latin typeface="Almarai"/>
                <a:ea typeface="Almarai"/>
                <a:cs typeface="Almarai"/>
                <a:sym typeface="Almarai"/>
              </a:rPr>
              <a:t> La sicurezza non viene bypassata.</a:t>
            </a:r>
          </a:p>
        </p:txBody>
      </p:sp>
      <p:sp>
        <p:nvSpPr>
          <p:cNvPr id="20" name="TextBox 20"/>
          <p:cNvSpPr txBox="1"/>
          <p:nvPr/>
        </p:nvSpPr>
        <p:spPr>
          <a:xfrm>
            <a:off x="1143453" y="3563533"/>
            <a:ext cx="6891576" cy="369570"/>
          </a:xfrm>
          <a:prstGeom prst="rect">
            <a:avLst/>
          </a:prstGeom>
        </p:spPr>
        <p:txBody>
          <a:bodyPr lIns="0" tIns="0" rIns="0" bIns="0" rtlCol="0" anchor="t">
            <a:spAutoFit/>
          </a:bodyPr>
          <a:lstStyle/>
          <a:p>
            <a:pPr algn="ctr">
              <a:lnSpc>
                <a:spcPts val="2759"/>
              </a:lnSpc>
              <a:spcBef>
                <a:spcPct val="0"/>
              </a:spcBef>
            </a:pPr>
            <a:r>
              <a:rPr lang="en-US" sz="2299" b="1">
                <a:solidFill>
                  <a:srgbClr val="FFFFFF"/>
                </a:solidFill>
                <a:latin typeface="Almarai Bold"/>
                <a:ea typeface="Almarai Bold"/>
                <a:cs typeface="Almarai Bold"/>
                <a:sym typeface="Almarai Bold"/>
              </a:rPr>
              <a:t>Una verifica fallita non equivale a un'autorizzazione</a:t>
            </a:r>
          </a:p>
        </p:txBody>
      </p:sp>
      <p:sp>
        <p:nvSpPr>
          <p:cNvPr id="21" name="TextBox 21"/>
          <p:cNvSpPr txBox="1"/>
          <p:nvPr/>
        </p:nvSpPr>
        <p:spPr>
          <a:xfrm>
            <a:off x="9377589" y="2870113"/>
            <a:ext cx="6248043" cy="474345"/>
          </a:xfrm>
          <a:prstGeom prst="rect">
            <a:avLst/>
          </a:prstGeom>
        </p:spPr>
        <p:txBody>
          <a:bodyPr lIns="0" tIns="0" rIns="0" bIns="0" rtlCol="0" anchor="t">
            <a:spAutoFit/>
          </a:bodyPr>
          <a:lstStyle/>
          <a:p>
            <a:pPr algn="ctr">
              <a:lnSpc>
                <a:spcPts val="3600"/>
              </a:lnSpc>
              <a:spcBef>
                <a:spcPct val="0"/>
              </a:spcBef>
            </a:pPr>
            <a:r>
              <a:rPr lang="en-US" sz="3000" b="1">
                <a:solidFill>
                  <a:srgbClr val="17E3B2"/>
                </a:solidFill>
                <a:latin typeface="Almarai Bold"/>
                <a:ea typeface="Almarai Bold"/>
                <a:cs typeface="Almarai Bold"/>
                <a:sym typeface="Almarai Bold"/>
              </a:rPr>
              <a:t>TRADE-OFF SICUREZZA-LATENZA</a:t>
            </a:r>
          </a:p>
        </p:txBody>
      </p:sp>
      <p:grpSp>
        <p:nvGrpSpPr>
          <p:cNvPr id="22" name="Group 22"/>
          <p:cNvGrpSpPr/>
          <p:nvPr/>
        </p:nvGrpSpPr>
        <p:grpSpPr>
          <a:xfrm>
            <a:off x="1348425" y="4171228"/>
            <a:ext cx="6481632" cy="1301369"/>
            <a:chOff x="0" y="0"/>
            <a:chExt cx="1707097" cy="342747"/>
          </a:xfrm>
        </p:grpSpPr>
        <p:sp>
          <p:nvSpPr>
            <p:cNvPr id="23" name="Freeform 23"/>
            <p:cNvSpPr/>
            <p:nvPr/>
          </p:nvSpPr>
          <p:spPr>
            <a:xfrm>
              <a:off x="0" y="0"/>
              <a:ext cx="1707097" cy="342747"/>
            </a:xfrm>
            <a:custGeom>
              <a:avLst/>
              <a:gdLst/>
              <a:ahLst/>
              <a:cxnLst/>
              <a:rect l="l" t="t" r="r" b="b"/>
              <a:pathLst>
                <a:path w="1707097" h="342747">
                  <a:moveTo>
                    <a:pt x="60916" y="0"/>
                  </a:moveTo>
                  <a:lnTo>
                    <a:pt x="1646180" y="0"/>
                  </a:lnTo>
                  <a:cubicBezTo>
                    <a:pt x="1679823" y="0"/>
                    <a:pt x="1707097" y="27273"/>
                    <a:pt x="1707097" y="60916"/>
                  </a:cubicBezTo>
                  <a:lnTo>
                    <a:pt x="1707097" y="281831"/>
                  </a:lnTo>
                  <a:cubicBezTo>
                    <a:pt x="1707097" y="315474"/>
                    <a:pt x="1679823" y="342747"/>
                    <a:pt x="1646180" y="342747"/>
                  </a:cubicBezTo>
                  <a:lnTo>
                    <a:pt x="60916" y="342747"/>
                  </a:lnTo>
                  <a:cubicBezTo>
                    <a:pt x="27273" y="342747"/>
                    <a:pt x="0" y="315474"/>
                    <a:pt x="0" y="281831"/>
                  </a:cubicBezTo>
                  <a:lnTo>
                    <a:pt x="0" y="60916"/>
                  </a:lnTo>
                  <a:cubicBezTo>
                    <a:pt x="0" y="27273"/>
                    <a:pt x="27273" y="0"/>
                    <a:pt x="60916" y="0"/>
                  </a:cubicBezTo>
                  <a:close/>
                </a:path>
              </a:pathLst>
            </a:custGeom>
            <a:solidFill>
              <a:srgbClr val="031E40"/>
            </a:solidFill>
            <a:ln w="38100" cap="rnd">
              <a:solidFill>
                <a:srgbClr val="FFFFFF"/>
              </a:solidFill>
              <a:prstDash val="solid"/>
              <a:round/>
            </a:ln>
          </p:spPr>
          <p:txBody>
            <a:bodyPr/>
            <a:lstStyle/>
            <a:p>
              <a:endParaRPr lang="it-IT"/>
            </a:p>
          </p:txBody>
        </p:sp>
        <p:sp>
          <p:nvSpPr>
            <p:cNvPr id="24" name="TextBox 24"/>
            <p:cNvSpPr txBox="1"/>
            <p:nvPr/>
          </p:nvSpPr>
          <p:spPr>
            <a:xfrm>
              <a:off x="0" y="-47625"/>
              <a:ext cx="1707097" cy="390372"/>
            </a:xfrm>
            <a:prstGeom prst="rect">
              <a:avLst/>
            </a:prstGeom>
          </p:spPr>
          <p:txBody>
            <a:bodyPr lIns="50800" tIns="50800" rIns="50800" bIns="50800" rtlCol="0" anchor="ctr"/>
            <a:lstStyle/>
            <a:p>
              <a:pPr algn="ctr">
                <a:lnSpc>
                  <a:spcPts val="2800"/>
                </a:lnSpc>
              </a:pPr>
              <a:r>
                <a:rPr lang="en-US" sz="2000" b="1">
                  <a:solidFill>
                    <a:srgbClr val="FFFFFF"/>
                  </a:solidFill>
                  <a:latin typeface="Almarai Bold"/>
                  <a:ea typeface="Almarai Bold"/>
                  <a:cs typeface="Almarai Bold"/>
                  <a:sym typeface="Almarai Bold"/>
                </a:rPr>
                <a:t>FAST PATH</a:t>
              </a:r>
            </a:p>
            <a:p>
              <a:pPr algn="ctr">
                <a:lnSpc>
                  <a:spcPts val="2800"/>
                </a:lnSpc>
              </a:pPr>
              <a:r>
                <a:rPr lang="en-US" sz="2000">
                  <a:solidFill>
                    <a:srgbClr val="FF5757"/>
                  </a:solidFill>
                  <a:latin typeface="Almarai"/>
                  <a:ea typeface="Almarai"/>
                  <a:cs typeface="Almarai"/>
                  <a:sym typeface="Almarai"/>
                </a:rPr>
                <a:t> Output non valido / timeout</a:t>
              </a:r>
            </a:p>
            <a:p>
              <a:pPr algn="ctr">
                <a:lnSpc>
                  <a:spcPts val="2800"/>
                </a:lnSpc>
                <a:spcBef>
                  <a:spcPct val="0"/>
                </a:spcBef>
              </a:pPr>
              <a:r>
                <a:rPr lang="en-US" sz="2000">
                  <a:solidFill>
                    <a:srgbClr val="FFFFFF"/>
                  </a:solidFill>
                  <a:latin typeface="Almarai"/>
                  <a:ea typeface="Almarai"/>
                  <a:cs typeface="Almarai"/>
                  <a:sym typeface="Almarai"/>
                </a:rPr>
                <a:t> → Filler statico approvato</a:t>
              </a:r>
            </a:p>
          </p:txBody>
        </p:sp>
      </p:grpSp>
      <p:grpSp>
        <p:nvGrpSpPr>
          <p:cNvPr id="25" name="Group 25"/>
          <p:cNvGrpSpPr/>
          <p:nvPr/>
        </p:nvGrpSpPr>
        <p:grpSpPr>
          <a:xfrm>
            <a:off x="1348425" y="5710722"/>
            <a:ext cx="6481632" cy="1301369"/>
            <a:chOff x="0" y="0"/>
            <a:chExt cx="1707097" cy="342747"/>
          </a:xfrm>
        </p:grpSpPr>
        <p:sp>
          <p:nvSpPr>
            <p:cNvPr id="26" name="Freeform 26"/>
            <p:cNvSpPr/>
            <p:nvPr/>
          </p:nvSpPr>
          <p:spPr>
            <a:xfrm>
              <a:off x="0" y="0"/>
              <a:ext cx="1707097" cy="342747"/>
            </a:xfrm>
            <a:custGeom>
              <a:avLst/>
              <a:gdLst/>
              <a:ahLst/>
              <a:cxnLst/>
              <a:rect l="l" t="t" r="r" b="b"/>
              <a:pathLst>
                <a:path w="1707097" h="342747">
                  <a:moveTo>
                    <a:pt x="60916" y="0"/>
                  </a:moveTo>
                  <a:lnTo>
                    <a:pt x="1646180" y="0"/>
                  </a:lnTo>
                  <a:cubicBezTo>
                    <a:pt x="1679823" y="0"/>
                    <a:pt x="1707097" y="27273"/>
                    <a:pt x="1707097" y="60916"/>
                  </a:cubicBezTo>
                  <a:lnTo>
                    <a:pt x="1707097" y="281831"/>
                  </a:lnTo>
                  <a:cubicBezTo>
                    <a:pt x="1707097" y="315474"/>
                    <a:pt x="1679823" y="342747"/>
                    <a:pt x="1646180" y="342747"/>
                  </a:cubicBezTo>
                  <a:lnTo>
                    <a:pt x="60916" y="342747"/>
                  </a:lnTo>
                  <a:cubicBezTo>
                    <a:pt x="27273" y="342747"/>
                    <a:pt x="0" y="315474"/>
                    <a:pt x="0" y="281831"/>
                  </a:cubicBezTo>
                  <a:lnTo>
                    <a:pt x="0" y="60916"/>
                  </a:lnTo>
                  <a:cubicBezTo>
                    <a:pt x="0" y="27273"/>
                    <a:pt x="27273" y="0"/>
                    <a:pt x="60916" y="0"/>
                  </a:cubicBezTo>
                  <a:close/>
                </a:path>
              </a:pathLst>
            </a:custGeom>
            <a:solidFill>
              <a:srgbClr val="031E40"/>
            </a:solidFill>
            <a:ln w="38100" cap="rnd">
              <a:solidFill>
                <a:srgbClr val="FFFFFF"/>
              </a:solidFill>
              <a:prstDash val="solid"/>
              <a:round/>
            </a:ln>
          </p:spPr>
          <p:txBody>
            <a:bodyPr/>
            <a:lstStyle/>
            <a:p>
              <a:endParaRPr lang="it-IT"/>
            </a:p>
          </p:txBody>
        </p:sp>
        <p:sp>
          <p:nvSpPr>
            <p:cNvPr id="27" name="TextBox 27"/>
            <p:cNvSpPr txBox="1"/>
            <p:nvPr/>
          </p:nvSpPr>
          <p:spPr>
            <a:xfrm>
              <a:off x="0" y="-47625"/>
              <a:ext cx="1707097" cy="390372"/>
            </a:xfrm>
            <a:prstGeom prst="rect">
              <a:avLst/>
            </a:prstGeom>
          </p:spPr>
          <p:txBody>
            <a:bodyPr lIns="50800" tIns="50800" rIns="50800" bIns="50800" rtlCol="0" anchor="ctr"/>
            <a:lstStyle/>
            <a:p>
              <a:pPr algn="ctr">
                <a:lnSpc>
                  <a:spcPts val="2800"/>
                </a:lnSpc>
              </a:pPr>
              <a:r>
                <a:rPr lang="en-US" sz="2000" b="1">
                  <a:solidFill>
                    <a:srgbClr val="FFFFFF"/>
                  </a:solidFill>
                  <a:latin typeface="Almarai Bold"/>
                  <a:ea typeface="Almarai Bold"/>
                  <a:cs typeface="Almarai Bold"/>
                  <a:sym typeface="Almarai Bold"/>
                </a:rPr>
                <a:t>BACKGROUND PATH</a:t>
              </a:r>
            </a:p>
            <a:p>
              <a:pPr algn="ctr">
                <a:lnSpc>
                  <a:spcPts val="2800"/>
                </a:lnSpc>
              </a:pPr>
              <a:r>
                <a:rPr lang="en-US" sz="2000">
                  <a:solidFill>
                    <a:srgbClr val="FF5757"/>
                  </a:solidFill>
                  <a:latin typeface="Almarai"/>
                  <a:ea typeface="Almarai"/>
                  <a:cs typeface="Almarai"/>
                  <a:sym typeface="Almarai"/>
                </a:rPr>
                <a:t> Risposta non validata</a:t>
              </a:r>
            </a:p>
            <a:p>
              <a:pPr algn="ctr">
                <a:lnSpc>
                  <a:spcPts val="2800"/>
                </a:lnSpc>
                <a:spcBef>
                  <a:spcPct val="0"/>
                </a:spcBef>
              </a:pPr>
              <a:r>
                <a:rPr lang="en-US" sz="2000" b="1">
                  <a:solidFill>
                    <a:srgbClr val="FFFFFF"/>
                  </a:solidFill>
                  <a:latin typeface="Almarai Bold"/>
                  <a:ea typeface="Almarai Bold"/>
                  <a:cs typeface="Almarai Bold"/>
                  <a:sym typeface="Almarai Bold"/>
                </a:rPr>
                <a:t> </a:t>
              </a:r>
              <a:r>
                <a:rPr lang="en-US" sz="2000">
                  <a:solidFill>
                    <a:srgbClr val="FFFFFF"/>
                  </a:solidFill>
                  <a:latin typeface="Almarai"/>
                  <a:ea typeface="Almarai"/>
                  <a:cs typeface="Almarai"/>
                  <a:sym typeface="Almarai"/>
                </a:rPr>
                <a:t>→ Nessuna sintesi audio/video</a:t>
              </a:r>
            </a:p>
          </p:txBody>
        </p:sp>
      </p:grpSp>
      <p:grpSp>
        <p:nvGrpSpPr>
          <p:cNvPr id="28" name="Group 28"/>
          <p:cNvGrpSpPr/>
          <p:nvPr/>
        </p:nvGrpSpPr>
        <p:grpSpPr>
          <a:xfrm>
            <a:off x="1395508" y="7249337"/>
            <a:ext cx="6481632" cy="1286243"/>
            <a:chOff x="0" y="0"/>
            <a:chExt cx="1707097" cy="338764"/>
          </a:xfrm>
        </p:grpSpPr>
        <p:sp>
          <p:nvSpPr>
            <p:cNvPr id="29" name="Freeform 29"/>
            <p:cNvSpPr/>
            <p:nvPr/>
          </p:nvSpPr>
          <p:spPr>
            <a:xfrm>
              <a:off x="0" y="0"/>
              <a:ext cx="1707097" cy="338764"/>
            </a:xfrm>
            <a:custGeom>
              <a:avLst/>
              <a:gdLst/>
              <a:ahLst/>
              <a:cxnLst/>
              <a:rect l="l" t="t" r="r" b="b"/>
              <a:pathLst>
                <a:path w="1707097" h="338764">
                  <a:moveTo>
                    <a:pt x="60916" y="0"/>
                  </a:moveTo>
                  <a:lnTo>
                    <a:pt x="1646180" y="0"/>
                  </a:lnTo>
                  <a:cubicBezTo>
                    <a:pt x="1679823" y="0"/>
                    <a:pt x="1707097" y="27273"/>
                    <a:pt x="1707097" y="60916"/>
                  </a:cubicBezTo>
                  <a:lnTo>
                    <a:pt x="1707097" y="277847"/>
                  </a:lnTo>
                  <a:cubicBezTo>
                    <a:pt x="1707097" y="311490"/>
                    <a:pt x="1679823" y="338764"/>
                    <a:pt x="1646180" y="338764"/>
                  </a:cubicBezTo>
                  <a:lnTo>
                    <a:pt x="60916" y="338764"/>
                  </a:lnTo>
                  <a:cubicBezTo>
                    <a:pt x="27273" y="338764"/>
                    <a:pt x="0" y="311490"/>
                    <a:pt x="0" y="277847"/>
                  </a:cubicBezTo>
                  <a:lnTo>
                    <a:pt x="0" y="60916"/>
                  </a:lnTo>
                  <a:cubicBezTo>
                    <a:pt x="0" y="27273"/>
                    <a:pt x="27273" y="0"/>
                    <a:pt x="60916" y="0"/>
                  </a:cubicBezTo>
                  <a:close/>
                </a:path>
              </a:pathLst>
            </a:custGeom>
            <a:solidFill>
              <a:srgbClr val="031E40"/>
            </a:solidFill>
            <a:ln w="38100" cap="rnd">
              <a:solidFill>
                <a:srgbClr val="FFFFFF"/>
              </a:solidFill>
              <a:prstDash val="solid"/>
              <a:round/>
            </a:ln>
          </p:spPr>
          <p:txBody>
            <a:bodyPr/>
            <a:lstStyle/>
            <a:p>
              <a:endParaRPr lang="it-IT"/>
            </a:p>
          </p:txBody>
        </p:sp>
        <p:sp>
          <p:nvSpPr>
            <p:cNvPr id="30" name="TextBox 30"/>
            <p:cNvSpPr txBox="1"/>
            <p:nvPr/>
          </p:nvSpPr>
          <p:spPr>
            <a:xfrm>
              <a:off x="0" y="-47625"/>
              <a:ext cx="1707097" cy="386389"/>
            </a:xfrm>
            <a:prstGeom prst="rect">
              <a:avLst/>
            </a:prstGeom>
          </p:spPr>
          <p:txBody>
            <a:bodyPr lIns="50800" tIns="50800" rIns="50800" bIns="50800" rtlCol="0" anchor="ctr"/>
            <a:lstStyle/>
            <a:p>
              <a:pPr algn="ctr">
                <a:lnSpc>
                  <a:spcPts val="2800"/>
                </a:lnSpc>
              </a:pPr>
              <a:r>
                <a:rPr lang="en-US" sz="2000" b="1">
                  <a:solidFill>
                    <a:srgbClr val="FFFFFF"/>
                  </a:solidFill>
                  <a:latin typeface="Open Sans Bold"/>
                  <a:ea typeface="Open Sans Bold"/>
                  <a:cs typeface="Open Sans Bold"/>
                  <a:sym typeface="Open Sans Bold"/>
                </a:rPr>
                <a:t>CONTROL PLANE &amp; MEMORIA</a:t>
              </a:r>
            </a:p>
            <a:p>
              <a:pPr algn="ctr">
                <a:lnSpc>
                  <a:spcPts val="2800"/>
                </a:lnSpc>
              </a:pPr>
              <a:r>
                <a:rPr lang="en-US" sz="2000">
                  <a:solidFill>
                    <a:srgbClr val="FF5757"/>
                  </a:solidFill>
                  <a:latin typeface="Open Sans"/>
                  <a:ea typeface="Open Sans"/>
                  <a:cs typeface="Open Sans"/>
                  <a:sym typeface="Open Sans"/>
                </a:rPr>
                <a:t> Messaggio o aggiornamento non valido</a:t>
              </a:r>
            </a:p>
            <a:p>
              <a:pPr algn="ctr">
                <a:lnSpc>
                  <a:spcPts val="2800"/>
                </a:lnSpc>
                <a:spcBef>
                  <a:spcPct val="0"/>
                </a:spcBef>
              </a:pPr>
              <a:r>
                <a:rPr lang="en-US" sz="2000">
                  <a:solidFill>
                    <a:srgbClr val="FFFFFF"/>
                  </a:solidFill>
                  <a:latin typeface="Almarai"/>
                  <a:ea typeface="Almarai"/>
                  <a:cs typeface="Almarai"/>
                  <a:sym typeface="Almarai"/>
                </a:rPr>
                <a:t> → Nessuna transizione / nessuna promozione nella KB</a:t>
              </a:r>
            </a:p>
          </p:txBody>
        </p:sp>
      </p:grpSp>
      <p:grpSp>
        <p:nvGrpSpPr>
          <p:cNvPr id="31" name="Group 31"/>
          <p:cNvGrpSpPr/>
          <p:nvPr/>
        </p:nvGrpSpPr>
        <p:grpSpPr>
          <a:xfrm>
            <a:off x="9260795" y="3344458"/>
            <a:ext cx="6481632" cy="2227037"/>
            <a:chOff x="0" y="0"/>
            <a:chExt cx="1707097" cy="586545"/>
          </a:xfrm>
        </p:grpSpPr>
        <p:sp>
          <p:nvSpPr>
            <p:cNvPr id="32" name="Freeform 32"/>
            <p:cNvSpPr/>
            <p:nvPr/>
          </p:nvSpPr>
          <p:spPr>
            <a:xfrm>
              <a:off x="0" y="0"/>
              <a:ext cx="1707097" cy="586545"/>
            </a:xfrm>
            <a:custGeom>
              <a:avLst/>
              <a:gdLst/>
              <a:ahLst/>
              <a:cxnLst/>
              <a:rect l="l" t="t" r="r" b="b"/>
              <a:pathLst>
                <a:path w="1707097" h="586545">
                  <a:moveTo>
                    <a:pt x="60916" y="0"/>
                  </a:moveTo>
                  <a:lnTo>
                    <a:pt x="1646180" y="0"/>
                  </a:lnTo>
                  <a:cubicBezTo>
                    <a:pt x="1679823" y="0"/>
                    <a:pt x="1707097" y="27273"/>
                    <a:pt x="1707097" y="60916"/>
                  </a:cubicBezTo>
                  <a:lnTo>
                    <a:pt x="1707097" y="525628"/>
                  </a:lnTo>
                  <a:cubicBezTo>
                    <a:pt x="1707097" y="559272"/>
                    <a:pt x="1679823" y="586545"/>
                    <a:pt x="1646180" y="586545"/>
                  </a:cubicBezTo>
                  <a:lnTo>
                    <a:pt x="60916" y="586545"/>
                  </a:lnTo>
                  <a:cubicBezTo>
                    <a:pt x="27273" y="586545"/>
                    <a:pt x="0" y="559272"/>
                    <a:pt x="0" y="525628"/>
                  </a:cubicBezTo>
                  <a:lnTo>
                    <a:pt x="0" y="60916"/>
                  </a:lnTo>
                  <a:cubicBezTo>
                    <a:pt x="0" y="27273"/>
                    <a:pt x="27273" y="0"/>
                    <a:pt x="60916" y="0"/>
                  </a:cubicBezTo>
                  <a:close/>
                </a:path>
              </a:pathLst>
            </a:custGeom>
            <a:solidFill>
              <a:srgbClr val="031E40"/>
            </a:solidFill>
            <a:ln w="38100" cap="rnd">
              <a:solidFill>
                <a:srgbClr val="FFFFFF"/>
              </a:solidFill>
              <a:prstDash val="solid"/>
              <a:round/>
            </a:ln>
          </p:spPr>
          <p:txBody>
            <a:bodyPr/>
            <a:lstStyle/>
            <a:p>
              <a:endParaRPr lang="it-IT"/>
            </a:p>
          </p:txBody>
        </p:sp>
        <p:sp>
          <p:nvSpPr>
            <p:cNvPr id="33" name="TextBox 33"/>
            <p:cNvSpPr txBox="1"/>
            <p:nvPr/>
          </p:nvSpPr>
          <p:spPr>
            <a:xfrm>
              <a:off x="0" y="-38100"/>
              <a:ext cx="1707097" cy="624645"/>
            </a:xfrm>
            <a:prstGeom prst="rect">
              <a:avLst/>
            </a:prstGeom>
          </p:spPr>
          <p:txBody>
            <a:bodyPr lIns="50800" tIns="50800" rIns="50800" bIns="50800" rtlCol="0" anchor="ctr"/>
            <a:lstStyle/>
            <a:p>
              <a:pPr algn="ctr">
                <a:lnSpc>
                  <a:spcPts val="2659"/>
                </a:lnSpc>
              </a:pPr>
              <a:r>
                <a:rPr lang="en-US" sz="1899" b="1">
                  <a:solidFill>
                    <a:srgbClr val="FFFFFF"/>
                  </a:solidFill>
                  <a:latin typeface="Open Sans Bold"/>
                  <a:ea typeface="Open Sans Bold"/>
                  <a:cs typeface="Open Sans Bold"/>
                  <a:sym typeface="Open Sans Bold"/>
                </a:rPr>
                <a:t>FAST PATH — &lt; 800 ms</a:t>
              </a:r>
            </a:p>
            <a:p>
              <a:pPr algn="l">
                <a:lnSpc>
                  <a:spcPts val="2659"/>
                </a:lnSpc>
              </a:pPr>
              <a:r>
                <a:rPr lang="en-US" sz="1899">
                  <a:solidFill>
                    <a:srgbClr val="FFFFFF"/>
                  </a:solidFill>
                  <a:latin typeface="Open Sans"/>
                  <a:ea typeface="Open Sans"/>
                  <a:cs typeface="Open Sans"/>
                  <a:sym typeface="Open Sans"/>
                </a:rPr>
                <a:t>Controlli sincroni e leggeri</a:t>
              </a:r>
            </a:p>
            <a:p>
              <a:pPr marL="410209" lvl="1" indent="-205105" algn="l">
                <a:lnSpc>
                  <a:spcPts val="2659"/>
                </a:lnSpc>
                <a:buFont typeface="Arial"/>
                <a:buChar char="•"/>
              </a:pPr>
              <a:r>
                <a:rPr lang="en-US" sz="1899">
                  <a:solidFill>
                    <a:srgbClr val="FFFFFF"/>
                  </a:solidFill>
                  <a:latin typeface="Open Sans"/>
                  <a:ea typeface="Open Sans"/>
                  <a:cs typeface="Open Sans"/>
                  <a:sym typeface="Open Sans"/>
                </a:rPr>
                <a:t>Session / Job binding</a:t>
              </a:r>
            </a:p>
            <a:p>
              <a:pPr marL="410209" lvl="1" indent="-205105" algn="l">
                <a:lnSpc>
                  <a:spcPts val="2659"/>
                </a:lnSpc>
                <a:buFont typeface="Arial"/>
                <a:buChar char="•"/>
              </a:pPr>
              <a:r>
                <a:rPr lang="en-US" sz="1899">
                  <a:solidFill>
                    <a:srgbClr val="FFFFFF"/>
                  </a:solidFill>
                  <a:latin typeface="Open Sans"/>
                  <a:ea typeface="Open Sans"/>
                  <a:cs typeface="Open Sans"/>
                  <a:sym typeface="Open Sans"/>
                </a:rPr>
                <a:t>Validazione schema ed enum</a:t>
              </a:r>
            </a:p>
            <a:p>
              <a:pPr marL="410209" lvl="1" indent="-205105" algn="l">
                <a:lnSpc>
                  <a:spcPts val="2659"/>
                </a:lnSpc>
                <a:buFont typeface="Arial"/>
                <a:buChar char="•"/>
              </a:pPr>
              <a:r>
                <a:rPr lang="en-US" sz="1899">
                  <a:solidFill>
                    <a:srgbClr val="FFFFFF"/>
                  </a:solidFill>
                  <a:latin typeface="Open Sans"/>
                  <a:ea typeface="Open Sans"/>
                  <a:cs typeface="Open Sans"/>
                  <a:sym typeface="Open Sans"/>
                </a:rPr>
                <a:t>Sequence number e stato</a:t>
              </a:r>
            </a:p>
            <a:p>
              <a:pPr marL="410209" lvl="1" indent="-205105" algn="l">
                <a:lnSpc>
                  <a:spcPts val="2659"/>
                </a:lnSpc>
                <a:spcBef>
                  <a:spcPct val="0"/>
                </a:spcBef>
                <a:buFont typeface="Arial"/>
                <a:buChar char="•"/>
              </a:pPr>
              <a:r>
                <a:rPr lang="en-US" sz="1899">
                  <a:solidFill>
                    <a:srgbClr val="FFFFFF"/>
                  </a:solidFill>
                  <a:latin typeface="Open Sans"/>
                  <a:ea typeface="Open Sans"/>
                  <a:cs typeface="Open Sans"/>
                  <a:sym typeface="Open Sans"/>
                </a:rPr>
                <a:t>Controllo leggero della goal integrity</a:t>
              </a:r>
            </a:p>
          </p:txBody>
        </p:sp>
      </p:grpSp>
      <p:grpSp>
        <p:nvGrpSpPr>
          <p:cNvPr id="34" name="Group 34"/>
          <p:cNvGrpSpPr/>
          <p:nvPr/>
        </p:nvGrpSpPr>
        <p:grpSpPr>
          <a:xfrm>
            <a:off x="9260795" y="5571496"/>
            <a:ext cx="6481632" cy="1877644"/>
            <a:chOff x="0" y="0"/>
            <a:chExt cx="1707097" cy="494524"/>
          </a:xfrm>
        </p:grpSpPr>
        <p:sp>
          <p:nvSpPr>
            <p:cNvPr id="35" name="Freeform 35"/>
            <p:cNvSpPr/>
            <p:nvPr/>
          </p:nvSpPr>
          <p:spPr>
            <a:xfrm>
              <a:off x="0" y="0"/>
              <a:ext cx="1707097" cy="494524"/>
            </a:xfrm>
            <a:custGeom>
              <a:avLst/>
              <a:gdLst/>
              <a:ahLst/>
              <a:cxnLst/>
              <a:rect l="l" t="t" r="r" b="b"/>
              <a:pathLst>
                <a:path w="1707097" h="494524">
                  <a:moveTo>
                    <a:pt x="60916" y="0"/>
                  </a:moveTo>
                  <a:lnTo>
                    <a:pt x="1646180" y="0"/>
                  </a:lnTo>
                  <a:cubicBezTo>
                    <a:pt x="1679823" y="0"/>
                    <a:pt x="1707097" y="27273"/>
                    <a:pt x="1707097" y="60916"/>
                  </a:cubicBezTo>
                  <a:lnTo>
                    <a:pt x="1707097" y="433607"/>
                  </a:lnTo>
                  <a:cubicBezTo>
                    <a:pt x="1707097" y="467250"/>
                    <a:pt x="1679823" y="494524"/>
                    <a:pt x="1646180" y="494524"/>
                  </a:cubicBezTo>
                  <a:lnTo>
                    <a:pt x="60916" y="494524"/>
                  </a:lnTo>
                  <a:cubicBezTo>
                    <a:pt x="27273" y="494524"/>
                    <a:pt x="0" y="467250"/>
                    <a:pt x="0" y="433607"/>
                  </a:cubicBezTo>
                  <a:lnTo>
                    <a:pt x="0" y="60916"/>
                  </a:lnTo>
                  <a:cubicBezTo>
                    <a:pt x="0" y="27273"/>
                    <a:pt x="27273" y="0"/>
                    <a:pt x="60916" y="0"/>
                  </a:cubicBezTo>
                  <a:close/>
                </a:path>
              </a:pathLst>
            </a:custGeom>
            <a:solidFill>
              <a:srgbClr val="031E40"/>
            </a:solidFill>
            <a:ln w="38100" cap="rnd">
              <a:solidFill>
                <a:srgbClr val="FFFFFF"/>
              </a:solidFill>
              <a:prstDash val="solid"/>
              <a:round/>
            </a:ln>
          </p:spPr>
          <p:txBody>
            <a:bodyPr/>
            <a:lstStyle/>
            <a:p>
              <a:endParaRPr lang="it-IT"/>
            </a:p>
          </p:txBody>
        </p:sp>
        <p:sp>
          <p:nvSpPr>
            <p:cNvPr id="36" name="TextBox 36"/>
            <p:cNvSpPr txBox="1"/>
            <p:nvPr/>
          </p:nvSpPr>
          <p:spPr>
            <a:xfrm>
              <a:off x="0" y="-38100"/>
              <a:ext cx="1707097" cy="532624"/>
            </a:xfrm>
            <a:prstGeom prst="rect">
              <a:avLst/>
            </a:prstGeom>
          </p:spPr>
          <p:txBody>
            <a:bodyPr lIns="50800" tIns="50800" rIns="50800" bIns="50800" rtlCol="0" anchor="ctr"/>
            <a:lstStyle/>
            <a:p>
              <a:pPr algn="ctr">
                <a:lnSpc>
                  <a:spcPts val="2659"/>
                </a:lnSpc>
              </a:pPr>
              <a:r>
                <a:rPr lang="en-US" sz="1899" b="1">
                  <a:solidFill>
                    <a:srgbClr val="FFFFFF"/>
                  </a:solidFill>
                  <a:latin typeface="Open Sans Bold"/>
                  <a:ea typeface="Open Sans Bold"/>
                  <a:cs typeface="Open Sans Bold"/>
                  <a:sym typeface="Open Sans Bold"/>
                </a:rPr>
                <a:t>BACKGROUND PATH</a:t>
              </a:r>
            </a:p>
            <a:p>
              <a:pPr algn="l">
                <a:lnSpc>
                  <a:spcPts val="2659"/>
                </a:lnSpc>
              </a:pPr>
              <a:r>
                <a:rPr lang="en-US" sz="1899">
                  <a:solidFill>
                    <a:srgbClr val="FFFFFF"/>
                  </a:solidFill>
                  <a:latin typeface="Open Sans"/>
                  <a:ea typeface="Open Sans"/>
                  <a:cs typeface="Open Sans"/>
                  <a:sym typeface="Open Sans"/>
                </a:rPr>
                <a:t>Controlli più approfonditi</a:t>
              </a:r>
            </a:p>
            <a:p>
              <a:pPr marL="410209" lvl="1" indent="-205105" algn="l">
                <a:lnSpc>
                  <a:spcPts val="2659"/>
                </a:lnSpc>
                <a:buFont typeface="Arial"/>
                <a:buChar char="•"/>
              </a:pPr>
              <a:r>
                <a:rPr lang="en-US" sz="1899">
                  <a:solidFill>
                    <a:srgbClr val="FFFFFF"/>
                  </a:solidFill>
                  <a:latin typeface="Open Sans"/>
                  <a:ea typeface="Open Sans"/>
                  <a:cs typeface="Open Sans"/>
                  <a:sym typeface="Open Sans"/>
                </a:rPr>
                <a:t>Validazione del contesto RAG</a:t>
              </a:r>
            </a:p>
            <a:p>
              <a:pPr marL="410209" lvl="1" indent="-205105" algn="l">
                <a:lnSpc>
                  <a:spcPts val="2659"/>
                </a:lnSpc>
                <a:buFont typeface="Arial"/>
                <a:buChar char="•"/>
              </a:pPr>
              <a:r>
                <a:rPr lang="en-US" sz="1899">
                  <a:solidFill>
                    <a:srgbClr val="FFFFFF"/>
                  </a:solidFill>
                  <a:latin typeface="Open Sans"/>
                  <a:ea typeface="Open Sans"/>
                  <a:cs typeface="Open Sans"/>
                  <a:sym typeface="Open Sans"/>
                </a:rPr>
                <a:t>Deep Output Guard</a:t>
              </a:r>
            </a:p>
            <a:p>
              <a:pPr marL="410209" lvl="1" indent="-205105" algn="l">
                <a:lnSpc>
                  <a:spcPts val="2659"/>
                </a:lnSpc>
                <a:spcBef>
                  <a:spcPct val="0"/>
                </a:spcBef>
                <a:buFont typeface="Arial"/>
                <a:buChar char="•"/>
              </a:pPr>
              <a:r>
                <a:rPr lang="en-US" sz="1899">
                  <a:solidFill>
                    <a:srgbClr val="FFFFFF"/>
                  </a:solidFill>
                  <a:latin typeface="Open Sans"/>
                  <a:ea typeface="Open Sans"/>
                  <a:cs typeface="Open Sans"/>
                  <a:sym typeface="Open Sans"/>
                </a:rPr>
                <a:t>Controlli semantici</a:t>
              </a:r>
            </a:p>
          </p:txBody>
        </p:sp>
      </p:grpSp>
      <p:grpSp>
        <p:nvGrpSpPr>
          <p:cNvPr id="37" name="Group 37"/>
          <p:cNvGrpSpPr/>
          <p:nvPr/>
        </p:nvGrpSpPr>
        <p:grpSpPr>
          <a:xfrm>
            <a:off x="9260795" y="7449140"/>
            <a:ext cx="6481632" cy="1544269"/>
            <a:chOff x="0" y="0"/>
            <a:chExt cx="1707097" cy="406721"/>
          </a:xfrm>
        </p:grpSpPr>
        <p:sp>
          <p:nvSpPr>
            <p:cNvPr id="38" name="Freeform 38"/>
            <p:cNvSpPr/>
            <p:nvPr/>
          </p:nvSpPr>
          <p:spPr>
            <a:xfrm>
              <a:off x="0" y="0"/>
              <a:ext cx="1707097" cy="406721"/>
            </a:xfrm>
            <a:custGeom>
              <a:avLst/>
              <a:gdLst/>
              <a:ahLst/>
              <a:cxnLst/>
              <a:rect l="l" t="t" r="r" b="b"/>
              <a:pathLst>
                <a:path w="1707097" h="406721">
                  <a:moveTo>
                    <a:pt x="60916" y="0"/>
                  </a:moveTo>
                  <a:lnTo>
                    <a:pt x="1646180" y="0"/>
                  </a:lnTo>
                  <a:cubicBezTo>
                    <a:pt x="1679823" y="0"/>
                    <a:pt x="1707097" y="27273"/>
                    <a:pt x="1707097" y="60916"/>
                  </a:cubicBezTo>
                  <a:lnTo>
                    <a:pt x="1707097" y="345805"/>
                  </a:lnTo>
                  <a:cubicBezTo>
                    <a:pt x="1707097" y="379448"/>
                    <a:pt x="1679823" y="406721"/>
                    <a:pt x="1646180" y="406721"/>
                  </a:cubicBezTo>
                  <a:lnTo>
                    <a:pt x="60916" y="406721"/>
                  </a:lnTo>
                  <a:cubicBezTo>
                    <a:pt x="27273" y="406721"/>
                    <a:pt x="0" y="379448"/>
                    <a:pt x="0" y="345805"/>
                  </a:cubicBezTo>
                  <a:lnTo>
                    <a:pt x="0" y="60916"/>
                  </a:lnTo>
                  <a:cubicBezTo>
                    <a:pt x="0" y="27273"/>
                    <a:pt x="27273" y="0"/>
                    <a:pt x="60916" y="0"/>
                  </a:cubicBezTo>
                  <a:close/>
                </a:path>
              </a:pathLst>
            </a:custGeom>
            <a:solidFill>
              <a:srgbClr val="031E40"/>
            </a:solidFill>
            <a:ln w="38100" cap="rnd">
              <a:solidFill>
                <a:srgbClr val="FFFFFF"/>
              </a:solidFill>
              <a:prstDash val="solid"/>
              <a:round/>
            </a:ln>
          </p:spPr>
          <p:txBody>
            <a:bodyPr/>
            <a:lstStyle/>
            <a:p>
              <a:endParaRPr lang="it-IT"/>
            </a:p>
          </p:txBody>
        </p:sp>
        <p:sp>
          <p:nvSpPr>
            <p:cNvPr id="39" name="TextBox 39"/>
            <p:cNvSpPr txBox="1"/>
            <p:nvPr/>
          </p:nvSpPr>
          <p:spPr>
            <a:xfrm>
              <a:off x="0" y="-38100"/>
              <a:ext cx="1707097" cy="444821"/>
            </a:xfrm>
            <a:prstGeom prst="rect">
              <a:avLst/>
            </a:prstGeom>
          </p:spPr>
          <p:txBody>
            <a:bodyPr lIns="50800" tIns="50800" rIns="50800" bIns="50800" rtlCol="0" anchor="ctr"/>
            <a:lstStyle/>
            <a:p>
              <a:pPr algn="ctr">
                <a:lnSpc>
                  <a:spcPts val="2659"/>
                </a:lnSpc>
              </a:pPr>
              <a:r>
                <a:rPr lang="en-US" sz="1899" b="1">
                  <a:solidFill>
                    <a:srgbClr val="FFFFFF"/>
                  </a:solidFill>
                  <a:latin typeface="Open Sans Bold"/>
                  <a:ea typeface="Open Sans Bold"/>
                  <a:cs typeface="Open Sans Bold"/>
                  <a:sym typeface="Open Sans Bold"/>
                </a:rPr>
                <a:t>ASINCRONO / OFFLINE</a:t>
              </a:r>
            </a:p>
            <a:p>
              <a:pPr algn="just">
                <a:lnSpc>
                  <a:spcPts val="2659"/>
                </a:lnSpc>
              </a:pPr>
              <a:r>
                <a:rPr lang="en-US" sz="1899">
                  <a:solidFill>
                    <a:srgbClr val="FFFFFF"/>
                  </a:solidFill>
                  <a:latin typeface="Open Sans"/>
                  <a:ea typeface="Open Sans"/>
                  <a:cs typeface="Open Sans"/>
                  <a:sym typeface="Open Sans"/>
                </a:rPr>
                <a:t>Fuori dal percorso critico</a:t>
              </a:r>
            </a:p>
            <a:p>
              <a:pPr marL="410209" lvl="1" indent="-205105" algn="just">
                <a:lnSpc>
                  <a:spcPts val="2659"/>
                </a:lnSpc>
                <a:buFont typeface="Arial"/>
                <a:buChar char="•"/>
              </a:pPr>
              <a:r>
                <a:rPr lang="en-US" sz="1899">
                  <a:solidFill>
                    <a:srgbClr val="FFFFFF"/>
                  </a:solidFill>
                  <a:latin typeface="Open Sans"/>
                  <a:ea typeface="Open Sans"/>
                  <a:cs typeface="Open Sans"/>
                  <a:sym typeface="Open Sans"/>
                </a:rPr>
                <a:t>Audit e anomaly detection, HITL, SBOM / AIBOM</a:t>
              </a:r>
            </a:p>
            <a:p>
              <a:pPr marL="410209" lvl="1" indent="-205105" algn="just">
                <a:lnSpc>
                  <a:spcPts val="2659"/>
                </a:lnSpc>
                <a:spcBef>
                  <a:spcPct val="0"/>
                </a:spcBef>
                <a:buFont typeface="Arial"/>
                <a:buChar char="•"/>
              </a:pPr>
              <a:r>
                <a:rPr lang="en-US" sz="1899">
                  <a:solidFill>
                    <a:srgbClr val="FFFFFF"/>
                  </a:solidFill>
                  <a:latin typeface="Open Sans"/>
                  <a:ea typeface="Open Sans"/>
                  <a:cs typeface="Open Sans"/>
                  <a:sym typeface="Open Sans"/>
                </a:rPr>
                <a:t>Vulnerability scanning, Red teaming</a:t>
              </a:r>
            </a:p>
          </p:txBody>
        </p:sp>
      </p:grpSp>
      <p:sp>
        <p:nvSpPr>
          <p:cNvPr id="40" name="TextBox 40"/>
          <p:cNvSpPr txBox="1"/>
          <p:nvPr/>
        </p:nvSpPr>
        <p:spPr>
          <a:xfrm>
            <a:off x="8894202" y="8945784"/>
            <a:ext cx="7214816" cy="860425"/>
          </a:xfrm>
          <a:prstGeom prst="rect">
            <a:avLst/>
          </a:prstGeom>
        </p:spPr>
        <p:txBody>
          <a:bodyPr lIns="0" tIns="0" rIns="0" bIns="0" rtlCol="0" anchor="t">
            <a:spAutoFit/>
          </a:bodyPr>
          <a:lstStyle/>
          <a:p>
            <a:pPr algn="ctr">
              <a:lnSpc>
                <a:spcPts val="3499"/>
              </a:lnSpc>
              <a:spcBef>
                <a:spcPct val="0"/>
              </a:spcBef>
            </a:pPr>
            <a:r>
              <a:rPr lang="en-US" sz="2499">
                <a:solidFill>
                  <a:srgbClr val="17E3B2"/>
                </a:solidFill>
                <a:latin typeface="Almarai"/>
                <a:ea typeface="Almarai"/>
                <a:cs typeface="Almarai"/>
                <a:sym typeface="Almarai"/>
              </a:rPr>
              <a:t>La latenza si ottimizza collocando correttamente i controlli, non eliminandoli.</a:t>
            </a:r>
          </a:p>
        </p:txBody>
      </p:sp>
      <p:sp>
        <p:nvSpPr>
          <p:cNvPr id="43" name="Text 59">
            <a:extLst>
              <a:ext uri="{FF2B5EF4-FFF2-40B4-BE49-F238E27FC236}">
                <a16:creationId xmlns:a16="http://schemas.microsoft.com/office/drawing/2014/main" id="{4A2F103B-687E-73C1-35F5-4FC7F180CD9F}"/>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17</a:t>
            </a:r>
            <a:endParaRPr lang="en-US" sz="157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TextBox 10"/>
          <p:cNvSpPr txBox="1"/>
          <p:nvPr/>
        </p:nvSpPr>
        <p:spPr>
          <a:xfrm>
            <a:off x="2776394" y="1467525"/>
            <a:ext cx="12704788"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VALIDAZIONE SPERIMENTALE</a:t>
            </a:r>
          </a:p>
        </p:txBody>
      </p:sp>
      <p:sp>
        <p:nvSpPr>
          <p:cNvPr id="11" name="TextBox 11"/>
          <p:cNvSpPr txBox="1"/>
          <p:nvPr/>
        </p:nvSpPr>
        <p:spPr>
          <a:xfrm>
            <a:off x="1768405" y="2819923"/>
            <a:ext cx="7555373" cy="724572"/>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Obiettivo</a:t>
            </a:r>
          </a:p>
        </p:txBody>
      </p:sp>
      <p:sp>
        <p:nvSpPr>
          <p:cNvPr id="12" name="TextBox 12"/>
          <p:cNvSpPr txBox="1"/>
          <p:nvPr/>
        </p:nvSpPr>
        <p:spPr>
          <a:xfrm>
            <a:off x="1768405" y="3686461"/>
            <a:ext cx="14555022" cy="799204"/>
          </a:xfrm>
          <a:prstGeom prst="rect">
            <a:avLst/>
          </a:prstGeom>
        </p:spPr>
        <p:txBody>
          <a:bodyPr lIns="0" tIns="0" rIns="0" bIns="0" rtlCol="0" anchor="t">
            <a:spAutoFit/>
          </a:bodyPr>
          <a:lstStyle/>
          <a:p>
            <a:pPr algn="l">
              <a:lnSpc>
                <a:spcPts val="2759"/>
              </a:lnSpc>
            </a:pPr>
            <a:r>
              <a:rPr lang="en-US" sz="1999">
                <a:solidFill>
                  <a:srgbClr val="FFFFFF"/>
                </a:solidFill>
                <a:latin typeface="Almarai"/>
                <a:ea typeface="Almarai"/>
                <a:cs typeface="Almarai"/>
                <a:sym typeface="Almarai"/>
              </a:rPr>
              <a:t>Verificare empiricamente se i controlli introdotti spezzino le catene d'attacco dei cinque scenari prioritari, evitando di assumere a priori l'efficacia delle mitigazioni progettate.</a:t>
            </a:r>
          </a:p>
        </p:txBody>
      </p:sp>
      <p:sp>
        <p:nvSpPr>
          <p:cNvPr id="13" name="TextBox 13"/>
          <p:cNvSpPr txBox="1"/>
          <p:nvPr/>
        </p:nvSpPr>
        <p:spPr>
          <a:xfrm>
            <a:off x="1028700" y="1480657"/>
            <a:ext cx="1456246" cy="850434"/>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11</a:t>
            </a:r>
          </a:p>
        </p:txBody>
      </p:sp>
      <p:sp>
        <p:nvSpPr>
          <p:cNvPr id="14" name="TextBox 14"/>
          <p:cNvSpPr txBox="1"/>
          <p:nvPr/>
        </p:nvSpPr>
        <p:spPr>
          <a:xfrm>
            <a:off x="1756823" y="4742840"/>
            <a:ext cx="7555373" cy="724572"/>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Metodologia</a:t>
            </a:r>
          </a:p>
        </p:txBody>
      </p:sp>
      <p:sp>
        <p:nvSpPr>
          <p:cNvPr id="15" name="TextBox 15"/>
          <p:cNvSpPr txBox="1"/>
          <p:nvPr/>
        </p:nvSpPr>
        <p:spPr>
          <a:xfrm>
            <a:off x="1756823" y="5609378"/>
            <a:ext cx="14555022" cy="1202615"/>
          </a:xfrm>
          <a:prstGeom prst="rect">
            <a:avLst/>
          </a:prstGeom>
        </p:spPr>
        <p:txBody>
          <a:bodyPr lIns="0" tIns="0" rIns="0" bIns="0" rtlCol="0" anchor="t">
            <a:spAutoFit/>
          </a:bodyPr>
          <a:lstStyle/>
          <a:p>
            <a:pPr algn="l">
              <a:lnSpc>
                <a:spcPts val="2759"/>
              </a:lnSpc>
            </a:pPr>
            <a:r>
              <a:rPr lang="en-US" sz="1999">
                <a:solidFill>
                  <a:srgbClr val="FFFFFF"/>
                </a:solidFill>
                <a:latin typeface="Almarai"/>
                <a:ea typeface="Almarai"/>
                <a:cs typeface="Almarai"/>
                <a:sym typeface="Almarai"/>
              </a:rPr>
              <a:t>Esecuzione dei test in un ambiente isolato e versionato (modelli, prompt, KB e policy). Si adotta una verifica diretta delle proprietà attese per i controlli deterministici e una valutazione comparativa tra la configurazione protetta e la baseline priva di difese per quelli probabilistici.</a:t>
            </a:r>
          </a:p>
        </p:txBody>
      </p:sp>
      <p:sp>
        <p:nvSpPr>
          <p:cNvPr id="16" name="TextBox 16"/>
          <p:cNvSpPr txBox="1"/>
          <p:nvPr/>
        </p:nvSpPr>
        <p:spPr>
          <a:xfrm>
            <a:off x="1756823" y="7069169"/>
            <a:ext cx="10084969" cy="724572"/>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Metriche e Criteri di Accettazione</a:t>
            </a:r>
          </a:p>
        </p:txBody>
      </p:sp>
      <p:sp>
        <p:nvSpPr>
          <p:cNvPr id="17" name="TextBox 17"/>
          <p:cNvSpPr txBox="1"/>
          <p:nvPr/>
        </p:nvSpPr>
        <p:spPr>
          <a:xfrm>
            <a:off x="1756823" y="7935707"/>
            <a:ext cx="14555022" cy="1202615"/>
          </a:xfrm>
          <a:prstGeom prst="rect">
            <a:avLst/>
          </a:prstGeom>
        </p:spPr>
        <p:txBody>
          <a:bodyPr lIns="0" tIns="0" rIns="0" bIns="0" rtlCol="0" anchor="t">
            <a:spAutoFit/>
          </a:bodyPr>
          <a:lstStyle/>
          <a:p>
            <a:pPr algn="l">
              <a:lnSpc>
                <a:spcPts val="2759"/>
              </a:lnSpc>
            </a:pPr>
            <a:r>
              <a:rPr lang="en-US" sz="1999">
                <a:solidFill>
                  <a:srgbClr val="FFFFFF"/>
                </a:solidFill>
                <a:latin typeface="Almarai"/>
                <a:ea typeface="Almarai"/>
                <a:cs typeface="Almarai"/>
                <a:sym typeface="Almarai"/>
              </a:rPr>
              <a:t>Vengono stabilite a priori soglie quantitative su metriche chiave quali Attack Success Rate, tasso di rilevamento, falsi positivi e sull'overhead di latenza introdotto nel Fast Path. Per i meccanismi deterministici si impone l'assenza totale di accessi, messaggi o transizioni non autorizzate</a:t>
            </a:r>
          </a:p>
        </p:txBody>
      </p:sp>
      <p:sp>
        <p:nvSpPr>
          <p:cNvPr id="20" name="Text 59">
            <a:extLst>
              <a:ext uri="{FF2B5EF4-FFF2-40B4-BE49-F238E27FC236}">
                <a16:creationId xmlns:a16="http://schemas.microsoft.com/office/drawing/2014/main" id="{5CDEFFFC-F350-BF5D-5039-DDBF60F70A0D}"/>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18</a:t>
            </a:r>
            <a:endParaRPr lang="en-US" sz="157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3953" y="1338262"/>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aphicFrame>
        <p:nvGraphicFramePr>
          <p:cNvPr id="10" name="Table 10"/>
          <p:cNvGraphicFramePr>
            <a:graphicFrameLocks noGrp="1"/>
          </p:cNvGraphicFramePr>
          <p:nvPr/>
        </p:nvGraphicFramePr>
        <p:xfrm>
          <a:off x="945207" y="3579374"/>
          <a:ext cx="16502733" cy="6286186"/>
        </p:xfrm>
        <a:graphic>
          <a:graphicData uri="http://schemas.openxmlformats.org/drawingml/2006/table">
            <a:tbl>
              <a:tblPr/>
              <a:tblGrid>
                <a:gridCol w="2168421">
                  <a:extLst>
                    <a:ext uri="{9D8B030D-6E8A-4147-A177-3AD203B41FA5}">
                      <a16:colId xmlns:a16="http://schemas.microsoft.com/office/drawing/2014/main" val="20000"/>
                    </a:ext>
                  </a:extLst>
                </a:gridCol>
                <a:gridCol w="5473058">
                  <a:extLst>
                    <a:ext uri="{9D8B030D-6E8A-4147-A177-3AD203B41FA5}">
                      <a16:colId xmlns:a16="http://schemas.microsoft.com/office/drawing/2014/main" val="20001"/>
                    </a:ext>
                  </a:extLst>
                </a:gridCol>
                <a:gridCol w="4225093">
                  <a:extLst>
                    <a:ext uri="{9D8B030D-6E8A-4147-A177-3AD203B41FA5}">
                      <a16:colId xmlns:a16="http://schemas.microsoft.com/office/drawing/2014/main" val="20002"/>
                    </a:ext>
                  </a:extLst>
                </a:gridCol>
                <a:gridCol w="4636161">
                  <a:extLst>
                    <a:ext uri="{9D8B030D-6E8A-4147-A177-3AD203B41FA5}">
                      <a16:colId xmlns:a16="http://schemas.microsoft.com/office/drawing/2014/main" val="20003"/>
                    </a:ext>
                  </a:extLst>
                </a:gridCol>
              </a:tblGrid>
              <a:tr h="837035">
                <a:tc>
                  <a:txBody>
                    <a:bodyPr/>
                    <a:lstStyle/>
                    <a:p>
                      <a:pPr algn="ctr">
                        <a:lnSpc>
                          <a:spcPts val="2380"/>
                        </a:lnSpc>
                        <a:defRPr/>
                      </a:pPr>
                      <a:r>
                        <a:rPr lang="en-US" sz="1700" b="1">
                          <a:solidFill>
                            <a:srgbClr val="FFFFFF"/>
                          </a:solidFill>
                          <a:latin typeface="Almarai Bold"/>
                          <a:ea typeface="Almarai Bold"/>
                          <a:cs typeface="Almarai Bold"/>
                          <a:sym typeface="Almarai Bold"/>
                        </a:rPr>
                        <a:t>Scenario</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b="1">
                          <a:solidFill>
                            <a:srgbClr val="FFFFFF"/>
                          </a:solidFill>
                          <a:latin typeface="Almarai Bold"/>
                          <a:ea typeface="Almarai Bold"/>
                          <a:cs typeface="Almarai Bold"/>
                          <a:sym typeface="Almarai Bold"/>
                        </a:rPr>
                        <a:t>Tipo di Test &amp; Procedura</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b="1">
                          <a:solidFill>
                            <a:srgbClr val="FFFFFF"/>
                          </a:solidFill>
                          <a:latin typeface="Almarai Bold"/>
                          <a:ea typeface="Almarai Bold"/>
                          <a:cs typeface="Almarai Bold"/>
                          <a:sym typeface="Almarai Bold"/>
                        </a:rPr>
                        <a:t>Metriche Chiave</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b="1">
                          <a:solidFill>
                            <a:srgbClr val="FFFFFF"/>
                          </a:solidFill>
                          <a:latin typeface="Almarai Bold"/>
                          <a:ea typeface="Almarai Bold"/>
                          <a:cs typeface="Almarai Bold"/>
                          <a:sym typeface="Almarai Bold"/>
                        </a:rPr>
                        <a:t>Criterio di Accettazione</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0"/>
                  </a:ext>
                </a:extLst>
              </a:tr>
              <a:tr h="1114618">
                <a:tc>
                  <a:txBody>
                    <a:bodyPr/>
                    <a:lstStyle/>
                    <a:p>
                      <a:pPr algn="ctr">
                        <a:lnSpc>
                          <a:spcPts val="2380"/>
                        </a:lnSpc>
                        <a:defRPr/>
                      </a:pPr>
                      <a:r>
                        <a:rPr lang="en-US" sz="1700" b="1">
                          <a:solidFill>
                            <a:srgbClr val="FFFFFF"/>
                          </a:solidFill>
                          <a:latin typeface="Almarai Bold"/>
                          <a:ea typeface="Almarai Bold"/>
                          <a:cs typeface="Almarai Bold"/>
                          <a:sym typeface="Almarai Bold"/>
                        </a:rPr>
                        <a:t>SC1: Goal Hijack</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Injection diretta/indiretta, chunk splitting e prompt in arabo/dialetto</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Attack Success Rate, Fallback Rate, Δtguard​</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Nessun output deviato downstream; overhead Fast Path misurato</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1114618">
                <a:tc>
                  <a:txBody>
                    <a:bodyPr/>
                    <a:lstStyle/>
                    <a:p>
                      <a:pPr algn="ctr">
                        <a:lnSpc>
                          <a:spcPts val="2380"/>
                        </a:lnSpc>
                        <a:defRPr/>
                      </a:pPr>
                      <a:r>
                        <a:rPr lang="en-US" sz="1700" b="1">
                          <a:solidFill>
                            <a:srgbClr val="FFFFFF"/>
                          </a:solidFill>
                          <a:latin typeface="Almarai Bold"/>
                          <a:ea typeface="Almarai Bold"/>
                          <a:cs typeface="Almarai Bold"/>
                          <a:sym typeface="Almarai Bold"/>
                        </a:rPr>
                        <a:t>SC6: Poisoning</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Iniezione chunk avversariali in copia isolata FAISS e segnali feedback sintetici</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Poisoned-item acceptance rate, rank drift, detection rate</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Nessuna promozione su KB attiva e isolamento cross-sessione</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1073305">
                <a:tc>
                  <a:txBody>
                    <a:bodyPr/>
                    <a:lstStyle/>
                    <a:p>
                      <a:pPr algn="ctr">
                        <a:lnSpc>
                          <a:spcPts val="2380"/>
                        </a:lnSpc>
                        <a:defRPr/>
                      </a:pPr>
                      <a:r>
                        <a:rPr lang="en-US" sz="1700" b="1">
                          <a:solidFill>
                            <a:srgbClr val="FFFFFF"/>
                          </a:solidFill>
                          <a:latin typeface="Almarai Bold"/>
                          <a:ea typeface="Almarai Bold"/>
                          <a:cs typeface="Almarai Bold"/>
                          <a:sym typeface="Almarai Bold"/>
                        </a:rPr>
                        <a:t>SC3: Privilege Abuse</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Negative testing: chiamate a D4/D8 con token errati o audience non autorizzate</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Unauthorized-action acceptance rate, policy denial rate</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Zero azioni non autorizzate ammesse; attribuzione certa a log</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1073305">
                <a:tc>
                  <a:txBody>
                    <a:bodyPr/>
                    <a:lstStyle/>
                    <a:p>
                      <a:pPr algn="ctr">
                        <a:lnSpc>
                          <a:spcPts val="2380"/>
                        </a:lnSpc>
                        <a:defRPr/>
                      </a:pPr>
                      <a:r>
                        <a:rPr lang="en-US" sz="1700" b="1">
                          <a:solidFill>
                            <a:srgbClr val="FFFFFF"/>
                          </a:solidFill>
                          <a:latin typeface="Almarai Bold"/>
                          <a:ea typeface="Almarai Bold"/>
                          <a:cs typeface="Almarai Bold"/>
                          <a:sym typeface="Almarai Bold"/>
                        </a:rPr>
                        <a:t>SC7: Message Replay</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Manipolazione sequence number, replay timestamp e falsi Video Ready Signal</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Replay/tampered acceptance rate, cross-session rate</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Zero modifiche indebite allo stato dello Swap Manager</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r h="1073305">
                <a:tc>
                  <a:txBody>
                    <a:bodyPr/>
                    <a:lstStyle/>
                    <a:p>
                      <a:pPr algn="ctr">
                        <a:lnSpc>
                          <a:spcPts val="2380"/>
                        </a:lnSpc>
                        <a:defRPr/>
                      </a:pPr>
                      <a:r>
                        <a:rPr lang="en-US" sz="1700" b="1">
                          <a:solidFill>
                            <a:srgbClr val="FFFFFF"/>
                          </a:solidFill>
                          <a:latin typeface="Almarai Bold"/>
                          <a:ea typeface="Almarai Bold"/>
                          <a:cs typeface="Almarai Bold"/>
                          <a:sym typeface="Almarai Bold"/>
                        </a:rPr>
                        <a:t>SC9: Trust Exploit</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Sollecitazione Deep-Brain verso prescrizioni sanitarie o raccolta dati sensibili</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Unsafe-output pass rate, detection rate pre-sintesi</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algn="ctr">
                        <a:lnSpc>
                          <a:spcPts val="2380"/>
                        </a:lnSpc>
                        <a:defRPr/>
                      </a:pPr>
                      <a:r>
                        <a:rPr lang="en-US" sz="1700">
                          <a:solidFill>
                            <a:srgbClr val="FFFFFF"/>
                          </a:solidFill>
                          <a:latin typeface="Almarai"/>
                          <a:ea typeface="Almarai"/>
                          <a:cs typeface="Almarai"/>
                          <a:sym typeface="Almarai"/>
                        </a:rPr>
                        <a:t>Blocco totale pre-sintesi vocale/video; disclaimer attivi</a:t>
                      </a:r>
                      <a:endParaRPr lang="en-US" sz="1100"/>
                    </a:p>
                  </a:txBody>
                  <a:tcPr marL="123825" marR="123825" marT="123825" marB="123825"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1" name="TextBox 11"/>
          <p:cNvSpPr txBox="1"/>
          <p:nvPr/>
        </p:nvSpPr>
        <p:spPr>
          <a:xfrm>
            <a:off x="2767012" y="1467802"/>
            <a:ext cx="12704788"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VALIDAZIONE SPERIMENTALE</a:t>
            </a:r>
          </a:p>
        </p:txBody>
      </p:sp>
      <p:sp>
        <p:nvSpPr>
          <p:cNvPr id="12" name="TextBox 12"/>
          <p:cNvSpPr txBox="1"/>
          <p:nvPr/>
        </p:nvSpPr>
        <p:spPr>
          <a:xfrm>
            <a:off x="1320730" y="2661090"/>
            <a:ext cx="12890522" cy="724572"/>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Piano Sperimentale per i Cinque Scenari Prioritari</a:t>
            </a:r>
          </a:p>
        </p:txBody>
      </p:sp>
      <p:sp>
        <p:nvSpPr>
          <p:cNvPr id="13" name="TextBox 13"/>
          <p:cNvSpPr txBox="1"/>
          <p:nvPr/>
        </p:nvSpPr>
        <p:spPr>
          <a:xfrm>
            <a:off x="1028241" y="1480185"/>
            <a:ext cx="1456246" cy="850434"/>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11</a:t>
            </a:r>
          </a:p>
        </p:txBody>
      </p:sp>
      <p:sp>
        <p:nvSpPr>
          <p:cNvPr id="16" name="Text 59">
            <a:extLst>
              <a:ext uri="{FF2B5EF4-FFF2-40B4-BE49-F238E27FC236}">
                <a16:creationId xmlns:a16="http://schemas.microsoft.com/office/drawing/2014/main" id="{682EB625-789B-F2A4-A927-FC54493B0C88}"/>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19</a:t>
            </a:r>
            <a:endParaRPr lang="en-US" sz="157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aphicFrame>
        <p:nvGraphicFramePr>
          <p:cNvPr id="10" name="Object 10"/>
          <p:cNvGraphicFramePr/>
          <p:nvPr/>
        </p:nvGraphicFramePr>
        <p:xfrm>
          <a:off x="786287" y="2782568"/>
          <a:ext cx="11611144" cy="7951291"/>
        </p:xfrm>
        <a:graphic>
          <a:graphicData uri="http://schemas.openxmlformats.org/presentationml/2006/ole">
            <mc:AlternateContent xmlns:mc="http://schemas.openxmlformats.org/markup-compatibility/2006">
              <mc:Choice xmlns:v="urn:schemas-microsoft-com:vml" Requires="v">
                <p:oleObj name="Worksheet" r:id="rId4" imgW="13931900" imgH="10274300" progId="Excel.Sheet.12">
                  <p:embed/>
                </p:oleObj>
              </mc:Choice>
              <mc:Fallback>
                <p:oleObj name="Worksheet" r:id="rId4" imgW="13931900" imgH="10274300" progId="Excel.Sheet.12">
                  <p:embed/>
                  <p:pic>
                    <p:nvPicPr>
                      <p:cNvPr id="0" name=""/>
                      <p:cNvPicPr/>
                      <p:nvPr/>
                    </p:nvPicPr>
                    <p:blipFill>
                      <a:blip r:embed="rId5"/>
                      <a:stretch>
                        <a:fillRect/>
                      </a:stretch>
                    </p:blipFill>
                    <p:spPr>
                      <a:xfrm>
                        <a:off x="786287" y="2782568"/>
                        <a:ext cx="11611144" cy="7951291"/>
                      </a:xfrm>
                      <a:prstGeom prst="rect">
                        <a:avLst/>
                      </a:prstGeom>
                    </p:spPr>
                  </p:pic>
                </p:oleObj>
              </mc:Fallback>
            </mc:AlternateContent>
          </a:graphicData>
        </a:graphic>
      </p:graphicFrame>
      <p:sp>
        <p:nvSpPr>
          <p:cNvPr id="11" name="TextBox 11"/>
          <p:cNvSpPr txBox="1"/>
          <p:nvPr/>
        </p:nvSpPr>
        <p:spPr>
          <a:xfrm>
            <a:off x="2766869" y="1467525"/>
            <a:ext cx="14049124"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VALUTAZIONE DEL RISCHIO RESIDUO</a:t>
            </a:r>
          </a:p>
        </p:txBody>
      </p:sp>
      <p:sp>
        <p:nvSpPr>
          <p:cNvPr id="12" name="TextBox 12"/>
          <p:cNvSpPr txBox="1"/>
          <p:nvPr/>
        </p:nvSpPr>
        <p:spPr>
          <a:xfrm>
            <a:off x="1028700" y="1480657"/>
            <a:ext cx="1456246" cy="850434"/>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12</a:t>
            </a:r>
          </a:p>
        </p:txBody>
      </p:sp>
      <p:sp>
        <p:nvSpPr>
          <p:cNvPr id="13" name="TextBox 13"/>
          <p:cNvSpPr txBox="1"/>
          <p:nvPr/>
        </p:nvSpPr>
        <p:spPr>
          <a:xfrm>
            <a:off x="8700245" y="3084918"/>
            <a:ext cx="8115748" cy="4427982"/>
          </a:xfrm>
          <a:prstGeom prst="rect">
            <a:avLst/>
          </a:prstGeom>
        </p:spPr>
        <p:txBody>
          <a:bodyPr lIns="0" tIns="0" rIns="0" bIns="0" rtlCol="0" anchor="t">
            <a:spAutoFit/>
          </a:bodyPr>
          <a:lstStyle/>
          <a:p>
            <a:pPr algn="l">
              <a:lnSpc>
                <a:spcPts val="3174"/>
              </a:lnSpc>
              <a:spcBef>
                <a:spcPct val="0"/>
              </a:spcBef>
            </a:pPr>
            <a:r>
              <a:rPr lang="en-US" sz="2300" b="1">
                <a:solidFill>
                  <a:srgbClr val="17E3B2"/>
                </a:solidFill>
                <a:latin typeface="Almarai Bold"/>
                <a:ea typeface="Almarai Bold"/>
                <a:cs typeface="Almarai Bold"/>
                <a:sym typeface="Almarai Bold"/>
              </a:rPr>
              <a:t>↓ LIKELIHOOD</a:t>
            </a:r>
          </a:p>
          <a:p>
            <a:pPr algn="l">
              <a:lnSpc>
                <a:spcPts val="3174"/>
              </a:lnSpc>
              <a:spcBef>
                <a:spcPct val="0"/>
              </a:spcBef>
            </a:pPr>
            <a:r>
              <a:rPr lang="en-US" sz="2300">
                <a:solidFill>
                  <a:srgbClr val="FFFFFF"/>
                </a:solidFill>
                <a:latin typeface="Almarai"/>
                <a:ea typeface="Almarai"/>
                <a:cs typeface="Almarai"/>
                <a:sym typeface="Almarai"/>
              </a:rPr>
              <a:t>I controlli riducono la probabilità che l’attacco produca effetti downstream.</a:t>
            </a:r>
          </a:p>
          <a:p>
            <a:pPr algn="l">
              <a:lnSpc>
                <a:spcPts val="3174"/>
              </a:lnSpc>
              <a:spcBef>
                <a:spcPct val="0"/>
              </a:spcBef>
            </a:pPr>
            <a:endParaRPr lang="en-US" sz="2300">
              <a:solidFill>
                <a:srgbClr val="FFFFFF"/>
              </a:solidFill>
              <a:latin typeface="Almarai"/>
              <a:ea typeface="Almarai"/>
              <a:cs typeface="Almarai"/>
              <a:sym typeface="Almarai"/>
            </a:endParaRPr>
          </a:p>
          <a:p>
            <a:pPr algn="l">
              <a:lnSpc>
                <a:spcPts val="3174"/>
              </a:lnSpc>
              <a:spcBef>
                <a:spcPct val="0"/>
              </a:spcBef>
            </a:pPr>
            <a:r>
              <a:rPr lang="en-US" sz="2300" b="1">
                <a:solidFill>
                  <a:srgbClr val="17E3B2"/>
                </a:solidFill>
                <a:latin typeface="Almarai Bold"/>
                <a:ea typeface="Almarai Bold"/>
                <a:cs typeface="Almarai Bold"/>
                <a:sym typeface="Almarai Bold"/>
              </a:rPr>
              <a:t>SEVERITY ANCORA ALTA</a:t>
            </a:r>
          </a:p>
          <a:p>
            <a:pPr algn="l">
              <a:lnSpc>
                <a:spcPts val="3174"/>
              </a:lnSpc>
              <a:spcBef>
                <a:spcPct val="0"/>
              </a:spcBef>
            </a:pPr>
            <a:r>
              <a:rPr lang="en-US" sz="2300">
                <a:solidFill>
                  <a:srgbClr val="FFFFFF"/>
                </a:solidFill>
                <a:latin typeface="Almarai"/>
                <a:ea typeface="Almarai"/>
                <a:cs typeface="Almarai"/>
                <a:sym typeface="Almarai"/>
              </a:rPr>
              <a:t>Se un controllo viene bypassato, l’impatto potenziale resta significativo.</a:t>
            </a:r>
          </a:p>
          <a:p>
            <a:pPr algn="l">
              <a:lnSpc>
                <a:spcPts val="3174"/>
              </a:lnSpc>
              <a:spcBef>
                <a:spcPct val="0"/>
              </a:spcBef>
            </a:pPr>
            <a:endParaRPr lang="en-US" sz="2300">
              <a:solidFill>
                <a:srgbClr val="FFFFFF"/>
              </a:solidFill>
              <a:latin typeface="Almarai"/>
              <a:ea typeface="Almarai"/>
              <a:cs typeface="Almarai"/>
              <a:sym typeface="Almarai"/>
            </a:endParaRPr>
          </a:p>
          <a:p>
            <a:pPr algn="l">
              <a:lnSpc>
                <a:spcPts val="3174"/>
              </a:lnSpc>
              <a:spcBef>
                <a:spcPct val="0"/>
              </a:spcBef>
            </a:pPr>
            <a:r>
              <a:rPr lang="en-US" sz="2300" b="1">
                <a:solidFill>
                  <a:srgbClr val="17E3B2"/>
                </a:solidFill>
                <a:latin typeface="Almarai Bold"/>
                <a:ea typeface="Almarai Bold"/>
                <a:cs typeface="Almarai Bold"/>
                <a:sym typeface="Almarai Bold"/>
              </a:rPr>
              <a:t>SC1 RESTA IL RISCHIO PRINCIPALE</a:t>
            </a:r>
          </a:p>
          <a:p>
            <a:pPr algn="l">
              <a:lnSpc>
                <a:spcPts val="3174"/>
              </a:lnSpc>
              <a:spcBef>
                <a:spcPct val="0"/>
              </a:spcBef>
            </a:pPr>
            <a:r>
              <a:rPr lang="en-US" sz="2300">
                <a:solidFill>
                  <a:srgbClr val="FFFFFF"/>
                </a:solidFill>
                <a:latin typeface="Almarai"/>
                <a:ea typeface="Almarai"/>
                <a:cs typeface="Almarai"/>
                <a:sym typeface="Almarai"/>
              </a:rPr>
              <a:t>La difesa da input linguistici avversariali dipende anche da controlli semantici probabilistici.</a:t>
            </a:r>
          </a:p>
        </p:txBody>
      </p:sp>
      <p:sp>
        <p:nvSpPr>
          <p:cNvPr id="14" name="TextBox 14"/>
          <p:cNvSpPr txBox="1"/>
          <p:nvPr/>
        </p:nvSpPr>
        <p:spPr>
          <a:xfrm>
            <a:off x="3236073" y="8896882"/>
            <a:ext cx="11815854" cy="819912"/>
          </a:xfrm>
          <a:prstGeom prst="rect">
            <a:avLst/>
          </a:prstGeom>
        </p:spPr>
        <p:txBody>
          <a:bodyPr lIns="0" tIns="0" rIns="0" bIns="0" rtlCol="0" anchor="t">
            <a:spAutoFit/>
          </a:bodyPr>
          <a:lstStyle/>
          <a:p>
            <a:pPr algn="ctr">
              <a:lnSpc>
                <a:spcPts val="3174"/>
              </a:lnSpc>
              <a:spcBef>
                <a:spcPct val="0"/>
              </a:spcBef>
            </a:pPr>
            <a:r>
              <a:rPr lang="en-US" sz="2300" b="1">
                <a:solidFill>
                  <a:srgbClr val="FBFCFD"/>
                </a:solidFill>
                <a:latin typeface="Almarai Bold"/>
                <a:ea typeface="Almarai Bold"/>
                <a:cs typeface="Almarai Bold"/>
                <a:sym typeface="Almarai Bold"/>
              </a:rPr>
              <a:t>Valutazione preliminare, non risultato sperimentale</a:t>
            </a:r>
          </a:p>
          <a:p>
            <a:pPr algn="ctr">
              <a:lnSpc>
                <a:spcPts val="3174"/>
              </a:lnSpc>
              <a:spcBef>
                <a:spcPct val="0"/>
              </a:spcBef>
            </a:pPr>
            <a:r>
              <a:rPr lang="en-US" sz="2300" b="1">
                <a:solidFill>
                  <a:srgbClr val="FBFCFD"/>
                </a:solidFill>
                <a:latin typeface="Almarai Bold"/>
                <a:ea typeface="Almarai Bold"/>
                <a:cs typeface="Almarai Bold"/>
                <a:sym typeface="Almarai Bold"/>
              </a:rPr>
              <a:t> Il rischio residuo dovrà essere confermato o rivisto attraverso il piano di validazione.</a:t>
            </a:r>
          </a:p>
        </p:txBody>
      </p:sp>
      <p:sp>
        <p:nvSpPr>
          <p:cNvPr id="17" name="Text 59">
            <a:extLst>
              <a:ext uri="{FF2B5EF4-FFF2-40B4-BE49-F238E27FC236}">
                <a16:creationId xmlns:a16="http://schemas.microsoft.com/office/drawing/2014/main" id="{33F1EF7C-BEA2-2B34-3465-619543D2F4BD}"/>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rPr>
              <a:t>20</a:t>
            </a:r>
            <a:endParaRPr lang="en-US" sz="157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TextBox 10"/>
          <p:cNvSpPr txBox="1"/>
          <p:nvPr/>
        </p:nvSpPr>
        <p:spPr>
          <a:xfrm>
            <a:off x="2766869" y="1467525"/>
            <a:ext cx="14049124"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LIMITAZIONI</a:t>
            </a:r>
          </a:p>
        </p:txBody>
      </p:sp>
      <p:sp>
        <p:nvSpPr>
          <p:cNvPr id="11" name="TextBox 11"/>
          <p:cNvSpPr txBox="1"/>
          <p:nvPr/>
        </p:nvSpPr>
        <p:spPr>
          <a:xfrm>
            <a:off x="1028700" y="1480657"/>
            <a:ext cx="1456246" cy="850434"/>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13</a:t>
            </a:r>
          </a:p>
        </p:txBody>
      </p:sp>
      <p:grpSp>
        <p:nvGrpSpPr>
          <p:cNvPr id="12" name="Group 12"/>
          <p:cNvGrpSpPr/>
          <p:nvPr/>
        </p:nvGrpSpPr>
        <p:grpSpPr>
          <a:xfrm>
            <a:off x="1092243" y="2650635"/>
            <a:ext cx="4905063" cy="2492865"/>
            <a:chOff x="0" y="0"/>
            <a:chExt cx="1291868" cy="656557"/>
          </a:xfrm>
        </p:grpSpPr>
        <p:sp>
          <p:nvSpPr>
            <p:cNvPr id="13" name="Freeform 13"/>
            <p:cNvSpPr/>
            <p:nvPr/>
          </p:nvSpPr>
          <p:spPr>
            <a:xfrm>
              <a:off x="0" y="0"/>
              <a:ext cx="1291868" cy="656557"/>
            </a:xfrm>
            <a:custGeom>
              <a:avLst/>
              <a:gdLst/>
              <a:ahLst/>
              <a:cxnLst/>
              <a:rect l="l" t="t" r="r" b="b"/>
              <a:pathLst>
                <a:path w="1291868" h="656557">
                  <a:moveTo>
                    <a:pt x="80496" y="0"/>
                  </a:moveTo>
                  <a:lnTo>
                    <a:pt x="1211372" y="0"/>
                  </a:lnTo>
                  <a:cubicBezTo>
                    <a:pt x="1255829" y="0"/>
                    <a:pt x="1291868" y="36039"/>
                    <a:pt x="1291868" y="80496"/>
                  </a:cubicBezTo>
                  <a:lnTo>
                    <a:pt x="1291868" y="576061"/>
                  </a:lnTo>
                  <a:cubicBezTo>
                    <a:pt x="1291868" y="620518"/>
                    <a:pt x="1255829" y="656557"/>
                    <a:pt x="1211372" y="656557"/>
                  </a:cubicBezTo>
                  <a:lnTo>
                    <a:pt x="80496" y="656557"/>
                  </a:lnTo>
                  <a:cubicBezTo>
                    <a:pt x="36039" y="656557"/>
                    <a:pt x="0" y="620518"/>
                    <a:pt x="0" y="576061"/>
                  </a:cubicBezTo>
                  <a:lnTo>
                    <a:pt x="0" y="80496"/>
                  </a:lnTo>
                  <a:cubicBezTo>
                    <a:pt x="0" y="36039"/>
                    <a:pt x="36039" y="0"/>
                    <a:pt x="80496" y="0"/>
                  </a:cubicBezTo>
                  <a:close/>
                </a:path>
              </a:pathLst>
            </a:custGeom>
            <a:solidFill>
              <a:srgbClr val="145DA0"/>
            </a:solidFill>
            <a:ln w="38100" cap="rnd">
              <a:solidFill>
                <a:srgbClr val="FBFCFD"/>
              </a:solidFill>
              <a:prstDash val="solid"/>
              <a:round/>
            </a:ln>
          </p:spPr>
          <p:txBody>
            <a:bodyPr/>
            <a:lstStyle/>
            <a:p>
              <a:endParaRPr lang="it-IT"/>
            </a:p>
          </p:txBody>
        </p:sp>
        <p:sp>
          <p:nvSpPr>
            <p:cNvPr id="14" name="TextBox 14"/>
            <p:cNvSpPr txBox="1"/>
            <p:nvPr/>
          </p:nvSpPr>
          <p:spPr>
            <a:xfrm>
              <a:off x="0" y="-66675"/>
              <a:ext cx="1291868" cy="723232"/>
            </a:xfrm>
            <a:prstGeom prst="rect">
              <a:avLst/>
            </a:prstGeom>
          </p:spPr>
          <p:txBody>
            <a:bodyPr lIns="50800" tIns="50800" rIns="50800" bIns="50800" rtlCol="0" anchor="ctr"/>
            <a:lstStyle/>
            <a:p>
              <a:pPr algn="ctr">
                <a:lnSpc>
                  <a:spcPts val="3219"/>
                </a:lnSpc>
              </a:pPr>
              <a:r>
                <a:rPr lang="en-US" sz="2299" b="1">
                  <a:solidFill>
                    <a:srgbClr val="17E3B2"/>
                  </a:solidFill>
                  <a:latin typeface="Almarai Bold"/>
                  <a:ea typeface="Almarai Bold"/>
                  <a:cs typeface="Almarai Bold"/>
                  <a:sym typeface="Almarai Bold"/>
                </a:rPr>
                <a:t>1.</a:t>
              </a:r>
            </a:p>
            <a:p>
              <a:pPr algn="ctr">
                <a:lnSpc>
                  <a:spcPts val="3219"/>
                </a:lnSpc>
              </a:pPr>
              <a:r>
                <a:rPr lang="en-US" sz="2299" b="1">
                  <a:solidFill>
                    <a:srgbClr val="17E3B2"/>
                  </a:solidFill>
                  <a:latin typeface="Almarai Bold"/>
                  <a:ea typeface="Almarai Bold"/>
                  <a:cs typeface="Almarai Bold"/>
                  <a:sym typeface="Almarai Bold"/>
                </a:rPr>
                <a:t>Assenza di risultati empirici</a:t>
              </a:r>
            </a:p>
            <a:p>
              <a:pPr algn="ctr">
                <a:lnSpc>
                  <a:spcPts val="3219"/>
                </a:lnSpc>
                <a:spcBef>
                  <a:spcPct val="0"/>
                </a:spcBef>
              </a:pPr>
              <a:r>
                <a:rPr lang="en-US" sz="2299">
                  <a:solidFill>
                    <a:srgbClr val="FFFFFF"/>
                  </a:solidFill>
                  <a:latin typeface="Almarai"/>
                  <a:ea typeface="Almarai"/>
                  <a:cs typeface="Almarai"/>
                  <a:sym typeface="Almarai"/>
                </a:rPr>
                <a:t> Efficacia e overhead ancora da misurare</a:t>
              </a:r>
            </a:p>
          </p:txBody>
        </p:sp>
      </p:grpSp>
      <p:grpSp>
        <p:nvGrpSpPr>
          <p:cNvPr id="15" name="Group 15"/>
          <p:cNvGrpSpPr/>
          <p:nvPr/>
        </p:nvGrpSpPr>
        <p:grpSpPr>
          <a:xfrm>
            <a:off x="6264005" y="2650635"/>
            <a:ext cx="4905063" cy="2492865"/>
            <a:chOff x="0" y="0"/>
            <a:chExt cx="1291868" cy="656557"/>
          </a:xfrm>
        </p:grpSpPr>
        <p:sp>
          <p:nvSpPr>
            <p:cNvPr id="16" name="Freeform 16"/>
            <p:cNvSpPr/>
            <p:nvPr/>
          </p:nvSpPr>
          <p:spPr>
            <a:xfrm>
              <a:off x="0" y="0"/>
              <a:ext cx="1291868" cy="656557"/>
            </a:xfrm>
            <a:custGeom>
              <a:avLst/>
              <a:gdLst/>
              <a:ahLst/>
              <a:cxnLst/>
              <a:rect l="l" t="t" r="r" b="b"/>
              <a:pathLst>
                <a:path w="1291868" h="656557">
                  <a:moveTo>
                    <a:pt x="80496" y="0"/>
                  </a:moveTo>
                  <a:lnTo>
                    <a:pt x="1211372" y="0"/>
                  </a:lnTo>
                  <a:cubicBezTo>
                    <a:pt x="1255829" y="0"/>
                    <a:pt x="1291868" y="36039"/>
                    <a:pt x="1291868" y="80496"/>
                  </a:cubicBezTo>
                  <a:lnTo>
                    <a:pt x="1291868" y="576061"/>
                  </a:lnTo>
                  <a:cubicBezTo>
                    <a:pt x="1291868" y="620518"/>
                    <a:pt x="1255829" y="656557"/>
                    <a:pt x="1211372" y="656557"/>
                  </a:cubicBezTo>
                  <a:lnTo>
                    <a:pt x="80496" y="656557"/>
                  </a:lnTo>
                  <a:cubicBezTo>
                    <a:pt x="36039" y="656557"/>
                    <a:pt x="0" y="620518"/>
                    <a:pt x="0" y="576061"/>
                  </a:cubicBezTo>
                  <a:lnTo>
                    <a:pt x="0" y="80496"/>
                  </a:lnTo>
                  <a:cubicBezTo>
                    <a:pt x="0" y="36039"/>
                    <a:pt x="36039" y="0"/>
                    <a:pt x="80496" y="0"/>
                  </a:cubicBezTo>
                  <a:close/>
                </a:path>
              </a:pathLst>
            </a:custGeom>
            <a:solidFill>
              <a:srgbClr val="145DA0"/>
            </a:solidFill>
            <a:ln w="38100" cap="rnd">
              <a:solidFill>
                <a:srgbClr val="FBFCFD"/>
              </a:solidFill>
              <a:prstDash val="solid"/>
              <a:round/>
            </a:ln>
          </p:spPr>
          <p:txBody>
            <a:bodyPr/>
            <a:lstStyle/>
            <a:p>
              <a:endParaRPr lang="it-IT"/>
            </a:p>
          </p:txBody>
        </p:sp>
        <p:sp>
          <p:nvSpPr>
            <p:cNvPr id="17" name="TextBox 17"/>
            <p:cNvSpPr txBox="1"/>
            <p:nvPr/>
          </p:nvSpPr>
          <p:spPr>
            <a:xfrm>
              <a:off x="0" y="-66675"/>
              <a:ext cx="1291868" cy="723232"/>
            </a:xfrm>
            <a:prstGeom prst="rect">
              <a:avLst/>
            </a:prstGeom>
          </p:spPr>
          <p:txBody>
            <a:bodyPr lIns="50800" tIns="50800" rIns="50800" bIns="50800" rtlCol="0" anchor="ctr"/>
            <a:lstStyle/>
            <a:p>
              <a:pPr algn="ctr">
                <a:lnSpc>
                  <a:spcPts val="3220"/>
                </a:lnSpc>
              </a:pPr>
              <a:r>
                <a:rPr lang="en-US" sz="2300" b="1">
                  <a:solidFill>
                    <a:srgbClr val="17E3B2"/>
                  </a:solidFill>
                  <a:latin typeface="Almarai Bold"/>
                  <a:ea typeface="Almarai Bold"/>
                  <a:cs typeface="Almarai Bold"/>
                  <a:sym typeface="Almarai Bold"/>
                </a:rPr>
                <a:t>2.</a:t>
              </a:r>
            </a:p>
            <a:p>
              <a:pPr algn="ctr">
                <a:lnSpc>
                  <a:spcPts val="3220"/>
                </a:lnSpc>
              </a:pPr>
              <a:r>
                <a:rPr lang="en-US" sz="2300" b="1">
                  <a:solidFill>
                    <a:srgbClr val="17E3B2"/>
                  </a:solidFill>
                  <a:latin typeface="Almarai Bold"/>
                  <a:ea typeface="Almarai Bold"/>
                  <a:cs typeface="Almarai Bold"/>
                  <a:sym typeface="Almarai Bold"/>
                </a:rPr>
                <a:t>Valutazione qualitativa del rischio</a:t>
              </a:r>
            </a:p>
            <a:p>
              <a:pPr algn="ctr">
                <a:lnSpc>
                  <a:spcPts val="3220"/>
                </a:lnSpc>
                <a:spcBef>
                  <a:spcPct val="0"/>
                </a:spcBef>
              </a:pPr>
              <a:r>
                <a:rPr lang="en-US" sz="2300">
                  <a:solidFill>
                    <a:srgbClr val="FFFFFF"/>
                  </a:solidFill>
                  <a:latin typeface="Almarai"/>
                  <a:ea typeface="Almarai"/>
                  <a:cs typeface="Almarai"/>
                  <a:sym typeface="Almarai"/>
                </a:rPr>
                <a:t> Likelihood e Severity espresse tramite scala qualitativa, non quantitativa.</a:t>
              </a:r>
            </a:p>
          </p:txBody>
        </p:sp>
      </p:grpSp>
      <p:grpSp>
        <p:nvGrpSpPr>
          <p:cNvPr id="18" name="Group 18"/>
          <p:cNvGrpSpPr/>
          <p:nvPr/>
        </p:nvGrpSpPr>
        <p:grpSpPr>
          <a:xfrm>
            <a:off x="11434977" y="2650635"/>
            <a:ext cx="4905063" cy="2492865"/>
            <a:chOff x="0" y="0"/>
            <a:chExt cx="1291868" cy="656557"/>
          </a:xfrm>
        </p:grpSpPr>
        <p:sp>
          <p:nvSpPr>
            <p:cNvPr id="19" name="Freeform 19"/>
            <p:cNvSpPr/>
            <p:nvPr/>
          </p:nvSpPr>
          <p:spPr>
            <a:xfrm>
              <a:off x="0" y="0"/>
              <a:ext cx="1291868" cy="656557"/>
            </a:xfrm>
            <a:custGeom>
              <a:avLst/>
              <a:gdLst/>
              <a:ahLst/>
              <a:cxnLst/>
              <a:rect l="l" t="t" r="r" b="b"/>
              <a:pathLst>
                <a:path w="1291868" h="656557">
                  <a:moveTo>
                    <a:pt x="80496" y="0"/>
                  </a:moveTo>
                  <a:lnTo>
                    <a:pt x="1211372" y="0"/>
                  </a:lnTo>
                  <a:cubicBezTo>
                    <a:pt x="1255829" y="0"/>
                    <a:pt x="1291868" y="36039"/>
                    <a:pt x="1291868" y="80496"/>
                  </a:cubicBezTo>
                  <a:lnTo>
                    <a:pt x="1291868" y="576061"/>
                  </a:lnTo>
                  <a:cubicBezTo>
                    <a:pt x="1291868" y="620518"/>
                    <a:pt x="1255829" y="656557"/>
                    <a:pt x="1211372" y="656557"/>
                  </a:cubicBezTo>
                  <a:lnTo>
                    <a:pt x="80496" y="656557"/>
                  </a:lnTo>
                  <a:cubicBezTo>
                    <a:pt x="36039" y="656557"/>
                    <a:pt x="0" y="620518"/>
                    <a:pt x="0" y="576061"/>
                  </a:cubicBezTo>
                  <a:lnTo>
                    <a:pt x="0" y="80496"/>
                  </a:lnTo>
                  <a:cubicBezTo>
                    <a:pt x="0" y="36039"/>
                    <a:pt x="36039" y="0"/>
                    <a:pt x="80496" y="0"/>
                  </a:cubicBezTo>
                  <a:close/>
                </a:path>
              </a:pathLst>
            </a:custGeom>
            <a:solidFill>
              <a:srgbClr val="145DA0"/>
            </a:solidFill>
            <a:ln w="38100" cap="rnd">
              <a:solidFill>
                <a:srgbClr val="FBFCFD"/>
              </a:solidFill>
              <a:prstDash val="solid"/>
              <a:round/>
            </a:ln>
          </p:spPr>
          <p:txBody>
            <a:bodyPr/>
            <a:lstStyle/>
            <a:p>
              <a:endParaRPr lang="it-IT"/>
            </a:p>
          </p:txBody>
        </p:sp>
        <p:sp>
          <p:nvSpPr>
            <p:cNvPr id="20" name="TextBox 20"/>
            <p:cNvSpPr txBox="1"/>
            <p:nvPr/>
          </p:nvSpPr>
          <p:spPr>
            <a:xfrm>
              <a:off x="0" y="-66675"/>
              <a:ext cx="1291868" cy="723232"/>
            </a:xfrm>
            <a:prstGeom prst="rect">
              <a:avLst/>
            </a:prstGeom>
          </p:spPr>
          <p:txBody>
            <a:bodyPr lIns="50800" tIns="50800" rIns="50800" bIns="50800" rtlCol="0" anchor="ctr"/>
            <a:lstStyle/>
            <a:p>
              <a:pPr algn="ctr">
                <a:lnSpc>
                  <a:spcPts val="3220"/>
                </a:lnSpc>
              </a:pPr>
              <a:r>
                <a:rPr lang="en-US" sz="2300" b="1">
                  <a:solidFill>
                    <a:srgbClr val="17E3B2"/>
                  </a:solidFill>
                  <a:latin typeface="Almarai Bold"/>
                  <a:ea typeface="Almarai Bold"/>
                  <a:cs typeface="Almarai Bold"/>
                  <a:sym typeface="Almarai Bold"/>
                </a:rPr>
                <a:t>3.</a:t>
              </a:r>
            </a:p>
            <a:p>
              <a:pPr algn="ctr">
                <a:lnSpc>
                  <a:spcPts val="3220"/>
                </a:lnSpc>
              </a:pPr>
              <a:r>
                <a:rPr lang="en-US" sz="2300" b="1">
                  <a:solidFill>
                    <a:srgbClr val="17E3B2"/>
                  </a:solidFill>
                  <a:latin typeface="Almarai Bold"/>
                  <a:ea typeface="Almarai Bold"/>
                  <a:cs typeface="Almarai Bold"/>
                  <a:sym typeface="Almarai Bold"/>
                </a:rPr>
                <a:t>Dipendenza dall’implementazione</a:t>
              </a:r>
            </a:p>
            <a:p>
              <a:pPr algn="ctr">
                <a:lnSpc>
                  <a:spcPts val="3220"/>
                </a:lnSpc>
                <a:spcBef>
                  <a:spcPct val="0"/>
                </a:spcBef>
              </a:pPr>
              <a:r>
                <a:rPr lang="en-US" sz="2300" b="1">
                  <a:solidFill>
                    <a:srgbClr val="17E3B2"/>
                  </a:solidFill>
                  <a:latin typeface="Almarai Bold"/>
                  <a:ea typeface="Almarai Bold"/>
                  <a:cs typeface="Almarai Bold"/>
                  <a:sym typeface="Almarai Bold"/>
                </a:rPr>
                <a:t> </a:t>
              </a:r>
              <a:r>
                <a:rPr lang="en-US" sz="2300">
                  <a:solidFill>
                    <a:srgbClr val="FFFFFF"/>
                  </a:solidFill>
                  <a:latin typeface="Almarai"/>
                  <a:ea typeface="Almarai"/>
                  <a:cs typeface="Almarai"/>
                  <a:sym typeface="Almarai"/>
                </a:rPr>
                <a:t>Dipende da provider, protocolli e configurazioni</a:t>
              </a:r>
            </a:p>
          </p:txBody>
        </p:sp>
      </p:grpSp>
      <p:grpSp>
        <p:nvGrpSpPr>
          <p:cNvPr id="21" name="Group 21"/>
          <p:cNvGrpSpPr/>
          <p:nvPr/>
        </p:nvGrpSpPr>
        <p:grpSpPr>
          <a:xfrm>
            <a:off x="6264005" y="5410200"/>
            <a:ext cx="4905063" cy="2492865"/>
            <a:chOff x="0" y="0"/>
            <a:chExt cx="1291868" cy="656557"/>
          </a:xfrm>
        </p:grpSpPr>
        <p:sp>
          <p:nvSpPr>
            <p:cNvPr id="22" name="Freeform 22"/>
            <p:cNvSpPr/>
            <p:nvPr/>
          </p:nvSpPr>
          <p:spPr>
            <a:xfrm>
              <a:off x="0" y="0"/>
              <a:ext cx="1291868" cy="656557"/>
            </a:xfrm>
            <a:custGeom>
              <a:avLst/>
              <a:gdLst/>
              <a:ahLst/>
              <a:cxnLst/>
              <a:rect l="l" t="t" r="r" b="b"/>
              <a:pathLst>
                <a:path w="1291868" h="656557">
                  <a:moveTo>
                    <a:pt x="80496" y="0"/>
                  </a:moveTo>
                  <a:lnTo>
                    <a:pt x="1211372" y="0"/>
                  </a:lnTo>
                  <a:cubicBezTo>
                    <a:pt x="1255829" y="0"/>
                    <a:pt x="1291868" y="36039"/>
                    <a:pt x="1291868" y="80496"/>
                  </a:cubicBezTo>
                  <a:lnTo>
                    <a:pt x="1291868" y="576061"/>
                  </a:lnTo>
                  <a:cubicBezTo>
                    <a:pt x="1291868" y="620518"/>
                    <a:pt x="1255829" y="656557"/>
                    <a:pt x="1211372" y="656557"/>
                  </a:cubicBezTo>
                  <a:lnTo>
                    <a:pt x="80496" y="656557"/>
                  </a:lnTo>
                  <a:cubicBezTo>
                    <a:pt x="36039" y="656557"/>
                    <a:pt x="0" y="620518"/>
                    <a:pt x="0" y="576061"/>
                  </a:cubicBezTo>
                  <a:lnTo>
                    <a:pt x="0" y="80496"/>
                  </a:lnTo>
                  <a:cubicBezTo>
                    <a:pt x="0" y="36039"/>
                    <a:pt x="36039" y="0"/>
                    <a:pt x="80496" y="0"/>
                  </a:cubicBezTo>
                  <a:close/>
                </a:path>
              </a:pathLst>
            </a:custGeom>
            <a:solidFill>
              <a:srgbClr val="145DA0"/>
            </a:solidFill>
            <a:ln w="38100" cap="rnd">
              <a:solidFill>
                <a:srgbClr val="FBFCFD"/>
              </a:solidFill>
              <a:prstDash val="solid"/>
              <a:round/>
            </a:ln>
          </p:spPr>
          <p:txBody>
            <a:bodyPr/>
            <a:lstStyle/>
            <a:p>
              <a:endParaRPr lang="it-IT"/>
            </a:p>
          </p:txBody>
        </p:sp>
        <p:sp>
          <p:nvSpPr>
            <p:cNvPr id="23" name="TextBox 23"/>
            <p:cNvSpPr txBox="1"/>
            <p:nvPr/>
          </p:nvSpPr>
          <p:spPr>
            <a:xfrm>
              <a:off x="0" y="-66675"/>
              <a:ext cx="1291868" cy="723232"/>
            </a:xfrm>
            <a:prstGeom prst="rect">
              <a:avLst/>
            </a:prstGeom>
          </p:spPr>
          <p:txBody>
            <a:bodyPr lIns="50800" tIns="50800" rIns="50800" bIns="50800" rtlCol="0" anchor="ctr"/>
            <a:lstStyle/>
            <a:p>
              <a:pPr algn="ctr">
                <a:lnSpc>
                  <a:spcPts val="3220"/>
                </a:lnSpc>
              </a:pPr>
              <a:r>
                <a:rPr lang="en-US" sz="2300" b="1">
                  <a:solidFill>
                    <a:srgbClr val="17E3B2"/>
                  </a:solidFill>
                  <a:latin typeface="Almarai Bold"/>
                  <a:ea typeface="Almarai Bold"/>
                  <a:cs typeface="Almarai Bold"/>
                  <a:sym typeface="Almarai Bold"/>
                </a:rPr>
                <a:t>5.</a:t>
              </a:r>
            </a:p>
            <a:p>
              <a:pPr algn="ctr">
                <a:lnSpc>
                  <a:spcPts val="3220"/>
                </a:lnSpc>
              </a:pPr>
              <a:r>
                <a:rPr lang="en-US" sz="2300" b="1">
                  <a:solidFill>
                    <a:srgbClr val="17E3B2"/>
                  </a:solidFill>
                  <a:latin typeface="Almarai Bold"/>
                  <a:ea typeface="Almarai Bold"/>
                  <a:cs typeface="Almarai Bold"/>
                  <a:sym typeface="Almarai Bold"/>
                </a:rPr>
                <a:t>Componente socio-tecnica</a:t>
              </a:r>
            </a:p>
            <a:p>
              <a:pPr algn="ctr">
                <a:lnSpc>
                  <a:spcPts val="3220"/>
                </a:lnSpc>
                <a:spcBef>
                  <a:spcPct val="0"/>
                </a:spcBef>
              </a:pPr>
              <a:r>
                <a:rPr lang="en-US" sz="2300">
                  <a:solidFill>
                    <a:srgbClr val="FFFFFF"/>
                  </a:solidFill>
                  <a:latin typeface="Almarai"/>
                  <a:ea typeface="Almarai"/>
                  <a:cs typeface="Almarai"/>
                  <a:sym typeface="Almarai"/>
                </a:rPr>
                <a:t> SC9 richiede studi con utenti reali</a:t>
              </a:r>
            </a:p>
          </p:txBody>
        </p:sp>
      </p:grpSp>
      <p:grpSp>
        <p:nvGrpSpPr>
          <p:cNvPr id="24" name="Group 24"/>
          <p:cNvGrpSpPr/>
          <p:nvPr/>
        </p:nvGrpSpPr>
        <p:grpSpPr>
          <a:xfrm>
            <a:off x="11435768" y="5410200"/>
            <a:ext cx="4905063" cy="2547157"/>
            <a:chOff x="0" y="0"/>
            <a:chExt cx="1291868" cy="670856"/>
          </a:xfrm>
        </p:grpSpPr>
        <p:sp>
          <p:nvSpPr>
            <p:cNvPr id="25" name="Freeform 25"/>
            <p:cNvSpPr/>
            <p:nvPr/>
          </p:nvSpPr>
          <p:spPr>
            <a:xfrm>
              <a:off x="0" y="0"/>
              <a:ext cx="1291868" cy="670856"/>
            </a:xfrm>
            <a:custGeom>
              <a:avLst/>
              <a:gdLst/>
              <a:ahLst/>
              <a:cxnLst/>
              <a:rect l="l" t="t" r="r" b="b"/>
              <a:pathLst>
                <a:path w="1291868" h="670856">
                  <a:moveTo>
                    <a:pt x="80496" y="0"/>
                  </a:moveTo>
                  <a:lnTo>
                    <a:pt x="1211372" y="0"/>
                  </a:lnTo>
                  <a:cubicBezTo>
                    <a:pt x="1255829" y="0"/>
                    <a:pt x="1291868" y="36039"/>
                    <a:pt x="1291868" y="80496"/>
                  </a:cubicBezTo>
                  <a:lnTo>
                    <a:pt x="1291868" y="590360"/>
                  </a:lnTo>
                  <a:cubicBezTo>
                    <a:pt x="1291868" y="634817"/>
                    <a:pt x="1255829" y="670856"/>
                    <a:pt x="1211372" y="670856"/>
                  </a:cubicBezTo>
                  <a:lnTo>
                    <a:pt x="80496" y="670856"/>
                  </a:lnTo>
                  <a:cubicBezTo>
                    <a:pt x="36039" y="670856"/>
                    <a:pt x="0" y="634817"/>
                    <a:pt x="0" y="590360"/>
                  </a:cubicBezTo>
                  <a:lnTo>
                    <a:pt x="0" y="80496"/>
                  </a:lnTo>
                  <a:cubicBezTo>
                    <a:pt x="0" y="36039"/>
                    <a:pt x="36039" y="0"/>
                    <a:pt x="80496" y="0"/>
                  </a:cubicBezTo>
                  <a:close/>
                </a:path>
              </a:pathLst>
            </a:custGeom>
            <a:solidFill>
              <a:srgbClr val="145DA0"/>
            </a:solidFill>
            <a:ln w="38100" cap="rnd">
              <a:solidFill>
                <a:srgbClr val="FBFCFD"/>
              </a:solidFill>
              <a:prstDash val="solid"/>
              <a:round/>
            </a:ln>
          </p:spPr>
          <p:txBody>
            <a:bodyPr/>
            <a:lstStyle/>
            <a:p>
              <a:endParaRPr lang="it-IT"/>
            </a:p>
          </p:txBody>
        </p:sp>
        <p:sp>
          <p:nvSpPr>
            <p:cNvPr id="26" name="TextBox 26"/>
            <p:cNvSpPr txBox="1"/>
            <p:nvPr/>
          </p:nvSpPr>
          <p:spPr>
            <a:xfrm>
              <a:off x="0" y="-47625"/>
              <a:ext cx="1291868" cy="718481"/>
            </a:xfrm>
            <a:prstGeom prst="rect">
              <a:avLst/>
            </a:prstGeom>
          </p:spPr>
          <p:txBody>
            <a:bodyPr lIns="50800" tIns="50800" rIns="50800" bIns="50800" rtlCol="0" anchor="ctr"/>
            <a:lstStyle/>
            <a:p>
              <a:pPr algn="ctr">
                <a:lnSpc>
                  <a:spcPts val="3220"/>
                </a:lnSpc>
              </a:pPr>
              <a:r>
                <a:rPr lang="en-US" sz="2300" b="1">
                  <a:solidFill>
                    <a:srgbClr val="17E3B2"/>
                  </a:solidFill>
                  <a:latin typeface="Open Sans Bold"/>
                  <a:ea typeface="Open Sans Bold"/>
                  <a:cs typeface="Open Sans Bold"/>
                  <a:sym typeface="Open Sans Bold"/>
                </a:rPr>
                <a:t>6.</a:t>
              </a:r>
            </a:p>
            <a:p>
              <a:pPr algn="ctr">
                <a:lnSpc>
                  <a:spcPts val="3220"/>
                </a:lnSpc>
              </a:pPr>
              <a:r>
                <a:rPr lang="en-US" sz="2300" b="1">
                  <a:solidFill>
                    <a:srgbClr val="17E3B2"/>
                  </a:solidFill>
                  <a:latin typeface="Open Sans Bold"/>
                  <a:ea typeface="Open Sans Bold"/>
                  <a:cs typeface="Open Sans Bold"/>
                  <a:sym typeface="Open Sans Bold"/>
                </a:rPr>
                <a:t>Supply chain e servizi esterni</a:t>
              </a:r>
            </a:p>
            <a:p>
              <a:pPr algn="ctr">
                <a:lnSpc>
                  <a:spcPts val="3220"/>
                </a:lnSpc>
                <a:spcBef>
                  <a:spcPct val="0"/>
                </a:spcBef>
              </a:pPr>
              <a:r>
                <a:rPr lang="en-US" sz="2300">
                  <a:solidFill>
                    <a:srgbClr val="FFFFFF"/>
                  </a:solidFill>
                  <a:latin typeface="Open Sans"/>
                  <a:ea typeface="Open Sans"/>
                  <a:cs typeface="Open Sans"/>
                  <a:sym typeface="Open Sans"/>
                </a:rPr>
                <a:t>Il rischio dei provider rimane </a:t>
              </a:r>
            </a:p>
          </p:txBody>
        </p:sp>
      </p:grpSp>
      <p:grpSp>
        <p:nvGrpSpPr>
          <p:cNvPr id="27" name="Group 27"/>
          <p:cNvGrpSpPr/>
          <p:nvPr/>
        </p:nvGrpSpPr>
        <p:grpSpPr>
          <a:xfrm>
            <a:off x="1092243" y="5410200"/>
            <a:ext cx="4905063" cy="2492865"/>
            <a:chOff x="0" y="0"/>
            <a:chExt cx="1291868" cy="656557"/>
          </a:xfrm>
        </p:grpSpPr>
        <p:sp>
          <p:nvSpPr>
            <p:cNvPr id="28" name="Freeform 28"/>
            <p:cNvSpPr/>
            <p:nvPr/>
          </p:nvSpPr>
          <p:spPr>
            <a:xfrm>
              <a:off x="0" y="0"/>
              <a:ext cx="1291868" cy="656557"/>
            </a:xfrm>
            <a:custGeom>
              <a:avLst/>
              <a:gdLst/>
              <a:ahLst/>
              <a:cxnLst/>
              <a:rect l="l" t="t" r="r" b="b"/>
              <a:pathLst>
                <a:path w="1291868" h="656557">
                  <a:moveTo>
                    <a:pt x="80496" y="0"/>
                  </a:moveTo>
                  <a:lnTo>
                    <a:pt x="1211372" y="0"/>
                  </a:lnTo>
                  <a:cubicBezTo>
                    <a:pt x="1255829" y="0"/>
                    <a:pt x="1291868" y="36039"/>
                    <a:pt x="1291868" y="80496"/>
                  </a:cubicBezTo>
                  <a:lnTo>
                    <a:pt x="1291868" y="576061"/>
                  </a:lnTo>
                  <a:cubicBezTo>
                    <a:pt x="1291868" y="620518"/>
                    <a:pt x="1255829" y="656557"/>
                    <a:pt x="1211372" y="656557"/>
                  </a:cubicBezTo>
                  <a:lnTo>
                    <a:pt x="80496" y="656557"/>
                  </a:lnTo>
                  <a:cubicBezTo>
                    <a:pt x="36039" y="656557"/>
                    <a:pt x="0" y="620518"/>
                    <a:pt x="0" y="576061"/>
                  </a:cubicBezTo>
                  <a:lnTo>
                    <a:pt x="0" y="80496"/>
                  </a:lnTo>
                  <a:cubicBezTo>
                    <a:pt x="0" y="36039"/>
                    <a:pt x="36039" y="0"/>
                    <a:pt x="80496" y="0"/>
                  </a:cubicBezTo>
                  <a:close/>
                </a:path>
              </a:pathLst>
            </a:custGeom>
            <a:solidFill>
              <a:srgbClr val="145DA0"/>
            </a:solidFill>
            <a:ln w="38100" cap="rnd">
              <a:solidFill>
                <a:srgbClr val="FBFCFD"/>
              </a:solidFill>
              <a:prstDash val="solid"/>
              <a:round/>
            </a:ln>
          </p:spPr>
          <p:txBody>
            <a:bodyPr/>
            <a:lstStyle/>
            <a:p>
              <a:endParaRPr lang="it-IT"/>
            </a:p>
          </p:txBody>
        </p:sp>
        <p:sp>
          <p:nvSpPr>
            <p:cNvPr id="29" name="TextBox 29"/>
            <p:cNvSpPr txBox="1"/>
            <p:nvPr/>
          </p:nvSpPr>
          <p:spPr>
            <a:xfrm>
              <a:off x="0" y="-66675"/>
              <a:ext cx="1291868" cy="723232"/>
            </a:xfrm>
            <a:prstGeom prst="rect">
              <a:avLst/>
            </a:prstGeom>
          </p:spPr>
          <p:txBody>
            <a:bodyPr lIns="50800" tIns="50800" rIns="50800" bIns="50800" rtlCol="0" anchor="ctr"/>
            <a:lstStyle/>
            <a:p>
              <a:pPr algn="ctr">
                <a:lnSpc>
                  <a:spcPts val="3219"/>
                </a:lnSpc>
              </a:pPr>
              <a:r>
                <a:rPr lang="en-US" sz="2299" b="1">
                  <a:solidFill>
                    <a:srgbClr val="17E3B2"/>
                  </a:solidFill>
                  <a:latin typeface="Almarai Bold"/>
                  <a:ea typeface="Almarai Bold"/>
                  <a:cs typeface="Almarai Bold"/>
                  <a:sym typeface="Almarai Bold"/>
                </a:rPr>
                <a:t>4.</a:t>
              </a:r>
            </a:p>
            <a:p>
              <a:pPr algn="ctr">
                <a:lnSpc>
                  <a:spcPts val="3219"/>
                </a:lnSpc>
              </a:pPr>
              <a:r>
                <a:rPr lang="en-US" sz="2299" b="1">
                  <a:solidFill>
                    <a:srgbClr val="17E3B2"/>
                  </a:solidFill>
                  <a:latin typeface="Almarai Bold"/>
                  <a:ea typeface="Almarai Bold"/>
                  <a:cs typeface="Almarai Bold"/>
                  <a:sym typeface="Almarai Bold"/>
                </a:rPr>
                <a:t>Robustezza dei controlli semantici</a:t>
              </a:r>
            </a:p>
            <a:p>
              <a:pPr algn="ctr">
                <a:lnSpc>
                  <a:spcPts val="3219"/>
                </a:lnSpc>
                <a:spcBef>
                  <a:spcPct val="0"/>
                </a:spcBef>
              </a:pPr>
              <a:r>
                <a:rPr lang="en-US" sz="2299">
                  <a:solidFill>
                    <a:srgbClr val="FFFFFF"/>
                  </a:solidFill>
                  <a:latin typeface="Almarai"/>
                  <a:ea typeface="Almarai"/>
                  <a:cs typeface="Almarai"/>
                  <a:sym typeface="Almarai"/>
                </a:rPr>
                <a:t> Attacchi possono evolvere in risposta a guardrail</a:t>
              </a:r>
            </a:p>
          </p:txBody>
        </p:sp>
      </p:grpSp>
      <p:sp>
        <p:nvSpPr>
          <p:cNvPr id="30" name="TextBox 30"/>
          <p:cNvSpPr txBox="1"/>
          <p:nvPr/>
        </p:nvSpPr>
        <p:spPr>
          <a:xfrm>
            <a:off x="1028700" y="8214532"/>
            <a:ext cx="15312131" cy="1072515"/>
          </a:xfrm>
          <a:prstGeom prst="rect">
            <a:avLst/>
          </a:prstGeom>
        </p:spPr>
        <p:txBody>
          <a:bodyPr lIns="0" tIns="0" rIns="0" bIns="0" rtlCol="0" anchor="t">
            <a:spAutoFit/>
          </a:bodyPr>
          <a:lstStyle/>
          <a:p>
            <a:pPr algn="ctr">
              <a:lnSpc>
                <a:spcPts val="4200"/>
              </a:lnSpc>
              <a:spcBef>
                <a:spcPct val="0"/>
              </a:spcBef>
            </a:pPr>
            <a:r>
              <a:rPr lang="en-US" sz="3000" b="1">
                <a:solidFill>
                  <a:srgbClr val="FFFFFF"/>
                </a:solidFill>
                <a:latin typeface="Almarai Bold"/>
                <a:ea typeface="Almarai Bold"/>
                <a:cs typeface="Almarai Bold"/>
                <a:sym typeface="Almarai Bold"/>
              </a:rPr>
              <a:t>Il threat model non è statico: nuove capacità, tool o livelli di autonomia richiedono una nuova iterazione dell’analisi.</a:t>
            </a:r>
          </a:p>
        </p:txBody>
      </p:sp>
      <p:sp>
        <p:nvSpPr>
          <p:cNvPr id="33" name="Text 59">
            <a:extLst>
              <a:ext uri="{FF2B5EF4-FFF2-40B4-BE49-F238E27FC236}">
                <a16:creationId xmlns:a16="http://schemas.microsoft.com/office/drawing/2014/main" id="{F2AB0CC8-18FB-148C-5364-D9A4C7E0E6CF}"/>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21</a:t>
            </a:r>
            <a:endParaRPr lang="en-US" sz="1575"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6605949" y="8402070"/>
            <a:ext cx="841991" cy="841991"/>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grpSp>
        <p:nvGrpSpPr>
          <p:cNvPr id="4" name="Group 4"/>
          <p:cNvGrpSpPr/>
          <p:nvPr/>
        </p:nvGrpSpPr>
        <p:grpSpPr>
          <a:xfrm>
            <a:off x="-5173055" y="-2043171"/>
            <a:ext cx="5754080" cy="8220114"/>
            <a:chOff x="0" y="0"/>
            <a:chExt cx="4445000" cy="6350000"/>
          </a:xfrm>
        </p:grpSpPr>
        <p:sp>
          <p:nvSpPr>
            <p:cNvPr id="5" name="Freeform 5"/>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6" name="Group 6"/>
          <p:cNvGrpSpPr/>
          <p:nvPr/>
        </p:nvGrpSpPr>
        <p:grpSpPr>
          <a:xfrm rot="-10800000">
            <a:off x="16605949" y="1202778"/>
            <a:ext cx="5246522" cy="7495031"/>
            <a:chOff x="0" y="0"/>
            <a:chExt cx="4445000" cy="6350000"/>
          </a:xfrm>
        </p:grpSpPr>
        <p:sp>
          <p:nvSpPr>
            <p:cNvPr id="7" name="Freeform 7"/>
            <p:cNvSpPr/>
            <p:nvPr/>
          </p:nvSpPr>
          <p:spPr>
            <a:xfrm>
              <a:off x="0" y="0"/>
              <a:ext cx="4445000" cy="6350000"/>
            </a:xfrm>
            <a:custGeom>
              <a:avLst/>
              <a:gdLst/>
              <a:ahLst/>
              <a:cxnLst/>
              <a:rect l="l" t="t" r="r" b="b"/>
              <a:pathLst>
                <a:path w="4445000" h="6350000">
                  <a:moveTo>
                    <a:pt x="2222500" y="6350000"/>
                  </a:moveTo>
                  <a:cubicBezTo>
                    <a:pt x="995680" y="6350000"/>
                    <a:pt x="0" y="5354320"/>
                    <a:pt x="0" y="4127500"/>
                  </a:cubicBezTo>
                  <a:lnTo>
                    <a:pt x="0" y="2222500"/>
                  </a:lnTo>
                  <a:cubicBezTo>
                    <a:pt x="0" y="995680"/>
                    <a:pt x="995680" y="0"/>
                    <a:pt x="2222500" y="0"/>
                  </a:cubicBezTo>
                  <a:cubicBezTo>
                    <a:pt x="3449320" y="0"/>
                    <a:pt x="4445000" y="995680"/>
                    <a:pt x="4445000" y="2222500"/>
                  </a:cubicBezTo>
                  <a:lnTo>
                    <a:pt x="4445000" y="4127500"/>
                  </a:lnTo>
                  <a:cubicBezTo>
                    <a:pt x="4445000" y="5354320"/>
                    <a:pt x="3449320" y="6350000"/>
                    <a:pt x="2222500" y="6350000"/>
                  </a:cubicBezTo>
                  <a:close/>
                </a:path>
              </a:pathLst>
            </a:custGeom>
            <a:blipFill>
              <a:blip r:embed="rId3"/>
              <a:stretch>
                <a:fillRect l="-201730" r="-201730"/>
              </a:stretch>
            </a:blipFill>
          </p:spPr>
          <p:txBody>
            <a:bodyPr/>
            <a:lstStyle/>
            <a:p>
              <a:endParaRPr lang="it-IT"/>
            </a:p>
          </p:txBody>
        </p:sp>
      </p:grpSp>
      <p:grpSp>
        <p:nvGrpSpPr>
          <p:cNvPr id="8" name="Group 8"/>
          <p:cNvGrpSpPr/>
          <p:nvPr/>
        </p:nvGrpSpPr>
        <p:grpSpPr>
          <a:xfrm rot="5400000">
            <a:off x="1144411" y="1337805"/>
            <a:ext cx="1224824" cy="1224824"/>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126211" r="-126211"/>
              </a:stretch>
            </a:blipFill>
          </p:spPr>
          <p:txBody>
            <a:bodyPr/>
            <a:lstStyle/>
            <a:p>
              <a:endParaRPr lang="it-IT"/>
            </a:p>
          </p:txBody>
        </p:sp>
      </p:grpSp>
      <p:sp>
        <p:nvSpPr>
          <p:cNvPr id="10" name="TextBox 10"/>
          <p:cNvSpPr txBox="1"/>
          <p:nvPr/>
        </p:nvSpPr>
        <p:spPr>
          <a:xfrm>
            <a:off x="2766869" y="1467525"/>
            <a:ext cx="14049124" cy="917201"/>
          </a:xfrm>
          <a:prstGeom prst="rect">
            <a:avLst/>
          </a:prstGeom>
        </p:spPr>
        <p:txBody>
          <a:bodyPr lIns="0" tIns="0" rIns="0" bIns="0" rtlCol="0" anchor="t">
            <a:spAutoFit/>
          </a:bodyPr>
          <a:lstStyle/>
          <a:p>
            <a:pPr marL="0" lvl="0" indent="0" algn="l">
              <a:lnSpc>
                <a:spcPts val="6036"/>
              </a:lnSpc>
              <a:spcBef>
                <a:spcPct val="0"/>
              </a:spcBef>
            </a:pPr>
            <a:r>
              <a:rPr lang="en-US" sz="5030" b="1">
                <a:solidFill>
                  <a:srgbClr val="FFFFFF"/>
                </a:solidFill>
                <a:latin typeface="Almarai Bold"/>
                <a:ea typeface="Almarai Bold"/>
                <a:cs typeface="Almarai Bold"/>
                <a:sym typeface="Almarai Bold"/>
              </a:rPr>
              <a:t>CONCLUSIONI</a:t>
            </a:r>
          </a:p>
        </p:txBody>
      </p:sp>
      <p:sp>
        <p:nvSpPr>
          <p:cNvPr id="11" name="TextBox 11"/>
          <p:cNvSpPr txBox="1"/>
          <p:nvPr/>
        </p:nvSpPr>
        <p:spPr>
          <a:xfrm>
            <a:off x="1768405" y="2819923"/>
            <a:ext cx="14837544" cy="613410"/>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1. Threat modeling asset-centered</a:t>
            </a:r>
          </a:p>
        </p:txBody>
      </p:sp>
      <p:sp>
        <p:nvSpPr>
          <p:cNvPr id="12" name="TextBox 12"/>
          <p:cNvSpPr txBox="1"/>
          <p:nvPr/>
        </p:nvSpPr>
        <p:spPr>
          <a:xfrm>
            <a:off x="1768405" y="3536151"/>
            <a:ext cx="14555022" cy="342900"/>
          </a:xfrm>
          <a:prstGeom prst="rect">
            <a:avLst/>
          </a:prstGeom>
        </p:spPr>
        <p:txBody>
          <a:bodyPr lIns="0" tIns="0" rIns="0" bIns="0" rtlCol="0" anchor="t">
            <a:spAutoFit/>
          </a:bodyPr>
          <a:lstStyle/>
          <a:p>
            <a:pPr algn="l">
              <a:lnSpc>
                <a:spcPts val="2759"/>
              </a:lnSpc>
            </a:pPr>
            <a:r>
              <a:rPr lang="en-US" sz="1999">
                <a:solidFill>
                  <a:srgbClr val="FFFFFF"/>
                </a:solidFill>
                <a:latin typeface="Almarai"/>
                <a:ea typeface="Almarai"/>
                <a:cs typeface="Almarai"/>
                <a:sym typeface="Almarai"/>
              </a:rPr>
              <a:t>L’analisi integra</a:t>
            </a:r>
            <a:r>
              <a:rPr lang="en-US" sz="1999" b="1">
                <a:solidFill>
                  <a:srgbClr val="FFFFFF"/>
                </a:solidFill>
                <a:latin typeface="Almarai Bold"/>
                <a:ea typeface="Almarai Bold"/>
                <a:cs typeface="Almarai Bold"/>
                <a:sym typeface="Almarai Bold"/>
              </a:rPr>
              <a:t> STRIDE-AI, CIA³-R e OWASP Agentic</a:t>
            </a:r>
            <a:r>
              <a:rPr lang="en-US" sz="1999">
                <a:solidFill>
                  <a:srgbClr val="FFFFFF"/>
                </a:solidFill>
                <a:latin typeface="Almarai"/>
                <a:ea typeface="Almarai"/>
                <a:cs typeface="Almarai"/>
                <a:sym typeface="Almarai"/>
              </a:rPr>
              <a:t> per collegare asset, trust boundary e scenari di attacco.</a:t>
            </a:r>
          </a:p>
        </p:txBody>
      </p:sp>
      <p:sp>
        <p:nvSpPr>
          <p:cNvPr id="13" name="TextBox 13"/>
          <p:cNvSpPr txBox="1"/>
          <p:nvPr/>
        </p:nvSpPr>
        <p:spPr>
          <a:xfrm>
            <a:off x="1028700" y="1480657"/>
            <a:ext cx="1456246" cy="850434"/>
          </a:xfrm>
          <a:prstGeom prst="rect">
            <a:avLst/>
          </a:prstGeom>
        </p:spPr>
        <p:txBody>
          <a:bodyPr lIns="0" tIns="0" rIns="0" bIns="0" rtlCol="0" anchor="t">
            <a:spAutoFit/>
          </a:bodyPr>
          <a:lstStyle/>
          <a:p>
            <a:pPr algn="ctr">
              <a:lnSpc>
                <a:spcPts val="6817"/>
              </a:lnSpc>
            </a:pPr>
            <a:r>
              <a:rPr lang="en-US" sz="4940" b="1">
                <a:solidFill>
                  <a:srgbClr val="FFFFFF"/>
                </a:solidFill>
                <a:latin typeface="Almarai Bold"/>
                <a:ea typeface="Almarai Bold"/>
                <a:cs typeface="Almarai Bold"/>
                <a:sym typeface="Almarai Bold"/>
              </a:rPr>
              <a:t>14</a:t>
            </a:r>
          </a:p>
        </p:txBody>
      </p:sp>
      <p:sp>
        <p:nvSpPr>
          <p:cNvPr id="14" name="TextBox 14"/>
          <p:cNvSpPr txBox="1"/>
          <p:nvPr/>
        </p:nvSpPr>
        <p:spPr>
          <a:xfrm>
            <a:off x="1768405" y="4136227"/>
            <a:ext cx="14837544" cy="613410"/>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2. Rischi prioritari individuati</a:t>
            </a:r>
          </a:p>
        </p:txBody>
      </p:sp>
      <p:sp>
        <p:nvSpPr>
          <p:cNvPr id="15" name="TextBox 15"/>
          <p:cNvSpPr txBox="1"/>
          <p:nvPr/>
        </p:nvSpPr>
        <p:spPr>
          <a:xfrm>
            <a:off x="1768405" y="4854412"/>
            <a:ext cx="14555022" cy="1036320"/>
          </a:xfrm>
          <a:prstGeom prst="rect">
            <a:avLst/>
          </a:prstGeom>
        </p:spPr>
        <p:txBody>
          <a:bodyPr lIns="0" tIns="0" rIns="0" bIns="0" rtlCol="0" anchor="t">
            <a:spAutoFit/>
          </a:bodyPr>
          <a:lstStyle/>
          <a:p>
            <a:pPr algn="l">
              <a:lnSpc>
                <a:spcPts val="2759"/>
              </a:lnSpc>
            </a:pPr>
            <a:r>
              <a:rPr lang="en-US" sz="1999">
                <a:solidFill>
                  <a:srgbClr val="FFFFFF"/>
                </a:solidFill>
                <a:latin typeface="Almarai"/>
                <a:ea typeface="Almarai"/>
                <a:cs typeface="Almarai"/>
                <a:sym typeface="Almarai"/>
              </a:rPr>
              <a:t>Sono emersi 5 scenari principali:</a:t>
            </a:r>
          </a:p>
          <a:p>
            <a:pPr algn="l">
              <a:lnSpc>
                <a:spcPts val="2759"/>
              </a:lnSpc>
            </a:pPr>
            <a:r>
              <a:rPr lang="en-US" sz="1999" b="1">
                <a:solidFill>
                  <a:srgbClr val="FF5757"/>
                </a:solidFill>
                <a:latin typeface="Almarai Bold"/>
                <a:ea typeface="Almarai Bold"/>
                <a:cs typeface="Almarai Bold"/>
                <a:sym typeface="Almarai Bold"/>
              </a:rPr>
              <a:t>2 Critici</a:t>
            </a:r>
            <a:r>
              <a:rPr lang="en-US" sz="1999">
                <a:solidFill>
                  <a:srgbClr val="FFFFFF"/>
                </a:solidFill>
                <a:latin typeface="Almarai"/>
                <a:ea typeface="Almarai"/>
                <a:cs typeface="Almarai"/>
                <a:sym typeface="Almarai"/>
              </a:rPr>
              <a:t> — Goal Hijack e Memory Poisoning</a:t>
            </a:r>
          </a:p>
          <a:p>
            <a:pPr algn="l">
              <a:lnSpc>
                <a:spcPts val="2759"/>
              </a:lnSpc>
            </a:pPr>
            <a:r>
              <a:rPr lang="en-US" sz="1999" b="1">
                <a:solidFill>
                  <a:srgbClr val="FF751F"/>
                </a:solidFill>
                <a:latin typeface="Almarai Bold"/>
                <a:ea typeface="Almarai Bold"/>
                <a:cs typeface="Almarai Bold"/>
                <a:sym typeface="Almarai Bold"/>
              </a:rPr>
              <a:t>3 Alti </a:t>
            </a:r>
            <a:r>
              <a:rPr lang="en-US" sz="1999">
                <a:solidFill>
                  <a:srgbClr val="FFFFFF"/>
                </a:solidFill>
                <a:latin typeface="Almarai"/>
                <a:ea typeface="Almarai"/>
                <a:cs typeface="Almarai"/>
                <a:sym typeface="Almarai"/>
              </a:rPr>
              <a:t>— Privilege Abuse, Message Replay e Human-Agent Trust Exploitation.</a:t>
            </a:r>
          </a:p>
        </p:txBody>
      </p:sp>
      <p:sp>
        <p:nvSpPr>
          <p:cNvPr id="16" name="TextBox 16"/>
          <p:cNvSpPr txBox="1"/>
          <p:nvPr/>
        </p:nvSpPr>
        <p:spPr>
          <a:xfrm>
            <a:off x="1768405" y="6155527"/>
            <a:ext cx="14837544" cy="613410"/>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3. Secure architecture</a:t>
            </a:r>
          </a:p>
        </p:txBody>
      </p:sp>
      <p:sp>
        <p:nvSpPr>
          <p:cNvPr id="17" name="TextBox 17"/>
          <p:cNvSpPr txBox="1"/>
          <p:nvPr/>
        </p:nvSpPr>
        <p:spPr>
          <a:xfrm>
            <a:off x="1756823" y="6873712"/>
            <a:ext cx="14555022" cy="1028700"/>
          </a:xfrm>
          <a:prstGeom prst="rect">
            <a:avLst/>
          </a:prstGeom>
        </p:spPr>
        <p:txBody>
          <a:bodyPr lIns="0" tIns="0" rIns="0" bIns="0" rtlCol="0" anchor="t">
            <a:spAutoFit/>
          </a:bodyPr>
          <a:lstStyle/>
          <a:p>
            <a:pPr algn="l">
              <a:lnSpc>
                <a:spcPts val="2759"/>
              </a:lnSpc>
            </a:pPr>
            <a:r>
              <a:rPr lang="en-US" sz="1999">
                <a:solidFill>
                  <a:srgbClr val="FFFFFF"/>
                </a:solidFill>
                <a:latin typeface="Almarai"/>
                <a:ea typeface="Almarai"/>
                <a:cs typeface="Almarai"/>
                <a:sym typeface="Almarai"/>
              </a:rPr>
              <a:t>Le sette precauzioni vengono tradotte in controlli concreti:</a:t>
            </a:r>
          </a:p>
          <a:p>
            <a:pPr algn="l">
              <a:lnSpc>
                <a:spcPts val="2759"/>
              </a:lnSpc>
            </a:pPr>
            <a:r>
              <a:rPr lang="en-US" sz="1999" b="1">
                <a:solidFill>
                  <a:srgbClr val="FFFFFF"/>
                </a:solidFill>
                <a:latin typeface="Almarai Bold"/>
                <a:ea typeface="Almarai Bold"/>
                <a:cs typeface="Almarai Bold"/>
                <a:sym typeface="Almarai Bold"/>
              </a:rPr>
              <a:t>Least Agency · Validation · Identity · Authorization · Monitoring · Fail-Safe</a:t>
            </a:r>
          </a:p>
          <a:p>
            <a:pPr algn="l">
              <a:lnSpc>
                <a:spcPts val="2759"/>
              </a:lnSpc>
            </a:pPr>
            <a:r>
              <a:rPr lang="en-US" sz="1999">
                <a:solidFill>
                  <a:srgbClr val="FFFFFF"/>
                </a:solidFill>
                <a:latin typeface="Almarai"/>
                <a:ea typeface="Almarai"/>
                <a:cs typeface="Almarai"/>
                <a:sym typeface="Almarai"/>
              </a:rPr>
              <a:t>L’obiettivo è impedire che output probabilistici producano direttamente effetti su stato, privilegi o risorse downstream.</a:t>
            </a:r>
          </a:p>
        </p:txBody>
      </p:sp>
      <p:sp>
        <p:nvSpPr>
          <p:cNvPr id="18" name="TextBox 18"/>
          <p:cNvSpPr txBox="1"/>
          <p:nvPr/>
        </p:nvSpPr>
        <p:spPr>
          <a:xfrm>
            <a:off x="1725228" y="8159587"/>
            <a:ext cx="14837544" cy="613410"/>
          </a:xfrm>
          <a:prstGeom prst="rect">
            <a:avLst/>
          </a:prstGeom>
        </p:spPr>
        <p:txBody>
          <a:bodyPr lIns="0" tIns="0" rIns="0" bIns="0" rtlCol="0" anchor="t">
            <a:spAutoFit/>
          </a:bodyPr>
          <a:lstStyle/>
          <a:p>
            <a:pPr marL="0" lvl="0" indent="0" algn="l">
              <a:lnSpc>
                <a:spcPts val="4830"/>
              </a:lnSpc>
              <a:spcBef>
                <a:spcPct val="0"/>
              </a:spcBef>
            </a:pPr>
            <a:r>
              <a:rPr lang="en-US" sz="3500" b="1">
                <a:solidFill>
                  <a:srgbClr val="17E3B2"/>
                </a:solidFill>
                <a:latin typeface="Almarai Bold"/>
                <a:ea typeface="Almarai Bold"/>
                <a:cs typeface="Almarai Bold"/>
                <a:sym typeface="Almarai Bold"/>
              </a:rPr>
              <a:t>4. Sicurezza compatibile con il real-time</a:t>
            </a:r>
          </a:p>
        </p:txBody>
      </p:sp>
      <p:sp>
        <p:nvSpPr>
          <p:cNvPr id="19" name="TextBox 19"/>
          <p:cNvSpPr txBox="1"/>
          <p:nvPr/>
        </p:nvSpPr>
        <p:spPr>
          <a:xfrm>
            <a:off x="1734753" y="8877772"/>
            <a:ext cx="14555022" cy="678180"/>
          </a:xfrm>
          <a:prstGeom prst="rect">
            <a:avLst/>
          </a:prstGeom>
        </p:spPr>
        <p:txBody>
          <a:bodyPr lIns="0" tIns="0" rIns="0" bIns="0" rtlCol="0" anchor="t">
            <a:spAutoFit/>
          </a:bodyPr>
          <a:lstStyle/>
          <a:p>
            <a:pPr algn="l">
              <a:lnSpc>
                <a:spcPts val="2759"/>
              </a:lnSpc>
            </a:pPr>
            <a:r>
              <a:rPr lang="en-US" sz="1999">
                <a:solidFill>
                  <a:srgbClr val="FFFFFF"/>
                </a:solidFill>
                <a:latin typeface="Almarai"/>
                <a:ea typeface="Almarai"/>
                <a:cs typeface="Almarai"/>
                <a:sym typeface="Almarai"/>
              </a:rPr>
              <a:t>Il vincolo del Fast Path viene preservato attraverso il security control placement:</a:t>
            </a:r>
          </a:p>
          <a:p>
            <a:pPr algn="l">
              <a:lnSpc>
                <a:spcPts val="2759"/>
              </a:lnSpc>
            </a:pPr>
            <a:r>
              <a:rPr lang="en-US" sz="1999">
                <a:solidFill>
                  <a:srgbClr val="FFFFFF"/>
                </a:solidFill>
                <a:latin typeface="Almarai"/>
                <a:ea typeface="Almarai"/>
                <a:cs typeface="Almarai"/>
                <a:sym typeface="Almarai"/>
              </a:rPr>
              <a:t> controlli essenziali sincroni, verifiche più onerose sul Background Path o fuori dal turno conversazionale. </a:t>
            </a:r>
          </a:p>
        </p:txBody>
      </p:sp>
      <p:sp>
        <p:nvSpPr>
          <p:cNvPr id="22" name="Text 59">
            <a:extLst>
              <a:ext uri="{FF2B5EF4-FFF2-40B4-BE49-F238E27FC236}">
                <a16:creationId xmlns:a16="http://schemas.microsoft.com/office/drawing/2014/main" id="{E61020B4-AEE2-C75A-229B-FA2DF4FA6803}"/>
              </a:ext>
            </a:extLst>
          </p:cNvPr>
          <p:cNvSpPr/>
          <p:nvPr/>
        </p:nvSpPr>
        <p:spPr>
          <a:xfrm>
            <a:off x="17172432" y="493776"/>
            <a:ext cx="438912" cy="246888"/>
          </a:xfrm>
          <a:prstGeom prst="rect">
            <a:avLst/>
          </a:prstGeom>
          <a:noFill/>
          <a:ln/>
        </p:spPr>
        <p:txBody>
          <a:bodyPr wrap="square" lIns="0" tIns="0" rIns="0" bIns="0" rtlCol="0" anchor="ctr"/>
          <a:lstStyle/>
          <a:p>
            <a:pPr algn="r"/>
            <a:r>
              <a:rPr lang="en-US" sz="1575" dirty="0">
                <a:solidFill>
                  <a:srgbClr val="9DB9CE"/>
                </a:solidFill>
                <a:latin typeface="Aptos" pitchFamily="34" charset="0"/>
                <a:ea typeface="Aptos" pitchFamily="34" charset="-122"/>
                <a:cs typeface="Aptos" pitchFamily="34" charset="-120"/>
              </a:rPr>
              <a:t>22</a:t>
            </a:r>
            <a:endParaRPr lang="en-US" sz="1575"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51D40"/>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7203511" y="-797489"/>
            <a:ext cx="7569105" cy="12542473"/>
            <a:chOff x="0" y="0"/>
            <a:chExt cx="6108573" cy="10122281"/>
          </a:xfrm>
        </p:grpSpPr>
        <p:sp>
          <p:nvSpPr>
            <p:cNvPr id="3" name="Freeform 3"/>
            <p:cNvSpPr/>
            <p:nvPr/>
          </p:nvSpPr>
          <p:spPr>
            <a:xfrm>
              <a:off x="0" y="0"/>
              <a:ext cx="6108573" cy="10122281"/>
            </a:xfrm>
            <a:custGeom>
              <a:avLst/>
              <a:gdLst/>
              <a:ahLst/>
              <a:cxnLst/>
              <a:rect l="l" t="t" r="r" b="b"/>
              <a:pathLst>
                <a:path w="6108573" h="10122281">
                  <a:moveTo>
                    <a:pt x="6108573" y="0"/>
                  </a:moveTo>
                  <a:lnTo>
                    <a:pt x="6108573" y="5253059"/>
                  </a:lnTo>
                  <a:cubicBezTo>
                    <a:pt x="6108573" y="7942347"/>
                    <a:pt x="4741164" y="10122281"/>
                    <a:pt x="3054350" y="10122281"/>
                  </a:cubicBezTo>
                  <a:cubicBezTo>
                    <a:pt x="1367536" y="10122281"/>
                    <a:pt x="0" y="7942347"/>
                    <a:pt x="0" y="5253262"/>
                  </a:cubicBezTo>
                  <a:lnTo>
                    <a:pt x="0" y="0"/>
                  </a:lnTo>
                  <a:lnTo>
                    <a:pt x="6108573" y="0"/>
                  </a:lnTo>
                  <a:close/>
                </a:path>
              </a:pathLst>
            </a:custGeom>
            <a:blipFill>
              <a:blip r:embed="rId2"/>
              <a:stretch>
                <a:fillRect l="-241993" r="-241993"/>
              </a:stretch>
            </a:blipFill>
          </p:spPr>
          <p:txBody>
            <a:bodyPr/>
            <a:lstStyle/>
            <a:p>
              <a:endParaRPr lang="it-IT"/>
            </a:p>
          </p:txBody>
        </p:sp>
      </p:grpSp>
      <p:grpSp>
        <p:nvGrpSpPr>
          <p:cNvPr id="4" name="Group 4"/>
          <p:cNvGrpSpPr/>
          <p:nvPr/>
        </p:nvGrpSpPr>
        <p:grpSpPr>
          <a:xfrm rot="-5400000">
            <a:off x="3515384" y="-797489"/>
            <a:ext cx="7569105" cy="12542473"/>
            <a:chOff x="0" y="0"/>
            <a:chExt cx="6108573" cy="10122281"/>
          </a:xfrm>
        </p:grpSpPr>
        <p:sp>
          <p:nvSpPr>
            <p:cNvPr id="5" name="Freeform 5"/>
            <p:cNvSpPr/>
            <p:nvPr/>
          </p:nvSpPr>
          <p:spPr>
            <a:xfrm>
              <a:off x="0" y="0"/>
              <a:ext cx="6108573" cy="10122281"/>
            </a:xfrm>
            <a:custGeom>
              <a:avLst/>
              <a:gdLst/>
              <a:ahLst/>
              <a:cxnLst/>
              <a:rect l="l" t="t" r="r" b="b"/>
              <a:pathLst>
                <a:path w="6108573" h="10122281">
                  <a:moveTo>
                    <a:pt x="6108573" y="0"/>
                  </a:moveTo>
                  <a:lnTo>
                    <a:pt x="6108573" y="5253059"/>
                  </a:lnTo>
                  <a:cubicBezTo>
                    <a:pt x="6108573" y="7942347"/>
                    <a:pt x="4741164" y="10122281"/>
                    <a:pt x="3054350" y="10122281"/>
                  </a:cubicBezTo>
                  <a:cubicBezTo>
                    <a:pt x="1367536" y="10122281"/>
                    <a:pt x="0" y="7942347"/>
                    <a:pt x="0" y="5253262"/>
                  </a:cubicBezTo>
                  <a:lnTo>
                    <a:pt x="0" y="0"/>
                  </a:lnTo>
                  <a:lnTo>
                    <a:pt x="6108573" y="0"/>
                  </a:lnTo>
                  <a:close/>
                </a:path>
              </a:pathLst>
            </a:custGeom>
            <a:blipFill>
              <a:blip r:embed="rId2"/>
              <a:stretch>
                <a:fillRect l="-241993" r="-241993"/>
              </a:stretch>
            </a:blipFill>
          </p:spPr>
          <p:txBody>
            <a:bodyPr/>
            <a:lstStyle/>
            <a:p>
              <a:endParaRPr lang="it-IT"/>
            </a:p>
          </p:txBody>
        </p:sp>
      </p:grpSp>
      <p:grpSp>
        <p:nvGrpSpPr>
          <p:cNvPr id="6" name="Group 6"/>
          <p:cNvGrpSpPr/>
          <p:nvPr/>
        </p:nvGrpSpPr>
        <p:grpSpPr>
          <a:xfrm rot="-5400000">
            <a:off x="4557683" y="-797489"/>
            <a:ext cx="7569105" cy="12542473"/>
            <a:chOff x="0" y="0"/>
            <a:chExt cx="6108573" cy="10122281"/>
          </a:xfrm>
        </p:grpSpPr>
        <p:sp>
          <p:nvSpPr>
            <p:cNvPr id="7" name="Freeform 7"/>
            <p:cNvSpPr/>
            <p:nvPr/>
          </p:nvSpPr>
          <p:spPr>
            <a:xfrm>
              <a:off x="0" y="0"/>
              <a:ext cx="6108573" cy="10122281"/>
            </a:xfrm>
            <a:custGeom>
              <a:avLst/>
              <a:gdLst/>
              <a:ahLst/>
              <a:cxnLst/>
              <a:rect l="l" t="t" r="r" b="b"/>
              <a:pathLst>
                <a:path w="6108573" h="10122281">
                  <a:moveTo>
                    <a:pt x="6108573" y="0"/>
                  </a:moveTo>
                  <a:lnTo>
                    <a:pt x="6108573" y="5253059"/>
                  </a:lnTo>
                  <a:cubicBezTo>
                    <a:pt x="6108573" y="7942347"/>
                    <a:pt x="4741164" y="10122281"/>
                    <a:pt x="3054350" y="10122281"/>
                  </a:cubicBezTo>
                  <a:cubicBezTo>
                    <a:pt x="1367536" y="10122281"/>
                    <a:pt x="0" y="7942347"/>
                    <a:pt x="0" y="5253262"/>
                  </a:cubicBezTo>
                  <a:lnTo>
                    <a:pt x="0" y="0"/>
                  </a:lnTo>
                  <a:lnTo>
                    <a:pt x="6108573" y="0"/>
                  </a:lnTo>
                  <a:close/>
                </a:path>
              </a:pathLst>
            </a:custGeom>
            <a:blipFill>
              <a:blip r:embed="rId2"/>
              <a:stretch>
                <a:fillRect l="-241993" r="-241993"/>
              </a:stretch>
            </a:blipFill>
          </p:spPr>
          <p:txBody>
            <a:bodyPr/>
            <a:lstStyle/>
            <a:p>
              <a:endParaRPr lang="it-IT"/>
            </a:p>
          </p:txBody>
        </p:sp>
      </p:grpSp>
      <p:sp>
        <p:nvSpPr>
          <p:cNvPr id="8" name="TextBox 8"/>
          <p:cNvSpPr txBox="1"/>
          <p:nvPr/>
        </p:nvSpPr>
        <p:spPr>
          <a:xfrm>
            <a:off x="4473360" y="4927843"/>
            <a:ext cx="9341280" cy="815041"/>
          </a:xfrm>
          <a:prstGeom prst="rect">
            <a:avLst/>
          </a:prstGeom>
        </p:spPr>
        <p:txBody>
          <a:bodyPr lIns="0" tIns="0" rIns="0" bIns="0" rtlCol="0" anchor="t">
            <a:spAutoFit/>
          </a:bodyPr>
          <a:lstStyle/>
          <a:p>
            <a:pPr marL="0" lvl="0" indent="0" algn="l">
              <a:lnSpc>
                <a:spcPts val="5599"/>
              </a:lnSpc>
            </a:pPr>
            <a:r>
              <a:rPr lang="en-US" sz="3999" b="1" spc="243">
                <a:solidFill>
                  <a:srgbClr val="FBFCFD"/>
                </a:solidFill>
                <a:latin typeface="Almarai Bold"/>
                <a:ea typeface="Almarai Bold"/>
                <a:cs typeface="Almarai Bold"/>
                <a:sym typeface="Almarai Bold"/>
              </a:rPr>
              <a:t>GRAZIE PER L’ATTENZIONE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TotalTime>
  <Words>4627</Words>
  <Application>Microsoft Office PowerPoint</Application>
  <PresentationFormat>Custom</PresentationFormat>
  <Paragraphs>478</Paragraphs>
  <Slides>25</Slides>
  <Notes>23</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25</vt:i4>
      </vt:variant>
    </vt:vector>
  </HeadingPairs>
  <TitlesOfParts>
    <vt:vector size="35" baseType="lpstr">
      <vt:lpstr>Aptos</vt:lpstr>
      <vt:lpstr>Almarai</vt:lpstr>
      <vt:lpstr>Almarai Bold</vt:lpstr>
      <vt:lpstr>Aptos Display</vt:lpstr>
      <vt:lpstr>Open Sans Bold</vt:lpstr>
      <vt:lpstr>Arial</vt:lpstr>
      <vt:lpstr>Open Sans</vt:lpstr>
      <vt:lpstr>Calibri</vt: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Progetto1.2</dc:title>
  <cp:lastModifiedBy>Alessio Bonora</cp:lastModifiedBy>
  <cp:revision>3</cp:revision>
  <dcterms:created xsi:type="dcterms:W3CDTF">2006-08-16T00:00:00Z</dcterms:created>
  <dcterms:modified xsi:type="dcterms:W3CDTF">2026-09-15T16:08:20Z</dcterms:modified>
  <dc:identifier>DAHVG8dj_7Y</dc:identifier>
</cp:coreProperties>
</file>
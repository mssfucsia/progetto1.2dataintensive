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Almarai Bold" charset="1" panose="00000000000000000000"/>
      <p:regular r:id="rId34"/>
    </p:embeddedFont>
    <p:embeddedFont>
      <p:font typeface="Open Sans" charset="1" panose="020B0606030504020204"/>
      <p:regular r:id="rId35"/>
    </p:embeddedFont>
    <p:embeddedFont>
      <p:font typeface="Almarai" charset="1" panose="00000000000000000000"/>
      <p:regular r:id="rId37"/>
    </p:embeddedFont>
    <p:embeddedFont>
      <p:font typeface="Open Sans Bold" charset="1" panose="020B0806030504020204"/>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37" Target="fonts/font37.fntdata" Type="http://schemas.openxmlformats.org/officeDocument/2006/relationships/font"/><Relationship Id="rId38" Target="notesSlides/notesSlide3.xml" Type="http://schemas.openxmlformats.org/officeDocument/2006/relationships/notesSlide"/><Relationship Id="rId39" Target="notesSlides/notesSlide4.xml" Type="http://schemas.openxmlformats.org/officeDocument/2006/relationships/notesSlide"/><Relationship Id="rId4" Target="theme/theme1.xml" Type="http://schemas.openxmlformats.org/officeDocument/2006/relationships/theme"/><Relationship Id="rId40" Target="notesSlides/notesSlide5.xml" Type="http://schemas.openxmlformats.org/officeDocument/2006/relationships/notesSlide"/><Relationship Id="rId41" Target="notesSlides/notesSlide6.xml" Type="http://schemas.openxmlformats.org/officeDocument/2006/relationships/notesSlide"/><Relationship Id="rId42" Target="notesSlides/notesSlide7.xml" Type="http://schemas.openxmlformats.org/officeDocument/2006/relationships/notesSlide"/><Relationship Id="rId43" Target="notesSlides/notesSlide8.xml" Type="http://schemas.openxmlformats.org/officeDocument/2006/relationships/notesSlide"/><Relationship Id="rId44" Target="notesSlides/notesSlide9.xml" Type="http://schemas.openxmlformats.org/officeDocument/2006/relationships/notesSlide"/><Relationship Id="rId45" Target="notesSlides/notesSlide10.xml" Type="http://schemas.openxmlformats.org/officeDocument/2006/relationships/notesSlide"/><Relationship Id="rId46" Target="notesSlides/notesSlide11.xml" Type="http://schemas.openxmlformats.org/officeDocument/2006/relationships/notesSlide"/><Relationship Id="rId47" Target="notesSlides/notesSlide12.xml" Type="http://schemas.openxmlformats.org/officeDocument/2006/relationships/notesSlide"/><Relationship Id="rId48" Target="notesSlides/notesSlide13.xml" Type="http://schemas.openxmlformats.org/officeDocument/2006/relationships/notesSlide"/><Relationship Id="rId49" Target="notesSlides/notesSlide14.xml" Type="http://schemas.openxmlformats.org/officeDocument/2006/relationships/notesSlide"/><Relationship Id="rId5" Target="tableStyles.xml" Type="http://schemas.openxmlformats.org/officeDocument/2006/relationships/tableStyles"/><Relationship Id="rId50" Target="notesSlides/notesSlide15.xml" Type="http://schemas.openxmlformats.org/officeDocument/2006/relationships/notesSlide"/><Relationship Id="rId51" Target="notesSlides/notesSlide16.xml" Type="http://schemas.openxmlformats.org/officeDocument/2006/relationships/notesSlide"/><Relationship Id="rId52" Target="notesSlides/notesSlide17.xml" Type="http://schemas.openxmlformats.org/officeDocument/2006/relationships/notesSlide"/><Relationship Id="rId53" Target="notesSlides/notesSlide18.xml" Type="http://schemas.openxmlformats.org/officeDocument/2006/relationships/notesSlide"/><Relationship Id="rId54" Target="fonts/font54.fntdata" Type="http://schemas.openxmlformats.org/officeDocument/2006/relationships/font"/><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59" Target="notesSlides/notesSlide23.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Buongiorno a tutti. Con questo lavoro presentiamo il threat modeling di una pipeline agentica per un digital human embodied operante in tempo reale. L'obiettivo fondamentale del nostro progetto è analizzare come sia possibile mascherare l'intensa latenza di calcolo tipica dei modelli generativi multimediali senza sacrificare le garanzie di sicurezza. Vedremo come l'approccio agentico dual-brain introduca vettori di attacco del tutto peculiari e come abbiamo strutturato un'architettura sicura per mitigarli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Il caso di studio su cui è applicata la pipeline è Al-Hakima Umm Saif, un avatar embodied che impersona un'anziana figura tradizionale degli Emirati, caratterizzata da un registro linguistico materno ed empatico e dispensatrice di consigli erboristici. Questo elemento di design introduce un fattore critico di sicurezza: l'elevata persuasione e il forte Human-Agent Trust indotto dalla voce clonata e dall'iperrealismo visivo. Se l'avatar viene manipolato, l'utente è psicologicamente incline ad accettare persino prescrizioni sanitarie dannose. L'integrità dei contenuti diventa quindi un requisito di safety primario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L'agenda segue rigorosamente le fasi canoniche di threat modeling. Partiremo dall'inquadramento del contesto applicativo e dalla definizione dello scope. Esamineremo poi l'architettura della pipeline e i confini fiduciari, per formalizzare il nostro Asset Model secondo STRIDE-AI e le proprietà CIA³-R. Mapperemo quindi i rischi sulla tassonomia OWASP Agentic 2026, ne mostreremo la prioritizzazione qualitativa sulla baseline e illustreremo come le Sette Precauzioni intervengano a mitigare i cinque scenari di rischio più critici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 scope comprende l'intera pipeline di inferenza, i canali di coordinamento e i servizi multimediali downstream, escludendo interpreti di codice dinamico non presenti nel perimetro. Dal punto di vista metodologico, superiamo la FMEA tradizionale adottando STRIDE-AI, esteso alle sette proprietà del framework CIA³-R per catturare autenticazione, autorizzazione e accountability. I rischi sono strutturati attorno all'OWASP Agentic Top 10 del 2026. È cruciale sottolineare che valutiamo il rischio inerente sulla baseline pura, mentre l'efficacia dei controlli basati sulle Sette Precauzioni definisce la secure architecture e il rischio residuo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Ecco la vista funzionale del sistema. L'input utente viene instradato dal Request Router su due percorsi concorrenti. L'Instant Path elabora i primi token vocali in meno di 800 millisecondi tramite il Fast-Brain, selezionando clip pre-renderizzate di thinking e brevi frasi di filler. Parallelamente, il Background Path esegue la RAG su FAISS con Falcon-7E, invocando Veo 3.1 per il video cinematico e i modelli TTS con lip-sync. Quando il rendering termina, il Video Ready Signal notifica lo Swap Manager: una macchina a stati deterministica che esegue un seamless cut dal filler al video finale senza produrre glitch o salti posturali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Abbiamo identificato sei trust boundary critici. TB1 gestisce l'ingresso da utenti non autenticati. TB2 separa l'edge dallo streaming di token verso i due cervelli. TB3 è il confine più delicato del control plane: protegge l'Orchestratore e lo Swap Manager da messaggi agentici non validati. TB4 isola la Knowledge Base vettoriale per prevenire contaminazioni del contesto. Infine, TB5 e TB6 presidiano l'invocazione dei worker multimediali downstream e la trasmissione finale WebRTC verso l'utente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13 Data Assets sono clusterizzati in tre macro-gruppi logici. I Flussi Conversazionali (D1-D3, D6) includono l'audio grezzo e i token parziali, soggetti a prompt injection o manomissione. Gli Asset di Identità e Multimediali (D5, D7-D9, D11) custodiscono i file sorgente della personalità e i riferimenti biometrici per la voce clonata, a rischio spoofing. Infine, Conoscenza, Stato e Credenziali (D4, D10, D12-D13) comprendono gli indici vettoriali FAISS, lo stato dello swap e le workload identity, bersagli primari per data poisoning ed escalation di privilegi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Parallelamente, gli 11 Model Assets coprono sia i modelli sia la logica decisionale. Troviamo gli Agenti Decisionali (M1-M3), ovvero Fast-Brain, Deep-Brain e system prompt, esposti a deviazioni di obiettivo. Seguono i Modelli Multimodali Downstream (M4-M8), responsabili di retrieval, sintesi vocale e generazione video. Infine, il Control Plane e Validation Layer (M9-M11), che racchiude Router, Swap Manager e il componente M11: modelliamo M11 già come asset poiché, introducendo guardrail e validazioni, deve essere difeso a sua volta da tentativi di bypass o DoS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Questa tabella sintetizza la copertura completa dell'OWASP Agentic Top 10 2026. Dimostra una mappatura sistematica su tutta la tassonomia: isoliamo chiaramente cinque scenari prioritari — due Critici e tre Alti — mentre categorizziamo minacce come il Tool Misuse o la Cascading Failure come Medie grazie alla sequenza funzionale predeterminata della pipeline. Da notare che ASI05 sulla Unexpected Code Execution risulta formalmente non applicabile, poiché l'architettura esclude a livello di scope qualsiasi interprete dinamico di codice o shell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 formalizzare la prioritizzazione abbiamo adottato una matrice qualitativa 3x3 basata su Severity e Likelihood applicata alla sola baseline. La Likelihood misura l'accessibilità del vettore e la ripetibilità dell'attacco, distinguendo canali pubblici aperti da canali interni protetti. La Severity valuta l'impatto CIA³-R e include specifici amplificatori agentici: la persistenza del danno cross-sessione e l'effetto persuasivo dell'avatar Al-Hakima. L'incrocio tra queste due dimensioni isola oggettivamente le classi di rischio critiche e alte che richiedono contromisure obbligatorie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secure architecture traduce i requisiti di sicurezza nelle Sette Precauzioni fondamentali per sistemi agentici. Applichiamo la Least Agency limitando l'autonomia dei due cervelli e isolando le memorie. Interponiamo guardrail deterministici con strict schema e fallback. Separiamo i workload con mTLS e sandboxing deny-by-default. Introduciamo audit log immutabili privi di catene di pensiero interne, verifica continua della supply chain tramite SBOM e AIBOM, monitoraggio runtime con circuit breaker e audit periodici ispirati alla conformità AIVSS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Il primo scenario critico è l'Agent Goal Hijack. Sfruttando l'input vocale aperto, l'attaccante inietta istruzioni malevole anche tramite chunk splitting, ovvero frammentando il payload su più turni di trascrizione parziale. Il Fast-Brain, vincolato alla soglia di 800 ms, esegue l'istruzione deviando filler e gesti; parallelamente il Deep-Brain produce una risposta erboristica tossica poi renderizzata in video. Mitighiamo confinando il Fast-Brain a un'allowlist gestuale chiusa tramite P1, validando gli I/O con guardrail M11 e fallback statico con P2, e isolando i container con RAG read-only tramite P3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Il secondo scenario critico è il Poisoning della memoria. Qui l'obiettivo è la persistenza: tramite ingestione o manipolazione reiterata dei feedback, vengono iniettati vettori avvelenati nell'indice FAISS o nel pool few-shot. L'impatto è subdolo e cross-sessione, poiché colpisce query future di utenti ignari. La mitigazione impone la Least Agency escludendo scritture dirette da parte di M2 e M4, applica rate-limiting sui feedback e revisione Human-in-the-Loop per la salute, rende FAISS read-only nel serving e monitora statisticamente le derive di ranking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Passando agli scenari di rischio Alto, SC3 riguarda l'abuso di identità. Qualora un componente a bassi privilegi come il Fast-Brain venga deviato, la mancanza di verifica contestuale può indurre l'Orchestratore ad agire come confused deputy, ereditando token con scope eccessivo per accedere ai profili biometrici di voce e video. Risolviamo segregando rigorosamente le identità tecniche con P1, imponendo verifiche deterministiche di sessione e job ID su ogni invocazione con P2, e adottando token crittografici short-lived vincolati al singolo task con P3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Nello Scenario 7 affrontiamo manomissioni e replay sui segnali interni. In una pipeline parallela, se l'Orchestratore valida la sola sintassi ma non la freschezza del Video Ready Signal, un messaggio ritardato o duplicato può portare lo Swap Manager ad associare alla sessione il video di un altro utente, con grave violazione di riservatezza. Mitighiamo limitando i permessi di emissione del segnale ai soli worker video con P1, imponendo verifiche di monotonicità e sequence number con P2, e blindando il control plane con mTLS e messaggi firmati per-job</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L'ultimo scenario prioritario integra la dimensione socio-tecnica. Quando una deviazione a monte genera consigli sanitari errati, la voce clonata calda e lo sguardo empatico di Al-Hakima disarmano il senso critico dell'utente, inducendolo ad assumere rimedi nocivi o a cedere dati sensibili. Oltre ai vincoli di dominio con P1 e alla protezione biometrica di P3, la contromisura chiave in P2 risiede in un'ispezione semantica pre-sintesi su M11 affiancata da indicatori visivi e disclaimer continui che ricordano la natura artificiale del sistema, prevenendo l'abuso di fiducia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secure architecture mantiene la struttura della baseline, ma introduce controlli nei trust boundary principali. M11 valida input e output agentici prima che possano avere effetti downstream. Sessione, job, sequenza e timestamp sono gestiti dall’Orchestratore, mentre la Knowledge Base resta read-only durante il serving. Gli aggiornamenti persistenti seguono un percorso separato e controllato. Il principio chiave è separare il generation plane dall’enforcement plane: i modelli generano contenuti, ma non controllano stato, privilegi o transizioni.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controlli di sicurezza devono rispettare il vincolo del Fast Path sotto gli 800 ms. Per questo adottiamo un comportamento fail-safe: se una verifica fallisce o supera la deadline, l’output non viene utilizzato. I controlli leggeri restano sul Fast Path, quelli più onerosi vengono spostati sul Background Path o fuori dal percorso real-time. L’obiettivo è quindi ottimizzare la latenza attraverso il corretto posizionamento dei controlli, senza mai eliminarli o bypassarli.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L'ultimo scenario prioritario integra la dimensione socio-tecnica. Quando una deviazione a monte genera consigli sanitari errati, la voce clonata calda e lo sguardo empatico di Al-Hakima disarmano il senso critico dell'utente, inducendolo ad assumere rimedi nocivi o a cedere dati sensibili. Oltre ai vincoli di dominio con P1 e alla protezione biometrica di P3, la contromisura chiave in P2 risiede in un'ispezione semantica pre-sintesi su M11 affiancata da indicatori visivi e disclaimer continui che ricordano la natura artificiale del sistema, prevenendo l'abuso di fiducia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L'ultimo scenario prioritario integra la dimensione socio-tecnica. Quando una deviazione a monte genera consigli sanitari errati, la voce clonata calda e lo sguardo empatico di Al-Hakima disarmano il senso critico dell'utente, inducendolo ad assumere rimedi nocivi o a cedere dati sensibili. Oltre ai vincoli di dominio con P1 e alla protezione biometrica di P3, la contromisura chiave in P2 risiede in un'ispezione semantica pre-sintesi su M11 affiancata da indicatori visivi e disclaimer continui che ricordano la natura artificiale del sistema, prevenendo l'abuso di fiducia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Questa slide mostra il passaggio dal rischio inerente al rischio residuo atteso dopo l’introduzione della secure architecture. In tutti gli scenari la likelihood si riduce, mentre la severity rimane elevata perché un eventuale bypass può ancora produrre conseguenze significative. SC1 resta quindi il rischio residuo più alto, poiché la difesa da input linguistici avversariali dipende anche da controlli semantici probabilistici. È importante sottolineare che questa è una valutazione preliminare, da confermare sperimentalmente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Questa slide evidenzia i principali limiti del lavoro. La secure architecture è definita a livello progettuale, quindi efficacia reale e overhead dei controlli devono ancora essere misurati. Anche la valutazione del rischio è qualitativa e dipende dall’implementazione concreta. Restano inoltre aperte la robustezza dei controlli semantici, la componente socio-tecnica legata alla fiducia dell’utente e il rischio della supply chain. Per questo il threat model deve essere aggiornato insieme all’evoluzione dell’architettura.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conclusione, il lavoro ha applicato un threat modeling asset-centered alla pipeline Dual-Brain, integrando STRIDE-AI, CIA³-R e OWASP Agentic. L’analisi ha individuato cinque scenari prioritari e ha tradotto le sette precauzioni in una secure architecture con controlli di validazione, isolamento, autorizzazione e fail-safe. Il vincolo real-time viene preservato tramite il corretto posizionamento dei controlli. Infine, il threat model deve essere aggiornato nel tempo, perché la sicurezza resta una proprietà da verificare continuamente.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notesSlides/notesSlide4.xml" Type="http://schemas.openxmlformats.org/officeDocument/2006/relationships/notesSlide"/><Relationship Id="rId3" Target="../media/image3.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1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3.png" Type="http://schemas.openxmlformats.org/officeDocument/2006/relationships/image"/><Relationship Id="rId4"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png" Type="http://schemas.openxmlformats.org/officeDocument/2006/relationships/image"/><Relationship Id="rId4" Target="../media/image29.png" Type="http://schemas.openxmlformats.org/officeDocument/2006/relationships/image"/><Relationship Id="rId5" Target="../embeddings/oleObject1.bin" Type="http://schemas.openxmlformats.org/officeDocument/2006/relationships/oleObjec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31E40"/>
        </a:solidFill>
      </p:bgPr>
    </p:bg>
    <p:spTree>
      <p:nvGrpSpPr>
        <p:cNvPr id="1" name=""/>
        <p:cNvGrpSpPr/>
        <p:nvPr/>
      </p:nvGrpSpPr>
      <p:grpSpPr>
        <a:xfrm>
          <a:off x="0" y="0"/>
          <a:ext cx="0" cy="0"/>
          <a:chOff x="0" y="0"/>
          <a:chExt cx="0" cy="0"/>
        </a:xfrm>
      </p:grpSpPr>
      <p:sp>
        <p:nvSpPr>
          <p:cNvPr name="Freeform 2" id="2"/>
          <p:cNvSpPr/>
          <p:nvPr/>
        </p:nvSpPr>
        <p:spPr>
          <a:xfrm flipH="false" flipV="false" rot="0">
            <a:off x="3789115" y="-1038231"/>
            <a:ext cx="11325231" cy="11325231"/>
          </a:xfrm>
          <a:custGeom>
            <a:avLst/>
            <a:gdLst/>
            <a:ahLst/>
            <a:cxnLst/>
            <a:rect r="r" b="b" t="t" l="l"/>
            <a:pathLst>
              <a:path h="11325231" w="11325231">
                <a:moveTo>
                  <a:pt x="0" y="0"/>
                </a:moveTo>
                <a:lnTo>
                  <a:pt x="11325231" y="0"/>
                </a:lnTo>
                <a:lnTo>
                  <a:pt x="11325231" y="11325231"/>
                </a:lnTo>
                <a:lnTo>
                  <a:pt x="0" y="113252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13654568" y="-781916"/>
            <a:ext cx="9665970" cy="10704007"/>
            <a:chOff x="0" y="0"/>
            <a:chExt cx="12887960" cy="14272010"/>
          </a:xfrm>
        </p:grpSpPr>
        <p:sp>
          <p:nvSpPr>
            <p:cNvPr name="Freeform 4" id="4"/>
            <p:cNvSpPr/>
            <p:nvPr/>
          </p:nvSpPr>
          <p:spPr>
            <a:xfrm flipH="false" flipV="false" rot="0">
              <a:off x="1215162" y="387099"/>
              <a:ext cx="11672798" cy="11672798"/>
            </a:xfrm>
            <a:custGeom>
              <a:avLst/>
              <a:gdLst/>
              <a:ahLst/>
              <a:cxnLst/>
              <a:rect r="r" b="b" t="t" l="l"/>
              <a:pathLst>
                <a:path h="11672798" w="11672798">
                  <a:moveTo>
                    <a:pt x="0" y="0"/>
                  </a:moveTo>
                  <a:lnTo>
                    <a:pt x="11672798" y="0"/>
                  </a:lnTo>
                  <a:lnTo>
                    <a:pt x="11672798" y="11672798"/>
                  </a:lnTo>
                  <a:lnTo>
                    <a:pt x="0" y="116727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10800000">
              <a:off x="0" y="9386896"/>
              <a:ext cx="3419580" cy="4885114"/>
              <a:chOff x="0" y="0"/>
              <a:chExt cx="4445000" cy="6350000"/>
            </a:xfrm>
          </p:grpSpPr>
          <p:sp>
            <p:nvSpPr>
              <p:cNvPr name="Freeform 6" id="6"/>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t="0" r="-201730" b="0"/>
                </a:stretch>
              </a:blipFill>
            </p:spPr>
          </p:sp>
        </p:grpSp>
        <p:grpSp>
          <p:nvGrpSpPr>
            <p:cNvPr name="Group 7" id="7"/>
            <p:cNvGrpSpPr/>
            <p:nvPr/>
          </p:nvGrpSpPr>
          <p:grpSpPr>
            <a:xfrm rot="0">
              <a:off x="2812520" y="0"/>
              <a:ext cx="2245310" cy="3207586"/>
              <a:chOff x="0" y="0"/>
              <a:chExt cx="4445000" cy="6350000"/>
            </a:xfrm>
          </p:grpSpPr>
          <p:sp>
            <p:nvSpPr>
              <p:cNvPr name="Freeform 8" id="8"/>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t="0" r="-201730" b="0"/>
                </a:stretch>
              </a:blipFill>
            </p:spPr>
          </p:sp>
        </p:grpSp>
        <p:grpSp>
          <p:nvGrpSpPr>
            <p:cNvPr name="Group 9" id="9"/>
            <p:cNvGrpSpPr/>
            <p:nvPr/>
          </p:nvGrpSpPr>
          <p:grpSpPr>
            <a:xfrm rot="5400000">
              <a:off x="3935175" y="5662170"/>
              <a:ext cx="1122655" cy="112265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26211" t="0" r="-126211" b="0"/>
                </a:stretch>
              </a:blipFill>
            </p:spPr>
          </p:sp>
        </p:grpSp>
      </p:grpSp>
      <p:sp>
        <p:nvSpPr>
          <p:cNvPr name="Freeform 11" id="11"/>
          <p:cNvSpPr/>
          <p:nvPr/>
        </p:nvSpPr>
        <p:spPr>
          <a:xfrm flipH="false" flipV="false" rot="0">
            <a:off x="-5976625" y="4306703"/>
            <a:ext cx="8754599" cy="8754599"/>
          </a:xfrm>
          <a:custGeom>
            <a:avLst/>
            <a:gdLst/>
            <a:ahLst/>
            <a:cxnLst/>
            <a:rect r="r" b="b" t="t" l="l"/>
            <a:pathLst>
              <a:path h="8754599" w="8754599">
                <a:moveTo>
                  <a:pt x="0" y="0"/>
                </a:moveTo>
                <a:lnTo>
                  <a:pt x="8754599" y="0"/>
                </a:lnTo>
                <a:lnTo>
                  <a:pt x="8754599" y="8754599"/>
                </a:lnTo>
                <a:lnTo>
                  <a:pt x="0" y="87545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3619576" y="3913024"/>
            <a:ext cx="11048848" cy="2394278"/>
          </a:xfrm>
          <a:prstGeom prst="rect">
            <a:avLst/>
          </a:prstGeom>
        </p:spPr>
        <p:txBody>
          <a:bodyPr anchor="t" rtlCol="false" tIns="0" lIns="0" bIns="0" rIns="0">
            <a:spAutoFit/>
          </a:bodyPr>
          <a:lstStyle/>
          <a:p>
            <a:pPr algn="ctr">
              <a:lnSpc>
                <a:spcPts val="5339"/>
              </a:lnSpc>
              <a:spcBef>
                <a:spcPct val="0"/>
              </a:spcBef>
            </a:pPr>
            <a:r>
              <a:rPr lang="en-US" b="true" sz="3869">
                <a:solidFill>
                  <a:srgbClr val="FFFFFF"/>
                </a:solidFill>
                <a:latin typeface="Almarai Bold"/>
                <a:ea typeface="Almarai Bold"/>
                <a:cs typeface="Almarai Bold"/>
                <a:sym typeface="Almarai Bold"/>
              </a:rPr>
              <a:t>Threat Modeling di una Agentic Filler Pipeline per Digital Human in Tempo Reale</a:t>
            </a:r>
          </a:p>
        </p:txBody>
      </p:sp>
      <p:grpSp>
        <p:nvGrpSpPr>
          <p:cNvPr name="Group 13" id="13"/>
          <p:cNvGrpSpPr/>
          <p:nvPr/>
        </p:nvGrpSpPr>
        <p:grpSpPr>
          <a:xfrm rot="-10800000">
            <a:off x="1834030" y="6317527"/>
            <a:ext cx="2564685" cy="3663835"/>
            <a:chOff x="0" y="0"/>
            <a:chExt cx="4445000" cy="6350000"/>
          </a:xfrm>
        </p:grpSpPr>
        <p:sp>
          <p:nvSpPr>
            <p:cNvPr name="Freeform 14" id="14"/>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t="0" r="-201730" b="0"/>
              </a:stretch>
            </a:blipFill>
          </p:spPr>
        </p:sp>
      </p:grpSp>
      <p:grpSp>
        <p:nvGrpSpPr>
          <p:cNvPr name="Group 15" id="15"/>
          <p:cNvGrpSpPr/>
          <p:nvPr/>
        </p:nvGrpSpPr>
        <p:grpSpPr>
          <a:xfrm rot="0">
            <a:off x="992039" y="-622814"/>
            <a:ext cx="1683983" cy="2405689"/>
            <a:chOff x="0" y="0"/>
            <a:chExt cx="4445000" cy="6350000"/>
          </a:xfrm>
        </p:grpSpPr>
        <p:sp>
          <p:nvSpPr>
            <p:cNvPr name="Freeform 16" id="16"/>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t="0" r="-201730" b="0"/>
              </a:stretch>
            </a:blipFill>
          </p:spPr>
        </p:sp>
      </p:grpSp>
      <p:grpSp>
        <p:nvGrpSpPr>
          <p:cNvPr name="Group 17" id="17"/>
          <p:cNvGrpSpPr/>
          <p:nvPr/>
        </p:nvGrpSpPr>
        <p:grpSpPr>
          <a:xfrm rot="-5400000">
            <a:off x="1125128" y="3629206"/>
            <a:ext cx="841991" cy="84199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26211" t="0" r="-126211" b="0"/>
              </a:stretch>
            </a:blipFill>
          </p:spPr>
        </p:sp>
      </p:grpSp>
      <p:sp>
        <p:nvSpPr>
          <p:cNvPr name="TextBox 19" id="19"/>
          <p:cNvSpPr txBox="true"/>
          <p:nvPr/>
        </p:nvSpPr>
        <p:spPr>
          <a:xfrm rot="0">
            <a:off x="1082214" y="8838483"/>
            <a:ext cx="5466617" cy="350725"/>
          </a:xfrm>
          <a:prstGeom prst="rect">
            <a:avLst/>
          </a:prstGeom>
        </p:spPr>
        <p:txBody>
          <a:bodyPr anchor="t" rtlCol="false" tIns="0" lIns="0" bIns="0" rIns="0">
            <a:spAutoFit/>
          </a:bodyPr>
          <a:lstStyle/>
          <a:p>
            <a:pPr algn="just">
              <a:lnSpc>
                <a:spcPts val="2808"/>
              </a:lnSpc>
            </a:pPr>
            <a:r>
              <a:rPr lang="en-US" sz="2006">
                <a:solidFill>
                  <a:srgbClr val="FFFFFF"/>
                </a:solidFill>
                <a:latin typeface="Open Sans"/>
                <a:ea typeface="Open Sans"/>
                <a:cs typeface="Open Sans"/>
                <a:sym typeface="Open Sans"/>
              </a:rPr>
              <a:t>Alessio Bonora 84534A - Marta Finazzi 84401A</a:t>
            </a:r>
          </a:p>
        </p:txBody>
      </p:sp>
      <p:sp>
        <p:nvSpPr>
          <p:cNvPr name="TextBox 20" id="20"/>
          <p:cNvSpPr txBox="true"/>
          <p:nvPr/>
        </p:nvSpPr>
        <p:spPr>
          <a:xfrm rot="0">
            <a:off x="14985927" y="8838483"/>
            <a:ext cx="2273373" cy="419817"/>
          </a:xfrm>
          <a:prstGeom prst="rect">
            <a:avLst/>
          </a:prstGeom>
        </p:spPr>
        <p:txBody>
          <a:bodyPr anchor="t" rtlCol="false" tIns="0" lIns="0" bIns="0" rIns="0">
            <a:spAutoFit/>
          </a:bodyPr>
          <a:lstStyle/>
          <a:p>
            <a:pPr algn="just">
              <a:lnSpc>
                <a:spcPts val="2808"/>
              </a:lnSpc>
            </a:pPr>
            <a:r>
              <a:rPr lang="en-US" sz="2006">
                <a:solidFill>
                  <a:srgbClr val="FFFFFF"/>
                </a:solidFill>
                <a:latin typeface="Open Sans"/>
                <a:ea typeface="Open Sans"/>
                <a:cs typeface="Open Sans"/>
                <a:sym typeface="Open Sans"/>
              </a:rPr>
              <a:t>Settembre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0">
            <a:off x="-4715931" y="0"/>
            <a:ext cx="18631803" cy="10607873"/>
            <a:chOff x="0" y="0"/>
            <a:chExt cx="1226854" cy="698500"/>
          </a:xfrm>
        </p:grpSpPr>
        <p:sp>
          <p:nvSpPr>
            <p:cNvPr name="Freeform 3" id="3"/>
            <p:cNvSpPr/>
            <p:nvPr/>
          </p:nvSpPr>
          <p:spPr>
            <a:xfrm flipH="false" flipV="false" rot="0">
              <a:off x="0" y="0"/>
              <a:ext cx="1226854" cy="698500"/>
            </a:xfrm>
            <a:custGeom>
              <a:avLst/>
              <a:gdLst/>
              <a:ahLst/>
              <a:cxnLst/>
              <a:rect r="r" b="b" t="t" l="l"/>
              <a:pathLst>
                <a:path h="698500" w="1226854">
                  <a:moveTo>
                    <a:pt x="1226854" y="349250"/>
                  </a:moveTo>
                  <a:lnTo>
                    <a:pt x="1023654" y="698500"/>
                  </a:lnTo>
                  <a:lnTo>
                    <a:pt x="203200" y="698500"/>
                  </a:lnTo>
                  <a:lnTo>
                    <a:pt x="0" y="349250"/>
                  </a:lnTo>
                  <a:lnTo>
                    <a:pt x="203200" y="0"/>
                  </a:lnTo>
                  <a:lnTo>
                    <a:pt x="1023654" y="0"/>
                  </a:lnTo>
                  <a:lnTo>
                    <a:pt x="1226854" y="349250"/>
                  </a:lnTo>
                  <a:close/>
                </a:path>
              </a:pathLst>
            </a:custGeom>
            <a:gradFill rotWithShape="true">
              <a:gsLst>
                <a:gs pos="0">
                  <a:srgbClr val="000000">
                    <a:alpha val="100000"/>
                  </a:srgbClr>
                </a:gs>
                <a:gs pos="100000">
                  <a:srgbClr val="145DA0">
                    <a:alpha val="100000"/>
                  </a:srgbClr>
                </a:gs>
              </a:gsLst>
              <a:lin ang="0"/>
            </a:gradFill>
          </p:spPr>
        </p:sp>
        <p:sp>
          <p:nvSpPr>
            <p:cNvPr name="TextBox 4" id="4"/>
            <p:cNvSpPr txBox="true"/>
            <p:nvPr/>
          </p:nvSpPr>
          <p:spPr>
            <a:xfrm>
              <a:off x="114300" y="-47625"/>
              <a:ext cx="998254" cy="746125"/>
            </a:xfrm>
            <a:prstGeom prst="rect">
              <a:avLst/>
            </a:prstGeom>
          </p:spPr>
          <p:txBody>
            <a:bodyPr anchor="ctr" rtlCol="false" tIns="50800" lIns="50800" bIns="50800" rIns="50800"/>
            <a:lstStyle/>
            <a:p>
              <a:pPr algn="ctr">
                <a:lnSpc>
                  <a:spcPts val="2605"/>
                </a:lnSpc>
              </a:pPr>
            </a:p>
          </p:txBody>
        </p:sp>
      </p:grpSp>
      <p:grpSp>
        <p:nvGrpSpPr>
          <p:cNvPr name="Group 5" id="5"/>
          <p:cNvGrpSpPr/>
          <p:nvPr/>
        </p:nvGrpSpPr>
        <p:grpSpPr>
          <a:xfrm rot="0">
            <a:off x="-6005391" y="-56898"/>
            <a:ext cx="12010783" cy="10400796"/>
            <a:chOff x="0" y="0"/>
            <a:chExt cx="4282440" cy="3708400"/>
          </a:xfrm>
        </p:grpSpPr>
        <p:sp>
          <p:nvSpPr>
            <p:cNvPr name="Freeform 6" id="6"/>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02591" t="0" r="-102591" b="0"/>
              </a:stretch>
            </a:blipFill>
          </p:spPr>
        </p:sp>
      </p:grpSp>
      <p:grpSp>
        <p:nvGrpSpPr>
          <p:cNvPr name="Group 7" id="7"/>
          <p:cNvGrpSpPr/>
          <p:nvPr/>
        </p:nvGrpSpPr>
        <p:grpSpPr>
          <a:xfrm rot="0">
            <a:off x="-4976691" y="-56898"/>
            <a:ext cx="12010783" cy="10400796"/>
            <a:chOff x="0" y="0"/>
            <a:chExt cx="4282440" cy="3708400"/>
          </a:xfrm>
        </p:grpSpPr>
        <p:sp>
          <p:nvSpPr>
            <p:cNvPr name="Freeform 8" id="8"/>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02591" t="0" r="-102591" b="0"/>
              </a:stretch>
            </a:blipFill>
          </p:spPr>
        </p:sp>
      </p:grpSp>
      <p:grpSp>
        <p:nvGrpSpPr>
          <p:cNvPr name="Group 9" id="9"/>
          <p:cNvGrpSpPr/>
          <p:nvPr/>
        </p:nvGrpSpPr>
        <p:grpSpPr>
          <a:xfrm rot="5400000">
            <a:off x="4810979" y="595046"/>
            <a:ext cx="518653" cy="403322"/>
            <a:chOff x="0" y="0"/>
            <a:chExt cx="812800" cy="632061"/>
          </a:xfrm>
        </p:grpSpPr>
        <p:sp>
          <p:nvSpPr>
            <p:cNvPr name="Freeform 10" id="10"/>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11" id="11"/>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12" id="12"/>
          <p:cNvGrpSpPr/>
          <p:nvPr/>
        </p:nvGrpSpPr>
        <p:grpSpPr>
          <a:xfrm rot="0">
            <a:off x="17259300" y="2066886"/>
            <a:ext cx="5754080" cy="8220114"/>
            <a:chOff x="0" y="0"/>
            <a:chExt cx="4445000" cy="6350000"/>
          </a:xfrm>
        </p:grpSpPr>
        <p:sp>
          <p:nvSpPr>
            <p:cNvPr name="Freeform 13" id="13"/>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t="0" r="-201730" b="0"/>
              </a:stretch>
            </a:blipFill>
          </p:spPr>
        </p:sp>
      </p:grpSp>
      <p:grpSp>
        <p:nvGrpSpPr>
          <p:cNvPr name="Group 14" id="14"/>
          <p:cNvGrpSpPr/>
          <p:nvPr/>
        </p:nvGrpSpPr>
        <p:grpSpPr>
          <a:xfrm rot="-10800000">
            <a:off x="-4533696" y="169116"/>
            <a:ext cx="5754080" cy="8220114"/>
            <a:chOff x="0" y="0"/>
            <a:chExt cx="4445000" cy="6350000"/>
          </a:xfrm>
        </p:grpSpPr>
        <p:sp>
          <p:nvSpPr>
            <p:cNvPr name="Freeform 15" id="1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t="0" r="-201730" b="0"/>
              </a:stretch>
            </a:blipFill>
          </p:spPr>
        </p:sp>
      </p:grpSp>
      <p:sp>
        <p:nvSpPr>
          <p:cNvPr name="Freeform 16" id="16"/>
          <p:cNvSpPr/>
          <p:nvPr/>
        </p:nvSpPr>
        <p:spPr>
          <a:xfrm flipH="false" flipV="false" rot="0">
            <a:off x="13182237" y="4324745"/>
            <a:ext cx="1833362" cy="1852198"/>
          </a:xfrm>
          <a:custGeom>
            <a:avLst/>
            <a:gdLst/>
            <a:ahLst/>
            <a:cxnLst/>
            <a:rect r="r" b="b" t="t" l="l"/>
            <a:pathLst>
              <a:path h="1852198" w="1833362">
                <a:moveTo>
                  <a:pt x="0" y="0"/>
                </a:moveTo>
                <a:lnTo>
                  <a:pt x="1833362" y="0"/>
                </a:lnTo>
                <a:lnTo>
                  <a:pt x="1833362" y="1852198"/>
                </a:lnTo>
                <a:lnTo>
                  <a:pt x="0" y="1852198"/>
                </a:lnTo>
                <a:lnTo>
                  <a:pt x="0" y="0"/>
                </a:lnTo>
                <a:close/>
              </a:path>
            </a:pathLst>
          </a:custGeom>
          <a:blipFill>
            <a:blip r:embed="rId3"/>
            <a:stretch>
              <a:fillRect l="0" t="0" r="0" b="0"/>
            </a:stretch>
          </a:blipFill>
        </p:spPr>
      </p:sp>
      <p:sp>
        <p:nvSpPr>
          <p:cNvPr name="TextBox 17" id="17"/>
          <p:cNvSpPr txBox="true"/>
          <p:nvPr/>
        </p:nvSpPr>
        <p:spPr>
          <a:xfrm rot="0">
            <a:off x="603866" y="4640916"/>
            <a:ext cx="4668101" cy="995643"/>
          </a:xfrm>
          <a:prstGeom prst="rect">
            <a:avLst/>
          </a:prstGeom>
        </p:spPr>
        <p:txBody>
          <a:bodyPr anchor="t" rtlCol="false" tIns="0" lIns="0" bIns="0" rIns="0">
            <a:spAutoFit/>
          </a:bodyPr>
          <a:lstStyle/>
          <a:p>
            <a:pPr algn="l" marL="0" indent="0" lvl="0">
              <a:lnSpc>
                <a:spcPts val="6599"/>
              </a:lnSpc>
              <a:spcBef>
                <a:spcPct val="0"/>
              </a:spcBef>
            </a:pPr>
            <a:r>
              <a:rPr lang="en-US" b="true" sz="5499">
                <a:solidFill>
                  <a:srgbClr val="FFFFFF"/>
                </a:solidFill>
                <a:latin typeface="Almarai Bold"/>
                <a:ea typeface="Almarai Bold"/>
                <a:cs typeface="Almarai Bold"/>
                <a:sym typeface="Almarai Bold"/>
              </a:rPr>
              <a:t>OVERVIEW</a:t>
            </a:r>
          </a:p>
        </p:txBody>
      </p:sp>
      <p:sp>
        <p:nvSpPr>
          <p:cNvPr name="TextBox 18" id="18"/>
          <p:cNvSpPr txBox="true"/>
          <p:nvPr/>
        </p:nvSpPr>
        <p:spPr>
          <a:xfrm rot="0">
            <a:off x="5504223" y="539532"/>
            <a:ext cx="2835699"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01   Contesto</a:t>
            </a:r>
          </a:p>
        </p:txBody>
      </p:sp>
      <p:sp>
        <p:nvSpPr>
          <p:cNvPr name="TextBox 19" id="19"/>
          <p:cNvSpPr txBox="true"/>
          <p:nvPr/>
        </p:nvSpPr>
        <p:spPr>
          <a:xfrm rot="0">
            <a:off x="5876950" y="1266099"/>
            <a:ext cx="4506766"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02   Scope e Metodologia</a:t>
            </a:r>
          </a:p>
        </p:txBody>
      </p:sp>
      <p:sp>
        <p:nvSpPr>
          <p:cNvPr name="TextBox 20" id="20"/>
          <p:cNvSpPr txBox="true"/>
          <p:nvPr/>
        </p:nvSpPr>
        <p:spPr>
          <a:xfrm rot="0">
            <a:off x="6390722" y="1968596"/>
            <a:ext cx="5471892"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03   Descrizione della Pipeline</a:t>
            </a:r>
          </a:p>
        </p:txBody>
      </p:sp>
      <p:sp>
        <p:nvSpPr>
          <p:cNvPr name="TextBox 21" id="21"/>
          <p:cNvSpPr txBox="true"/>
          <p:nvPr/>
        </p:nvSpPr>
        <p:spPr>
          <a:xfrm rot="0">
            <a:off x="6740552" y="2720870"/>
            <a:ext cx="4018594"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04   Trust Boundary</a:t>
            </a:r>
          </a:p>
        </p:txBody>
      </p:sp>
      <p:grpSp>
        <p:nvGrpSpPr>
          <p:cNvPr name="Group 22" id="22"/>
          <p:cNvGrpSpPr/>
          <p:nvPr/>
        </p:nvGrpSpPr>
        <p:grpSpPr>
          <a:xfrm rot="5400000">
            <a:off x="5214301" y="1321613"/>
            <a:ext cx="518653" cy="403322"/>
            <a:chOff x="0" y="0"/>
            <a:chExt cx="812800" cy="632061"/>
          </a:xfrm>
        </p:grpSpPr>
        <p:sp>
          <p:nvSpPr>
            <p:cNvPr name="Freeform 23" id="23"/>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24" id="24"/>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25" id="25"/>
          <p:cNvGrpSpPr/>
          <p:nvPr/>
        </p:nvGrpSpPr>
        <p:grpSpPr>
          <a:xfrm rot="5400000">
            <a:off x="5617623" y="2048180"/>
            <a:ext cx="518653" cy="403322"/>
            <a:chOff x="0" y="0"/>
            <a:chExt cx="812800" cy="632061"/>
          </a:xfrm>
        </p:grpSpPr>
        <p:sp>
          <p:nvSpPr>
            <p:cNvPr name="Freeform 26" id="26"/>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27" id="27"/>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28" id="28"/>
          <p:cNvGrpSpPr/>
          <p:nvPr/>
        </p:nvGrpSpPr>
        <p:grpSpPr>
          <a:xfrm rot="5400000">
            <a:off x="6020946" y="2774747"/>
            <a:ext cx="518653" cy="403322"/>
            <a:chOff x="0" y="0"/>
            <a:chExt cx="812800" cy="632061"/>
          </a:xfrm>
        </p:grpSpPr>
        <p:sp>
          <p:nvSpPr>
            <p:cNvPr name="Freeform 29" id="29"/>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30" id="30"/>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31" id="31"/>
          <p:cNvGrpSpPr/>
          <p:nvPr/>
        </p:nvGrpSpPr>
        <p:grpSpPr>
          <a:xfrm rot="5400000">
            <a:off x="6424268" y="3501315"/>
            <a:ext cx="518653" cy="403322"/>
            <a:chOff x="0" y="0"/>
            <a:chExt cx="812800" cy="632061"/>
          </a:xfrm>
        </p:grpSpPr>
        <p:sp>
          <p:nvSpPr>
            <p:cNvPr name="Freeform 32" id="32"/>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33" id="33"/>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34" id="34"/>
          <p:cNvGrpSpPr/>
          <p:nvPr/>
        </p:nvGrpSpPr>
        <p:grpSpPr>
          <a:xfrm rot="5400000">
            <a:off x="6827590" y="4227882"/>
            <a:ext cx="518653" cy="403322"/>
            <a:chOff x="0" y="0"/>
            <a:chExt cx="812800" cy="632061"/>
          </a:xfrm>
        </p:grpSpPr>
        <p:sp>
          <p:nvSpPr>
            <p:cNvPr name="Freeform 35" id="35"/>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36" id="36"/>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37" id="37"/>
          <p:cNvGrpSpPr/>
          <p:nvPr/>
        </p:nvGrpSpPr>
        <p:grpSpPr>
          <a:xfrm rot="5400000">
            <a:off x="7230913" y="4954449"/>
            <a:ext cx="518653" cy="403322"/>
            <a:chOff x="0" y="0"/>
            <a:chExt cx="812800" cy="632061"/>
          </a:xfrm>
        </p:grpSpPr>
        <p:sp>
          <p:nvSpPr>
            <p:cNvPr name="Freeform 38" id="38"/>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39" id="39"/>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40" id="40"/>
          <p:cNvGrpSpPr/>
          <p:nvPr/>
        </p:nvGrpSpPr>
        <p:grpSpPr>
          <a:xfrm rot="5400000">
            <a:off x="6864407" y="5715955"/>
            <a:ext cx="518653" cy="403322"/>
            <a:chOff x="0" y="0"/>
            <a:chExt cx="812800" cy="632061"/>
          </a:xfrm>
        </p:grpSpPr>
        <p:sp>
          <p:nvSpPr>
            <p:cNvPr name="Freeform 41" id="41"/>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42" id="42"/>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43" id="43"/>
          <p:cNvGrpSpPr/>
          <p:nvPr/>
        </p:nvGrpSpPr>
        <p:grpSpPr>
          <a:xfrm rot="5400000">
            <a:off x="6497901" y="6477461"/>
            <a:ext cx="518653" cy="403322"/>
            <a:chOff x="0" y="0"/>
            <a:chExt cx="812800" cy="632061"/>
          </a:xfrm>
        </p:grpSpPr>
        <p:sp>
          <p:nvSpPr>
            <p:cNvPr name="Freeform 44" id="44"/>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45" id="45"/>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46" id="46"/>
          <p:cNvGrpSpPr/>
          <p:nvPr/>
        </p:nvGrpSpPr>
        <p:grpSpPr>
          <a:xfrm rot="5400000">
            <a:off x="6131396" y="7238968"/>
            <a:ext cx="518653" cy="403322"/>
            <a:chOff x="0" y="0"/>
            <a:chExt cx="812800" cy="632061"/>
          </a:xfrm>
        </p:grpSpPr>
        <p:sp>
          <p:nvSpPr>
            <p:cNvPr name="Freeform 47" id="47"/>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48" id="48"/>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49" id="49"/>
          <p:cNvGrpSpPr/>
          <p:nvPr/>
        </p:nvGrpSpPr>
        <p:grpSpPr>
          <a:xfrm rot="5400000">
            <a:off x="5764890" y="8000474"/>
            <a:ext cx="518653" cy="403322"/>
            <a:chOff x="0" y="0"/>
            <a:chExt cx="812800" cy="632061"/>
          </a:xfrm>
        </p:grpSpPr>
        <p:sp>
          <p:nvSpPr>
            <p:cNvPr name="Freeform 50" id="50"/>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51" id="51"/>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52" id="52"/>
          <p:cNvGrpSpPr/>
          <p:nvPr/>
        </p:nvGrpSpPr>
        <p:grpSpPr>
          <a:xfrm rot="5400000">
            <a:off x="5398384" y="8761980"/>
            <a:ext cx="518653" cy="403322"/>
            <a:chOff x="0" y="0"/>
            <a:chExt cx="812800" cy="632061"/>
          </a:xfrm>
        </p:grpSpPr>
        <p:sp>
          <p:nvSpPr>
            <p:cNvPr name="Freeform 53" id="53"/>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54" id="54"/>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55" id="55"/>
          <p:cNvGrpSpPr/>
          <p:nvPr/>
        </p:nvGrpSpPr>
        <p:grpSpPr>
          <a:xfrm rot="5400000">
            <a:off x="5031879" y="9523486"/>
            <a:ext cx="518653" cy="403322"/>
            <a:chOff x="0" y="0"/>
            <a:chExt cx="812800" cy="632061"/>
          </a:xfrm>
        </p:grpSpPr>
        <p:sp>
          <p:nvSpPr>
            <p:cNvPr name="Freeform 56" id="56"/>
            <p:cNvSpPr/>
            <p:nvPr/>
          </p:nvSpPr>
          <p:spPr>
            <a:xfrm flipH="false" flipV="false" rot="0">
              <a:off x="0" y="0"/>
              <a:ext cx="812800" cy="632061"/>
            </a:xfrm>
            <a:custGeom>
              <a:avLst/>
              <a:gdLst/>
              <a:ahLst/>
              <a:cxnLst/>
              <a:rect r="r" b="b" t="t" l="l"/>
              <a:pathLst>
                <a:path h="632061" w="812800">
                  <a:moveTo>
                    <a:pt x="406400" y="0"/>
                  </a:moveTo>
                  <a:lnTo>
                    <a:pt x="812800" y="632061"/>
                  </a:lnTo>
                  <a:lnTo>
                    <a:pt x="0" y="632061"/>
                  </a:lnTo>
                  <a:lnTo>
                    <a:pt x="406400" y="0"/>
                  </a:lnTo>
                  <a:close/>
                </a:path>
              </a:pathLst>
            </a:custGeom>
            <a:solidFill>
              <a:srgbClr val="FFFFFF"/>
            </a:solidFill>
          </p:spPr>
        </p:sp>
        <p:sp>
          <p:nvSpPr>
            <p:cNvPr name="TextBox 57" id="57"/>
            <p:cNvSpPr txBox="true"/>
            <p:nvPr/>
          </p:nvSpPr>
          <p:spPr>
            <a:xfrm>
              <a:off x="127000" y="245832"/>
              <a:ext cx="558800" cy="341082"/>
            </a:xfrm>
            <a:prstGeom prst="rect">
              <a:avLst/>
            </a:prstGeom>
          </p:spPr>
          <p:txBody>
            <a:bodyPr anchor="ctr" rtlCol="false" tIns="50800" lIns="50800" bIns="50800" rIns="50800"/>
            <a:lstStyle/>
            <a:p>
              <a:pPr algn="ctr">
                <a:lnSpc>
                  <a:spcPts val="2605"/>
                </a:lnSpc>
              </a:pPr>
            </a:p>
          </p:txBody>
        </p:sp>
      </p:grpSp>
      <p:grpSp>
        <p:nvGrpSpPr>
          <p:cNvPr name="Group 58" id="58"/>
          <p:cNvGrpSpPr/>
          <p:nvPr/>
        </p:nvGrpSpPr>
        <p:grpSpPr>
          <a:xfrm rot="0">
            <a:off x="-4976691" y="-18582"/>
            <a:ext cx="12010783" cy="10400796"/>
            <a:chOff x="0" y="0"/>
            <a:chExt cx="4282440" cy="3708400"/>
          </a:xfrm>
        </p:grpSpPr>
        <p:sp>
          <p:nvSpPr>
            <p:cNvPr name="Freeform 59" id="59"/>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02591" t="0" r="-102591" b="0"/>
              </a:stretch>
            </a:blipFill>
          </p:spPr>
        </p:sp>
      </p:grpSp>
      <p:sp>
        <p:nvSpPr>
          <p:cNvPr name="TextBox 60" id="60"/>
          <p:cNvSpPr txBox="true"/>
          <p:nvPr/>
        </p:nvSpPr>
        <p:spPr>
          <a:xfrm rot="0">
            <a:off x="7123734" y="3417226"/>
            <a:ext cx="3264245"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05   Asset Model</a:t>
            </a:r>
          </a:p>
        </p:txBody>
      </p:sp>
      <p:sp>
        <p:nvSpPr>
          <p:cNvPr name="TextBox 61" id="61"/>
          <p:cNvSpPr txBox="true"/>
          <p:nvPr/>
        </p:nvSpPr>
        <p:spPr>
          <a:xfrm rot="0">
            <a:off x="7490239" y="4141641"/>
            <a:ext cx="4720679"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06   Mappatura OWASP</a:t>
            </a:r>
          </a:p>
        </p:txBody>
      </p:sp>
      <p:sp>
        <p:nvSpPr>
          <p:cNvPr name="TextBox 62" id="62"/>
          <p:cNvSpPr txBox="true"/>
          <p:nvPr/>
        </p:nvSpPr>
        <p:spPr>
          <a:xfrm rot="0">
            <a:off x="8004358" y="4900571"/>
            <a:ext cx="4720679"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07   Risk Prioritization</a:t>
            </a:r>
          </a:p>
        </p:txBody>
      </p:sp>
      <p:sp>
        <p:nvSpPr>
          <p:cNvPr name="TextBox 63" id="63"/>
          <p:cNvSpPr txBox="true"/>
          <p:nvPr/>
        </p:nvSpPr>
        <p:spPr>
          <a:xfrm rot="0">
            <a:off x="7490239" y="5711346"/>
            <a:ext cx="4720679"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08   Le Sette Precauzioni </a:t>
            </a:r>
          </a:p>
        </p:txBody>
      </p:sp>
      <p:sp>
        <p:nvSpPr>
          <p:cNvPr name="TextBox 64" id="64"/>
          <p:cNvSpPr txBox="true"/>
          <p:nvPr/>
        </p:nvSpPr>
        <p:spPr>
          <a:xfrm rot="0">
            <a:off x="7288578" y="6521486"/>
            <a:ext cx="4720679" cy="514866"/>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09   Scenari Prioritari </a:t>
            </a:r>
          </a:p>
        </p:txBody>
      </p:sp>
      <p:sp>
        <p:nvSpPr>
          <p:cNvPr name="TextBox 65" id="65"/>
          <p:cNvSpPr txBox="true"/>
          <p:nvPr/>
        </p:nvSpPr>
        <p:spPr>
          <a:xfrm rot="0">
            <a:off x="6879502" y="7159383"/>
            <a:ext cx="5129754" cy="443484"/>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10  Secure Architecture Proposta</a:t>
            </a:r>
          </a:p>
        </p:txBody>
      </p:sp>
      <p:sp>
        <p:nvSpPr>
          <p:cNvPr name="TextBox 66" id="66"/>
          <p:cNvSpPr txBox="true"/>
          <p:nvPr/>
        </p:nvSpPr>
        <p:spPr>
          <a:xfrm rot="0">
            <a:off x="6395516" y="7909505"/>
            <a:ext cx="5815402" cy="443484"/>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11   Piano di validazione sperimentale </a:t>
            </a:r>
          </a:p>
        </p:txBody>
      </p:sp>
      <p:sp>
        <p:nvSpPr>
          <p:cNvPr name="TextBox 67" id="67"/>
          <p:cNvSpPr txBox="true"/>
          <p:nvPr/>
        </p:nvSpPr>
        <p:spPr>
          <a:xfrm rot="0">
            <a:off x="6189061" y="8709112"/>
            <a:ext cx="4720679" cy="443484"/>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12   Limitazioni </a:t>
            </a:r>
          </a:p>
        </p:txBody>
      </p:sp>
      <p:sp>
        <p:nvSpPr>
          <p:cNvPr name="TextBox 68" id="68"/>
          <p:cNvSpPr txBox="true"/>
          <p:nvPr/>
        </p:nvSpPr>
        <p:spPr>
          <a:xfrm rot="0">
            <a:off x="5675289" y="9471627"/>
            <a:ext cx="4720679" cy="443484"/>
          </a:xfrm>
          <a:prstGeom prst="rect">
            <a:avLst/>
          </a:prstGeom>
        </p:spPr>
        <p:txBody>
          <a:bodyPr anchor="t" rtlCol="false" tIns="0" lIns="0" bIns="0" rIns="0">
            <a:spAutoFit/>
          </a:bodyPr>
          <a:lstStyle/>
          <a:p>
            <a:pPr algn="l">
              <a:lnSpc>
                <a:spcPts val="3587"/>
              </a:lnSpc>
            </a:pPr>
            <a:r>
              <a:rPr lang="en-US" sz="2599" b="true">
                <a:solidFill>
                  <a:srgbClr val="FFFFFF"/>
                </a:solidFill>
                <a:latin typeface="Almarai Bold"/>
                <a:ea typeface="Almarai Bold"/>
                <a:cs typeface="Almarai Bold"/>
                <a:sym typeface="Almarai Bold"/>
              </a:rPr>
              <a:t>13   Conclusioni</a:t>
            </a:r>
          </a:p>
        </p:txBody>
      </p:sp>
      <p:grpSp>
        <p:nvGrpSpPr>
          <p:cNvPr name="Group 69" id="69"/>
          <p:cNvGrpSpPr/>
          <p:nvPr/>
        </p:nvGrpSpPr>
        <p:grpSpPr>
          <a:xfrm rot="0">
            <a:off x="-4824291" y="133818"/>
            <a:ext cx="12010783" cy="10400796"/>
            <a:chOff x="0" y="0"/>
            <a:chExt cx="4282440" cy="3708400"/>
          </a:xfrm>
        </p:grpSpPr>
        <p:sp>
          <p:nvSpPr>
            <p:cNvPr name="Freeform 70" id="70"/>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02591" t="0" r="-102591"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0">
            <a:off x="-5173055" y="-2043171"/>
            <a:ext cx="5754080" cy="8220114"/>
            <a:chOff x="0" y="0"/>
            <a:chExt cx="4445000" cy="6350000"/>
          </a:xfrm>
        </p:grpSpPr>
        <p:sp>
          <p:nvSpPr>
            <p:cNvPr name="Freeform 3" id="3"/>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4" id="4"/>
          <p:cNvGrpSpPr/>
          <p:nvPr/>
        </p:nvGrpSpPr>
        <p:grpSpPr>
          <a:xfrm rot="5400000">
            <a:off x="1143952" y="1337924"/>
            <a:ext cx="1224824" cy="122482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6" id="6"/>
          <p:cNvSpPr txBox="true"/>
          <p:nvPr/>
        </p:nvSpPr>
        <p:spPr>
          <a:xfrm rot="0">
            <a:off x="2767012" y="1467802"/>
            <a:ext cx="7297240" cy="913166"/>
          </a:xfrm>
          <a:prstGeom prst="rect">
            <a:avLst/>
          </a:prstGeom>
        </p:spPr>
        <p:txBody>
          <a:bodyPr anchor="t" rtlCol="false" tIns="0" lIns="0" bIns="0" rIns="0">
            <a:spAutoFit/>
          </a:bodyPr>
          <a:lstStyle/>
          <a:p>
            <a:pPr algn="l" marL="0" indent="0" lvl="0">
              <a:lnSpc>
                <a:spcPts val="6034"/>
              </a:lnSpc>
              <a:spcBef>
                <a:spcPct val="0"/>
              </a:spcBef>
            </a:pPr>
            <a:r>
              <a:rPr lang="en-US" b="true" sz="5028">
                <a:solidFill>
                  <a:srgbClr val="FFFFFF"/>
                </a:solidFill>
                <a:latin typeface="Almarai Bold"/>
                <a:ea typeface="Almarai Bold"/>
                <a:cs typeface="Almarai Bold"/>
                <a:sym typeface="Almarai Bold"/>
              </a:rPr>
              <a:t>CONTESTO</a:t>
            </a:r>
          </a:p>
        </p:txBody>
      </p:sp>
      <p:sp>
        <p:nvSpPr>
          <p:cNvPr name="TextBox 7" id="7"/>
          <p:cNvSpPr txBox="true"/>
          <p:nvPr/>
        </p:nvSpPr>
        <p:spPr>
          <a:xfrm rot="0">
            <a:off x="1768405" y="2800873"/>
            <a:ext cx="5216826" cy="951388"/>
          </a:xfrm>
          <a:prstGeom prst="rect">
            <a:avLst/>
          </a:prstGeom>
        </p:spPr>
        <p:txBody>
          <a:bodyPr anchor="t" rtlCol="false" tIns="0" lIns="0" bIns="0" rIns="0">
            <a:spAutoFit/>
          </a:bodyPr>
          <a:lstStyle/>
          <a:p>
            <a:pPr algn="l" marL="0" indent="0" lvl="0">
              <a:lnSpc>
                <a:spcPts val="6355"/>
              </a:lnSpc>
              <a:spcBef>
                <a:spcPct val="0"/>
              </a:spcBef>
            </a:pPr>
            <a:r>
              <a:rPr lang="en-US" b="true" sz="4605">
                <a:solidFill>
                  <a:srgbClr val="17E3B2"/>
                </a:solidFill>
                <a:latin typeface="Almarai Bold"/>
                <a:ea typeface="Almarai Bold"/>
                <a:cs typeface="Almarai Bold"/>
                <a:sym typeface="Almarai Bold"/>
              </a:rPr>
              <a:t>Introduzione</a:t>
            </a:r>
          </a:p>
        </p:txBody>
      </p:sp>
      <p:sp>
        <p:nvSpPr>
          <p:cNvPr name="TextBox 8" id="8"/>
          <p:cNvSpPr txBox="true"/>
          <p:nvPr/>
        </p:nvSpPr>
        <p:spPr>
          <a:xfrm rot="0">
            <a:off x="1768405" y="3901130"/>
            <a:ext cx="13108481" cy="1642333"/>
          </a:xfrm>
          <a:prstGeom prst="rect">
            <a:avLst/>
          </a:prstGeom>
        </p:spPr>
        <p:txBody>
          <a:bodyPr anchor="t" rtlCol="false" tIns="0" lIns="0" bIns="0" rIns="0">
            <a:spAutoFit/>
          </a:bodyPr>
          <a:lstStyle/>
          <a:p>
            <a:pPr algn="l" marL="586330" indent="-293165" lvl="1">
              <a:lnSpc>
                <a:spcPts val="3747"/>
              </a:lnSpc>
              <a:buFont typeface="Arial"/>
              <a:buChar char="•"/>
            </a:pPr>
            <a:r>
              <a:rPr lang="en-US" sz="2715">
                <a:solidFill>
                  <a:srgbClr val="FFFFFF"/>
                </a:solidFill>
                <a:latin typeface="Almarai"/>
                <a:ea typeface="Almarai"/>
                <a:cs typeface="Almarai"/>
                <a:sym typeface="Almarai"/>
              </a:rPr>
              <a:t>Pipeline tradizionale: STT → LLM → TTS → LipSync → WebRTC</a:t>
            </a:r>
          </a:p>
          <a:p>
            <a:pPr algn="l" marL="586330" indent="-293165" lvl="1">
              <a:lnSpc>
                <a:spcPts val="3747"/>
              </a:lnSpc>
              <a:buFont typeface="Arial"/>
              <a:buChar char="•"/>
            </a:pPr>
            <a:r>
              <a:rPr lang="en-US" sz="2715">
                <a:solidFill>
                  <a:srgbClr val="FFFFFF"/>
                </a:solidFill>
                <a:latin typeface="Almarai"/>
                <a:ea typeface="Almarai"/>
                <a:cs typeface="Almarai"/>
                <a:sym typeface="Almarai"/>
              </a:rPr>
              <a:t>Latenza di rendering: 2-4 minuti</a:t>
            </a:r>
          </a:p>
          <a:p>
            <a:pPr algn="l" marL="586330" indent="-293165" lvl="1">
              <a:lnSpc>
                <a:spcPts val="3747"/>
              </a:lnSpc>
              <a:buFont typeface="Arial"/>
              <a:buChar char="•"/>
            </a:pPr>
            <a:r>
              <a:rPr lang="en-US" sz="2715">
                <a:solidFill>
                  <a:srgbClr val="FFFFFF"/>
                </a:solidFill>
                <a:latin typeface="Almarai"/>
                <a:ea typeface="Almarai"/>
                <a:cs typeface="Almarai"/>
                <a:sym typeface="Almarai"/>
              </a:rPr>
              <a:t>Requisito richiesto per un digital human: &lt; 800 ms</a:t>
            </a:r>
          </a:p>
        </p:txBody>
      </p:sp>
      <p:sp>
        <p:nvSpPr>
          <p:cNvPr name="TextBox 9" id="9"/>
          <p:cNvSpPr txBox="true"/>
          <p:nvPr/>
        </p:nvSpPr>
        <p:spPr>
          <a:xfrm rot="0">
            <a:off x="1768405" y="5950693"/>
            <a:ext cx="8749110" cy="951388"/>
          </a:xfrm>
          <a:prstGeom prst="rect">
            <a:avLst/>
          </a:prstGeom>
        </p:spPr>
        <p:txBody>
          <a:bodyPr anchor="t" rtlCol="false" tIns="0" lIns="0" bIns="0" rIns="0">
            <a:spAutoFit/>
          </a:bodyPr>
          <a:lstStyle/>
          <a:p>
            <a:pPr algn="l" marL="0" indent="0" lvl="0">
              <a:lnSpc>
                <a:spcPts val="6355"/>
              </a:lnSpc>
              <a:spcBef>
                <a:spcPct val="0"/>
              </a:spcBef>
            </a:pPr>
            <a:r>
              <a:rPr lang="en-US" b="true" sz="4605">
                <a:solidFill>
                  <a:srgbClr val="17E3B2"/>
                </a:solidFill>
                <a:latin typeface="Almarai Bold"/>
                <a:ea typeface="Almarai Bold"/>
                <a:cs typeface="Almarai Bold"/>
                <a:sym typeface="Almarai Bold"/>
              </a:rPr>
              <a:t>Approccio Dual Brain</a:t>
            </a:r>
          </a:p>
        </p:txBody>
      </p:sp>
      <p:sp>
        <p:nvSpPr>
          <p:cNvPr name="TextBox 10" id="10"/>
          <p:cNvSpPr txBox="true"/>
          <p:nvPr/>
        </p:nvSpPr>
        <p:spPr>
          <a:xfrm rot="0">
            <a:off x="1768405" y="7020495"/>
            <a:ext cx="14518181" cy="1093244"/>
          </a:xfrm>
          <a:prstGeom prst="rect">
            <a:avLst/>
          </a:prstGeom>
        </p:spPr>
        <p:txBody>
          <a:bodyPr anchor="t" rtlCol="false" tIns="0" lIns="0" bIns="0" rIns="0">
            <a:spAutoFit/>
          </a:bodyPr>
          <a:lstStyle/>
          <a:p>
            <a:pPr algn="l" marL="586330" indent="-293165" lvl="1">
              <a:lnSpc>
                <a:spcPts val="3747"/>
              </a:lnSpc>
              <a:buFont typeface="Arial"/>
              <a:buChar char="•"/>
            </a:pPr>
            <a:r>
              <a:rPr lang="en-US" sz="2715">
                <a:solidFill>
                  <a:srgbClr val="FFFFFF"/>
                </a:solidFill>
                <a:latin typeface="Almarai"/>
                <a:ea typeface="Almarai"/>
                <a:cs typeface="Almarai"/>
                <a:sym typeface="Almarai"/>
              </a:rPr>
              <a:t>Instant Path: gestito da un Fast Brain, fornisce un riscontro immediato</a:t>
            </a:r>
          </a:p>
          <a:p>
            <a:pPr algn="l" marL="586330" indent="-293165" lvl="1">
              <a:lnSpc>
                <a:spcPts val="3747"/>
              </a:lnSpc>
              <a:buFont typeface="Arial"/>
              <a:buChar char="•"/>
            </a:pPr>
            <a:r>
              <a:rPr lang="en-US" sz="2715">
                <a:solidFill>
                  <a:srgbClr val="FFFFFF"/>
                </a:solidFill>
                <a:latin typeface="Almarai"/>
                <a:ea typeface="Almarai"/>
                <a:cs typeface="Almarai"/>
                <a:sym typeface="Almarai"/>
              </a:rPr>
              <a:t>Background Path: gestito da un Deep Brain,  elabora la risposta più articolata</a:t>
            </a:r>
          </a:p>
        </p:txBody>
      </p:sp>
      <p:sp>
        <p:nvSpPr>
          <p:cNvPr name="TextBox 11" id="11"/>
          <p:cNvSpPr txBox="true"/>
          <p:nvPr/>
        </p:nvSpPr>
        <p:spPr>
          <a:xfrm rot="0">
            <a:off x="1028700" y="1480776"/>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01</a:t>
            </a:r>
          </a:p>
        </p:txBody>
      </p:sp>
      <p:grpSp>
        <p:nvGrpSpPr>
          <p:cNvPr name="Group 12" id="12"/>
          <p:cNvGrpSpPr/>
          <p:nvPr/>
        </p:nvGrpSpPr>
        <p:grpSpPr>
          <a:xfrm rot="5400000">
            <a:off x="16605949" y="8402070"/>
            <a:ext cx="841991" cy="84199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14" id="14"/>
          <p:cNvGrpSpPr/>
          <p:nvPr/>
        </p:nvGrpSpPr>
        <p:grpSpPr>
          <a:xfrm rot="-10800000">
            <a:off x="16605949" y="1202778"/>
            <a:ext cx="5246522" cy="7495031"/>
            <a:chOff x="0" y="0"/>
            <a:chExt cx="4445000" cy="6350000"/>
          </a:xfrm>
        </p:grpSpPr>
        <p:sp>
          <p:nvSpPr>
            <p:cNvPr name="Freeform 15" id="1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0">
            <a:off x="-5173055" y="-2043171"/>
            <a:ext cx="5754080" cy="8220114"/>
            <a:chOff x="0" y="0"/>
            <a:chExt cx="4445000" cy="6350000"/>
          </a:xfrm>
        </p:grpSpPr>
        <p:sp>
          <p:nvSpPr>
            <p:cNvPr name="Freeform 3" id="3"/>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sp>
        <p:nvSpPr>
          <p:cNvPr name="TextBox 4" id="4"/>
          <p:cNvSpPr txBox="true"/>
          <p:nvPr/>
        </p:nvSpPr>
        <p:spPr>
          <a:xfrm rot="0">
            <a:off x="1768405" y="2800873"/>
            <a:ext cx="12151026" cy="951388"/>
          </a:xfrm>
          <a:prstGeom prst="rect">
            <a:avLst/>
          </a:prstGeom>
        </p:spPr>
        <p:txBody>
          <a:bodyPr anchor="t" rtlCol="false" tIns="0" lIns="0" bIns="0" rIns="0">
            <a:spAutoFit/>
          </a:bodyPr>
          <a:lstStyle/>
          <a:p>
            <a:pPr algn="l" marL="0" indent="0" lvl="0">
              <a:lnSpc>
                <a:spcPts val="6355"/>
              </a:lnSpc>
              <a:spcBef>
                <a:spcPct val="0"/>
              </a:spcBef>
            </a:pPr>
            <a:r>
              <a:rPr lang="en-US" b="true" sz="4605">
                <a:solidFill>
                  <a:srgbClr val="17E3B2"/>
                </a:solidFill>
                <a:latin typeface="Almarai Bold"/>
                <a:ea typeface="Almarai Bold"/>
                <a:cs typeface="Almarai Bold"/>
                <a:sym typeface="Almarai Bold"/>
              </a:rPr>
              <a:t>Caso di Studio: Al-Hakima Umm Saif</a:t>
            </a:r>
          </a:p>
        </p:txBody>
      </p:sp>
      <p:sp>
        <p:nvSpPr>
          <p:cNvPr name="TextBox 5" id="5"/>
          <p:cNvSpPr txBox="true"/>
          <p:nvPr/>
        </p:nvSpPr>
        <p:spPr>
          <a:xfrm rot="0">
            <a:off x="1768405" y="3901130"/>
            <a:ext cx="13108481" cy="1395243"/>
          </a:xfrm>
          <a:prstGeom prst="rect">
            <a:avLst/>
          </a:prstGeom>
        </p:spPr>
        <p:txBody>
          <a:bodyPr anchor="t" rtlCol="false" tIns="0" lIns="0" bIns="0" rIns="0">
            <a:spAutoFit/>
          </a:bodyPr>
          <a:lstStyle/>
          <a:p>
            <a:pPr algn="l" marL="586330" indent="-293165" lvl="1">
              <a:lnSpc>
                <a:spcPts val="3747"/>
              </a:lnSpc>
              <a:buFont typeface="Arial"/>
              <a:buChar char="•"/>
            </a:pPr>
            <a:r>
              <a:rPr lang="en-US" sz="2715">
                <a:solidFill>
                  <a:srgbClr val="FFFFFF"/>
                </a:solidFill>
                <a:latin typeface="Almarai"/>
                <a:ea typeface="Almarai"/>
                <a:cs typeface="Almarai"/>
                <a:sym typeface="Almarai"/>
              </a:rPr>
              <a:t>Figura tradizionale anziana degli Emirati Arabi Uniti</a:t>
            </a:r>
          </a:p>
          <a:p>
            <a:pPr algn="l" marL="586330" indent="-293165" lvl="1">
              <a:lnSpc>
                <a:spcPts val="3747"/>
              </a:lnSpc>
              <a:buFont typeface="Arial"/>
              <a:buChar char="•"/>
            </a:pPr>
            <a:r>
              <a:rPr lang="en-US" sz="2715">
                <a:solidFill>
                  <a:srgbClr val="FFFFFF"/>
                </a:solidFill>
                <a:latin typeface="Almarai"/>
                <a:ea typeface="Almarai"/>
                <a:cs typeface="Almarai"/>
                <a:sym typeface="Almarai"/>
              </a:rPr>
              <a:t>Tratti empatici e rassicuranti</a:t>
            </a:r>
          </a:p>
          <a:p>
            <a:pPr algn="l" marL="586330" indent="-293165" lvl="1">
              <a:lnSpc>
                <a:spcPts val="3747"/>
              </a:lnSpc>
              <a:buFont typeface="Arial"/>
              <a:buChar char="•"/>
            </a:pPr>
            <a:r>
              <a:rPr lang="en-US" sz="2715">
                <a:solidFill>
                  <a:srgbClr val="FFFFFF"/>
                </a:solidFill>
                <a:latin typeface="Almarai"/>
                <a:ea typeface="Almarai"/>
                <a:cs typeface="Almarai"/>
                <a:sym typeface="Almarai"/>
              </a:rPr>
              <a:t>Fornisce rimedi erboristici </a:t>
            </a:r>
          </a:p>
        </p:txBody>
      </p:sp>
      <p:sp>
        <p:nvSpPr>
          <p:cNvPr name="TextBox 6" id="6"/>
          <p:cNvSpPr txBox="true"/>
          <p:nvPr/>
        </p:nvSpPr>
        <p:spPr>
          <a:xfrm rot="0">
            <a:off x="1768405" y="5950693"/>
            <a:ext cx="8749110" cy="951388"/>
          </a:xfrm>
          <a:prstGeom prst="rect">
            <a:avLst/>
          </a:prstGeom>
        </p:spPr>
        <p:txBody>
          <a:bodyPr anchor="t" rtlCol="false" tIns="0" lIns="0" bIns="0" rIns="0">
            <a:spAutoFit/>
          </a:bodyPr>
          <a:lstStyle/>
          <a:p>
            <a:pPr algn="l" marL="0" indent="0" lvl="0">
              <a:lnSpc>
                <a:spcPts val="6355"/>
              </a:lnSpc>
              <a:spcBef>
                <a:spcPct val="0"/>
              </a:spcBef>
            </a:pPr>
            <a:r>
              <a:rPr lang="en-US" b="true" sz="4605">
                <a:solidFill>
                  <a:srgbClr val="17E3B2"/>
                </a:solidFill>
                <a:latin typeface="Almarai Bold"/>
                <a:ea typeface="Almarai Bold"/>
                <a:cs typeface="Almarai Bold"/>
                <a:sym typeface="Almarai Bold"/>
              </a:rPr>
              <a:t>Human Agent Trust</a:t>
            </a:r>
          </a:p>
        </p:txBody>
      </p:sp>
      <p:sp>
        <p:nvSpPr>
          <p:cNvPr name="TextBox 7" id="7"/>
          <p:cNvSpPr txBox="true"/>
          <p:nvPr/>
        </p:nvSpPr>
        <p:spPr>
          <a:xfrm rot="0">
            <a:off x="1768405" y="7020495"/>
            <a:ext cx="14518181" cy="2191421"/>
          </a:xfrm>
          <a:prstGeom prst="rect">
            <a:avLst/>
          </a:prstGeom>
        </p:spPr>
        <p:txBody>
          <a:bodyPr anchor="t" rtlCol="false" tIns="0" lIns="0" bIns="0" rIns="0">
            <a:spAutoFit/>
          </a:bodyPr>
          <a:lstStyle/>
          <a:p>
            <a:pPr algn="l" marL="586330" indent="-293165" lvl="1">
              <a:lnSpc>
                <a:spcPts val="3747"/>
              </a:lnSpc>
              <a:buFont typeface="Arial"/>
              <a:buChar char="•"/>
            </a:pPr>
            <a:r>
              <a:rPr lang="en-US" sz="2715">
                <a:solidFill>
                  <a:srgbClr val="FFFFFF"/>
                </a:solidFill>
                <a:latin typeface="Almarai"/>
                <a:ea typeface="Almarai"/>
                <a:cs typeface="Almarai"/>
                <a:sym typeface="Almarai"/>
              </a:rPr>
              <a:t>Fattore critico: elevata persuasività per via del realismo visivo e della sua personalità gentile</a:t>
            </a:r>
          </a:p>
          <a:p>
            <a:pPr algn="l" marL="586330" indent="-293165" lvl="1">
              <a:lnSpc>
                <a:spcPts val="3747"/>
              </a:lnSpc>
              <a:buFont typeface="Arial"/>
              <a:buChar char="•"/>
            </a:pPr>
            <a:r>
              <a:rPr lang="en-US" sz="2715">
                <a:solidFill>
                  <a:srgbClr val="FFFFFF"/>
                </a:solidFill>
                <a:latin typeface="Almarai"/>
                <a:ea typeface="Almarai"/>
                <a:cs typeface="Almarai"/>
                <a:sym typeface="Almarai"/>
              </a:rPr>
              <a:t>Rischio: manipolare l’avatar porta a prescrizioni nocive</a:t>
            </a:r>
          </a:p>
          <a:p>
            <a:pPr algn="l" marL="586330" indent="-293165" lvl="1">
              <a:lnSpc>
                <a:spcPts val="3747"/>
              </a:lnSpc>
              <a:buFont typeface="Arial"/>
              <a:buChar char="•"/>
            </a:pPr>
            <a:r>
              <a:rPr lang="en-US" sz="2715">
                <a:solidFill>
                  <a:srgbClr val="FFFFFF"/>
                </a:solidFill>
                <a:latin typeface="Almarai"/>
                <a:ea typeface="Almarai"/>
                <a:cs typeface="Almarai"/>
                <a:sym typeface="Almarai"/>
              </a:rPr>
              <a:t>Obiettivo: proteggere l’integrità dei contenuti senza intaccare il real time</a:t>
            </a:r>
          </a:p>
        </p:txBody>
      </p:sp>
      <p:sp>
        <p:nvSpPr>
          <p:cNvPr name="TextBox 8" id="8"/>
          <p:cNvSpPr txBox="true"/>
          <p:nvPr/>
        </p:nvSpPr>
        <p:spPr>
          <a:xfrm rot="0">
            <a:off x="2767012" y="1467802"/>
            <a:ext cx="7297240" cy="913166"/>
          </a:xfrm>
          <a:prstGeom prst="rect">
            <a:avLst/>
          </a:prstGeom>
        </p:spPr>
        <p:txBody>
          <a:bodyPr anchor="t" rtlCol="false" tIns="0" lIns="0" bIns="0" rIns="0">
            <a:spAutoFit/>
          </a:bodyPr>
          <a:lstStyle/>
          <a:p>
            <a:pPr algn="l" marL="0" indent="0" lvl="0">
              <a:lnSpc>
                <a:spcPts val="6034"/>
              </a:lnSpc>
              <a:spcBef>
                <a:spcPct val="0"/>
              </a:spcBef>
            </a:pPr>
            <a:r>
              <a:rPr lang="en-US" b="true" sz="5028">
                <a:solidFill>
                  <a:srgbClr val="FFFFFF"/>
                </a:solidFill>
                <a:latin typeface="Almarai Bold"/>
                <a:ea typeface="Almarai Bold"/>
                <a:cs typeface="Almarai Bold"/>
                <a:sym typeface="Almarai Bold"/>
              </a:rPr>
              <a:t>CONTESTO</a:t>
            </a:r>
          </a:p>
        </p:txBody>
      </p:sp>
      <p:grpSp>
        <p:nvGrpSpPr>
          <p:cNvPr name="Group 9" id="9"/>
          <p:cNvGrpSpPr/>
          <p:nvPr/>
        </p:nvGrpSpPr>
        <p:grpSpPr>
          <a:xfrm rot="5400000">
            <a:off x="1143952" y="1337924"/>
            <a:ext cx="1224824" cy="12248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1" id="11"/>
          <p:cNvSpPr txBox="true"/>
          <p:nvPr/>
        </p:nvSpPr>
        <p:spPr>
          <a:xfrm rot="0">
            <a:off x="1028700" y="1480776"/>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01</a:t>
            </a:r>
          </a:p>
        </p:txBody>
      </p:sp>
      <p:grpSp>
        <p:nvGrpSpPr>
          <p:cNvPr name="Group 12" id="12"/>
          <p:cNvGrpSpPr/>
          <p:nvPr/>
        </p:nvGrpSpPr>
        <p:grpSpPr>
          <a:xfrm rot="5400000">
            <a:off x="16605949" y="8402070"/>
            <a:ext cx="841991" cy="84199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14" id="14"/>
          <p:cNvGrpSpPr/>
          <p:nvPr/>
        </p:nvGrpSpPr>
        <p:grpSpPr>
          <a:xfrm rot="-10800000">
            <a:off x="16605949" y="1202778"/>
            <a:ext cx="5246522" cy="7495031"/>
            <a:chOff x="0" y="0"/>
            <a:chExt cx="4445000" cy="6350000"/>
          </a:xfrm>
        </p:grpSpPr>
        <p:sp>
          <p:nvSpPr>
            <p:cNvPr name="Freeform 15" id="1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10" id="10"/>
          <p:cNvGrpSpPr/>
          <p:nvPr/>
        </p:nvGrpSpPr>
        <p:grpSpPr>
          <a:xfrm rot="0">
            <a:off x="1393253" y="3029354"/>
            <a:ext cx="911914" cy="911914"/>
            <a:chOff x="0" y="0"/>
            <a:chExt cx="1215886" cy="1215886"/>
          </a:xfrm>
        </p:grpSpPr>
        <p:grpSp>
          <p:nvGrpSpPr>
            <p:cNvPr name="Group 11" id="11"/>
            <p:cNvGrpSpPr/>
            <p:nvPr/>
          </p:nvGrpSpPr>
          <p:grpSpPr>
            <a:xfrm rot="0">
              <a:off x="0" y="0"/>
              <a:ext cx="1215886" cy="121588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05"/>
                  </a:lnSpc>
                </a:pPr>
              </a:p>
            </p:txBody>
          </p:sp>
        </p:grpSp>
        <p:sp>
          <p:nvSpPr>
            <p:cNvPr name="Freeform 14" id="14"/>
            <p:cNvSpPr/>
            <p:nvPr/>
          </p:nvSpPr>
          <p:spPr>
            <a:xfrm flipH="true" flipV="false" rot="0">
              <a:off x="167076" y="167076"/>
              <a:ext cx="881733" cy="881733"/>
            </a:xfrm>
            <a:custGeom>
              <a:avLst/>
              <a:gdLst/>
              <a:ahLst/>
              <a:cxnLst/>
              <a:rect r="r" b="b" t="t" l="l"/>
              <a:pathLst>
                <a:path h="881733" w="881733">
                  <a:moveTo>
                    <a:pt x="881733" y="0"/>
                  </a:moveTo>
                  <a:lnTo>
                    <a:pt x="0" y="0"/>
                  </a:lnTo>
                  <a:lnTo>
                    <a:pt x="0" y="881733"/>
                  </a:lnTo>
                  <a:lnTo>
                    <a:pt x="881733" y="881733"/>
                  </a:lnTo>
                  <a:lnTo>
                    <a:pt x="881733"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5" id="15"/>
          <p:cNvGrpSpPr/>
          <p:nvPr/>
        </p:nvGrpSpPr>
        <p:grpSpPr>
          <a:xfrm rot="0">
            <a:off x="1393253" y="4570058"/>
            <a:ext cx="911914" cy="911914"/>
            <a:chOff x="0" y="0"/>
            <a:chExt cx="1215886" cy="1215886"/>
          </a:xfrm>
        </p:grpSpPr>
        <p:grpSp>
          <p:nvGrpSpPr>
            <p:cNvPr name="Group 16" id="16"/>
            <p:cNvGrpSpPr/>
            <p:nvPr/>
          </p:nvGrpSpPr>
          <p:grpSpPr>
            <a:xfrm rot="0">
              <a:off x="0" y="0"/>
              <a:ext cx="1215886" cy="121588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605"/>
                  </a:lnSpc>
                </a:pPr>
              </a:p>
            </p:txBody>
          </p:sp>
        </p:grpSp>
        <p:sp>
          <p:nvSpPr>
            <p:cNvPr name="Freeform 19" id="19"/>
            <p:cNvSpPr/>
            <p:nvPr/>
          </p:nvSpPr>
          <p:spPr>
            <a:xfrm flipH="false" flipV="false" rot="0">
              <a:off x="216998" y="147014"/>
              <a:ext cx="783579" cy="921857"/>
            </a:xfrm>
            <a:custGeom>
              <a:avLst/>
              <a:gdLst/>
              <a:ahLst/>
              <a:cxnLst/>
              <a:rect r="r" b="b" t="t" l="l"/>
              <a:pathLst>
                <a:path h="921857" w="783579">
                  <a:moveTo>
                    <a:pt x="0" y="0"/>
                  </a:moveTo>
                  <a:lnTo>
                    <a:pt x="783579" y="0"/>
                  </a:lnTo>
                  <a:lnTo>
                    <a:pt x="783579" y="921858"/>
                  </a:lnTo>
                  <a:lnTo>
                    <a:pt x="0" y="9218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20" id="20"/>
          <p:cNvGrpSpPr/>
          <p:nvPr/>
        </p:nvGrpSpPr>
        <p:grpSpPr>
          <a:xfrm rot="0">
            <a:off x="1393253" y="6110763"/>
            <a:ext cx="911914" cy="911914"/>
            <a:chOff x="0" y="0"/>
            <a:chExt cx="1215886" cy="1215886"/>
          </a:xfrm>
        </p:grpSpPr>
        <p:grpSp>
          <p:nvGrpSpPr>
            <p:cNvPr name="Group 21" id="21"/>
            <p:cNvGrpSpPr/>
            <p:nvPr/>
          </p:nvGrpSpPr>
          <p:grpSpPr>
            <a:xfrm rot="0">
              <a:off x="0" y="0"/>
              <a:ext cx="1215886" cy="121588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2605"/>
                  </a:lnSpc>
                </a:pPr>
              </a:p>
            </p:txBody>
          </p:sp>
        </p:grpSp>
        <p:sp>
          <p:nvSpPr>
            <p:cNvPr name="Freeform 24" id="24"/>
            <p:cNvSpPr/>
            <p:nvPr/>
          </p:nvSpPr>
          <p:spPr>
            <a:xfrm flipH="false" flipV="false" rot="0">
              <a:off x="153890" y="219728"/>
              <a:ext cx="908105" cy="776430"/>
            </a:xfrm>
            <a:custGeom>
              <a:avLst/>
              <a:gdLst/>
              <a:ahLst/>
              <a:cxnLst/>
              <a:rect r="r" b="b" t="t" l="l"/>
              <a:pathLst>
                <a:path h="776430" w="908105">
                  <a:moveTo>
                    <a:pt x="0" y="0"/>
                  </a:moveTo>
                  <a:lnTo>
                    <a:pt x="908106" y="0"/>
                  </a:lnTo>
                  <a:lnTo>
                    <a:pt x="908106" y="776430"/>
                  </a:lnTo>
                  <a:lnTo>
                    <a:pt x="0" y="7764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25" id="25"/>
          <p:cNvGrpSpPr/>
          <p:nvPr/>
        </p:nvGrpSpPr>
        <p:grpSpPr>
          <a:xfrm rot="0">
            <a:off x="1393253" y="7651467"/>
            <a:ext cx="911914" cy="911914"/>
            <a:chOff x="0" y="0"/>
            <a:chExt cx="1215886" cy="1215886"/>
          </a:xfrm>
        </p:grpSpPr>
        <p:grpSp>
          <p:nvGrpSpPr>
            <p:cNvPr name="Group 26" id="26"/>
            <p:cNvGrpSpPr/>
            <p:nvPr/>
          </p:nvGrpSpPr>
          <p:grpSpPr>
            <a:xfrm rot="0">
              <a:off x="0" y="0"/>
              <a:ext cx="1215886" cy="1215886"/>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2605"/>
                  </a:lnSpc>
                </a:pPr>
              </a:p>
            </p:txBody>
          </p:sp>
        </p:grpSp>
        <p:sp>
          <p:nvSpPr>
            <p:cNvPr name="Freeform 29" id="29"/>
            <p:cNvSpPr/>
            <p:nvPr/>
          </p:nvSpPr>
          <p:spPr>
            <a:xfrm flipH="false" flipV="false" rot="0">
              <a:off x="188347" y="192543"/>
              <a:ext cx="839192" cy="830800"/>
            </a:xfrm>
            <a:custGeom>
              <a:avLst/>
              <a:gdLst/>
              <a:ahLst/>
              <a:cxnLst/>
              <a:rect r="r" b="b" t="t" l="l"/>
              <a:pathLst>
                <a:path h="830800" w="839192">
                  <a:moveTo>
                    <a:pt x="0" y="0"/>
                  </a:moveTo>
                  <a:lnTo>
                    <a:pt x="839192" y="0"/>
                  </a:lnTo>
                  <a:lnTo>
                    <a:pt x="839192" y="830800"/>
                  </a:lnTo>
                  <a:lnTo>
                    <a:pt x="0" y="830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TextBox 30" id="30"/>
          <p:cNvSpPr txBox="true"/>
          <p:nvPr/>
        </p:nvSpPr>
        <p:spPr>
          <a:xfrm rot="0">
            <a:off x="2767012"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strike="noStrike" u="none">
                <a:solidFill>
                  <a:srgbClr val="FFFFFF"/>
                </a:solidFill>
                <a:latin typeface="Almarai Bold"/>
                <a:ea typeface="Almarai Bold"/>
                <a:cs typeface="Almarai Bold"/>
                <a:sym typeface="Almarai Bold"/>
              </a:rPr>
              <a:t>SCOPE E METODOLOGIA</a:t>
            </a:r>
          </a:p>
        </p:txBody>
      </p:sp>
      <p:sp>
        <p:nvSpPr>
          <p:cNvPr name="TextBox 31" id="31"/>
          <p:cNvSpPr txBox="true"/>
          <p:nvPr/>
        </p:nvSpPr>
        <p:spPr>
          <a:xfrm rot="0">
            <a:off x="2600760" y="3006994"/>
            <a:ext cx="13411676" cy="453413"/>
          </a:xfrm>
          <a:prstGeom prst="rect">
            <a:avLst/>
          </a:prstGeom>
        </p:spPr>
        <p:txBody>
          <a:bodyPr anchor="t" rtlCol="false" tIns="0" lIns="0" bIns="0" rIns="0">
            <a:spAutoFit/>
          </a:bodyPr>
          <a:lstStyle/>
          <a:p>
            <a:pPr algn="l" marL="0" indent="0" lvl="0">
              <a:lnSpc>
                <a:spcPts val="3006"/>
              </a:lnSpc>
              <a:spcBef>
                <a:spcPct val="0"/>
              </a:spcBef>
            </a:pPr>
            <a:r>
              <a:rPr lang="en-US" sz="2178">
                <a:solidFill>
                  <a:srgbClr val="FFFFFF"/>
                </a:solidFill>
                <a:latin typeface="Almarai"/>
                <a:ea typeface="Almarai"/>
                <a:cs typeface="Almarai"/>
                <a:sym typeface="Almarai"/>
              </a:rPr>
              <a:t>Oggetto dell’analisi: pipeline dual-brain, canali di inferenza e servizi multimediali downstream </a:t>
            </a:r>
          </a:p>
        </p:txBody>
      </p:sp>
      <p:sp>
        <p:nvSpPr>
          <p:cNvPr name="TextBox 32" id="32"/>
          <p:cNvSpPr txBox="true"/>
          <p:nvPr/>
        </p:nvSpPr>
        <p:spPr>
          <a:xfrm rot="0">
            <a:off x="2600760" y="4547698"/>
            <a:ext cx="13207361" cy="899485"/>
          </a:xfrm>
          <a:prstGeom prst="rect">
            <a:avLst/>
          </a:prstGeom>
        </p:spPr>
        <p:txBody>
          <a:bodyPr anchor="t" rtlCol="false" tIns="0" lIns="0" bIns="0" rIns="0">
            <a:spAutoFit/>
          </a:bodyPr>
          <a:lstStyle/>
          <a:p>
            <a:pPr algn="l" marL="0" indent="0" lvl="0">
              <a:lnSpc>
                <a:spcPts val="3006"/>
              </a:lnSpc>
              <a:spcBef>
                <a:spcPct val="0"/>
              </a:spcBef>
            </a:pPr>
            <a:r>
              <a:rPr lang="en-US" sz="2178">
                <a:solidFill>
                  <a:srgbClr val="FFFFFF"/>
                </a:solidFill>
                <a:latin typeface="Almarai"/>
                <a:ea typeface="Almarai"/>
                <a:cs typeface="Almarai"/>
                <a:sym typeface="Almarai"/>
              </a:rPr>
              <a:t>STRIDE-AI + CIA3-R: approccio asset-centered esteso alle 7 proprietà di sicurezza (</a:t>
            </a:r>
            <a:r>
              <a:rPr lang="en-US" sz="2178">
                <a:solidFill>
                  <a:srgbClr val="FFFFFF"/>
                </a:solidFill>
                <a:latin typeface="Almarai"/>
                <a:ea typeface="Almarai"/>
                <a:cs typeface="Almarai"/>
                <a:sym typeface="Almarai"/>
              </a:rPr>
              <a:t>C</a:t>
            </a:r>
            <a:r>
              <a:rPr lang="en-US" sz="2178">
                <a:solidFill>
                  <a:srgbClr val="FFFFFF"/>
                </a:solidFill>
                <a:latin typeface="Almarai"/>
                <a:ea typeface="Almarai"/>
                <a:cs typeface="Almarai"/>
                <a:sym typeface="Almarai"/>
              </a:rPr>
              <a:t>I</a:t>
            </a:r>
            <a:r>
              <a:rPr lang="en-US" sz="2178">
                <a:solidFill>
                  <a:srgbClr val="FFFFFF"/>
                </a:solidFill>
                <a:latin typeface="Almarai"/>
                <a:ea typeface="Almarai"/>
                <a:cs typeface="Almarai"/>
                <a:sym typeface="Almarai"/>
              </a:rPr>
              <a:t>A + Autenticazione, Autorizzazione, Accountability, Non-ripudio) </a:t>
            </a:r>
          </a:p>
        </p:txBody>
      </p:sp>
      <p:sp>
        <p:nvSpPr>
          <p:cNvPr name="TextBox 33" id="33"/>
          <p:cNvSpPr txBox="true"/>
          <p:nvPr/>
        </p:nvSpPr>
        <p:spPr>
          <a:xfrm rot="0">
            <a:off x="2600760" y="6088403"/>
            <a:ext cx="13411676" cy="899485"/>
          </a:xfrm>
          <a:prstGeom prst="rect">
            <a:avLst/>
          </a:prstGeom>
        </p:spPr>
        <p:txBody>
          <a:bodyPr anchor="t" rtlCol="false" tIns="0" lIns="0" bIns="0" rIns="0">
            <a:spAutoFit/>
          </a:bodyPr>
          <a:lstStyle/>
          <a:p>
            <a:pPr algn="l" marL="0" indent="0" lvl="0">
              <a:lnSpc>
                <a:spcPts val="3006"/>
              </a:lnSpc>
              <a:spcBef>
                <a:spcPct val="0"/>
              </a:spcBef>
            </a:pPr>
            <a:r>
              <a:rPr lang="en-US" sz="2178">
                <a:solidFill>
                  <a:srgbClr val="FFFFFF"/>
                </a:solidFill>
                <a:latin typeface="Almarai"/>
                <a:ea typeface="Almarai"/>
                <a:cs typeface="Almarai"/>
                <a:sym typeface="Almarai"/>
              </a:rPr>
              <a:t>OWASP Agentic Top 10: identificazione e mappatura delle minacce specifiche per applicazioni ad agenti autonomi</a:t>
            </a:r>
          </a:p>
        </p:txBody>
      </p:sp>
      <p:sp>
        <p:nvSpPr>
          <p:cNvPr name="TextBox 34" id="34"/>
          <p:cNvSpPr txBox="true"/>
          <p:nvPr/>
        </p:nvSpPr>
        <p:spPr>
          <a:xfrm rot="0">
            <a:off x="2600760" y="7629107"/>
            <a:ext cx="13207361" cy="899485"/>
          </a:xfrm>
          <a:prstGeom prst="rect">
            <a:avLst/>
          </a:prstGeom>
        </p:spPr>
        <p:txBody>
          <a:bodyPr anchor="t" rtlCol="false" tIns="0" lIns="0" bIns="0" rIns="0">
            <a:spAutoFit/>
          </a:bodyPr>
          <a:lstStyle/>
          <a:p>
            <a:pPr algn="l" marL="0" indent="0" lvl="0">
              <a:lnSpc>
                <a:spcPts val="3006"/>
              </a:lnSpc>
              <a:spcBef>
                <a:spcPct val="0"/>
              </a:spcBef>
            </a:pPr>
            <a:r>
              <a:rPr lang="en-US" sz="2178">
                <a:solidFill>
                  <a:srgbClr val="FFFFFF"/>
                </a:solidFill>
                <a:latin typeface="Almarai"/>
                <a:ea typeface="Almarai"/>
                <a:cs typeface="Almarai"/>
                <a:sym typeface="Almarai"/>
              </a:rPr>
              <a:t>B</a:t>
            </a:r>
            <a:r>
              <a:rPr lang="en-US" sz="2178" strike="noStrike" u="none">
                <a:solidFill>
                  <a:srgbClr val="FFFFFF"/>
                </a:solidFill>
                <a:latin typeface="Almarai"/>
                <a:ea typeface="Almarai"/>
                <a:cs typeface="Almarai"/>
                <a:sym typeface="Almarai"/>
              </a:rPr>
              <a:t>aseline vs Secure Architecture: anastima del rischio inerente sul sistema base vs rischio residuo con le 7 Precauzioni</a:t>
            </a:r>
          </a:p>
        </p:txBody>
      </p:sp>
      <p:sp>
        <p:nvSpPr>
          <p:cNvPr name="TextBox 35" id="35"/>
          <p:cNvSpPr txBox="true"/>
          <p:nvPr/>
        </p:nvSpPr>
        <p:spPr>
          <a:xfrm rot="0">
            <a:off x="1028700" y="1480657"/>
            <a:ext cx="1456246" cy="843870"/>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Freeform 10" id="10"/>
          <p:cNvSpPr/>
          <p:nvPr/>
        </p:nvSpPr>
        <p:spPr>
          <a:xfrm flipH="false" flipV="false" rot="0">
            <a:off x="7957479" y="3761452"/>
            <a:ext cx="8648470" cy="4830981"/>
          </a:xfrm>
          <a:custGeom>
            <a:avLst/>
            <a:gdLst/>
            <a:ahLst/>
            <a:cxnLst/>
            <a:rect r="r" b="b" t="t" l="l"/>
            <a:pathLst>
              <a:path h="4830981" w="8648470">
                <a:moveTo>
                  <a:pt x="0" y="0"/>
                </a:moveTo>
                <a:lnTo>
                  <a:pt x="8648470" y="0"/>
                </a:lnTo>
                <a:lnTo>
                  <a:pt x="8648470" y="4830982"/>
                </a:lnTo>
                <a:lnTo>
                  <a:pt x="0" y="4830982"/>
                </a:lnTo>
                <a:lnTo>
                  <a:pt x="0" y="0"/>
                </a:lnTo>
                <a:close/>
              </a:path>
            </a:pathLst>
          </a:custGeom>
          <a:blipFill>
            <a:blip r:embed="rId4"/>
            <a:stretch>
              <a:fillRect l="0" t="0" r="0" b="0"/>
            </a:stretch>
          </a:blipFill>
        </p:spPr>
      </p:sp>
      <p:sp>
        <p:nvSpPr>
          <p:cNvPr name="TextBox 11" id="11"/>
          <p:cNvSpPr txBox="true"/>
          <p:nvPr/>
        </p:nvSpPr>
        <p:spPr>
          <a:xfrm rot="0">
            <a:off x="2766869" y="1467525"/>
            <a:ext cx="12080272"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DESCRIZIONE DELLA PIPELINE</a:t>
            </a:r>
          </a:p>
        </p:txBody>
      </p:sp>
      <p:sp>
        <p:nvSpPr>
          <p:cNvPr name="TextBox 12" id="12"/>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03</a:t>
            </a:r>
          </a:p>
        </p:txBody>
      </p:sp>
      <p:sp>
        <p:nvSpPr>
          <p:cNvPr name="TextBox 13" id="13"/>
          <p:cNvSpPr txBox="true"/>
          <p:nvPr/>
        </p:nvSpPr>
        <p:spPr>
          <a:xfrm rot="0">
            <a:off x="1028700" y="3518952"/>
            <a:ext cx="6359773" cy="5833917"/>
          </a:xfrm>
          <a:prstGeom prst="rect">
            <a:avLst/>
          </a:prstGeom>
        </p:spPr>
        <p:txBody>
          <a:bodyPr anchor="t" rtlCol="false" tIns="0" lIns="0" bIns="0" rIns="0">
            <a:spAutoFit/>
          </a:bodyPr>
          <a:lstStyle/>
          <a:p>
            <a:pPr algn="l" marL="474976" indent="-237488" lvl="1">
              <a:lnSpc>
                <a:spcPts val="3035"/>
              </a:lnSpc>
              <a:buFont typeface="Arial"/>
              <a:buChar char="•"/>
            </a:pPr>
            <a:r>
              <a:rPr lang="en-US" b="true" sz="2199">
                <a:solidFill>
                  <a:srgbClr val="FFFFFF"/>
                </a:solidFill>
                <a:latin typeface="Almarai Bold"/>
                <a:ea typeface="Almarai Bold"/>
                <a:cs typeface="Almarai Bold"/>
                <a:sym typeface="Almarai Bold"/>
              </a:rPr>
              <a:t>Instant Path (Fast-Brain):</a:t>
            </a:r>
            <a:r>
              <a:rPr lang="en-US" sz="2199">
                <a:solidFill>
                  <a:srgbClr val="FFFFFF"/>
                </a:solidFill>
                <a:latin typeface="Almarai"/>
                <a:ea typeface="Almarai"/>
                <a:cs typeface="Almarai"/>
                <a:sym typeface="Almarai"/>
              </a:rPr>
              <a:t> elabora token parziali in &lt; 800 ms; seleziona filler verbali brevi e gesti pre-renderizzati per azzerare la latenza percepita.</a:t>
            </a:r>
          </a:p>
          <a:p>
            <a:pPr algn="l" marL="474976" indent="-237488" lvl="1">
              <a:lnSpc>
                <a:spcPts val="3035"/>
              </a:lnSpc>
              <a:buFont typeface="Arial"/>
              <a:buChar char="•"/>
            </a:pPr>
            <a:r>
              <a:rPr lang="en-US" b="true" sz="2199">
                <a:solidFill>
                  <a:srgbClr val="FFFFFF"/>
                </a:solidFill>
                <a:latin typeface="Almarai Bold"/>
                <a:ea typeface="Almarai Bold"/>
                <a:cs typeface="Almarai Bold"/>
                <a:sym typeface="Almarai Bold"/>
              </a:rPr>
              <a:t>Background Path (Deep-Brain)</a:t>
            </a:r>
            <a:r>
              <a:rPr lang="en-US" sz="2199">
                <a:solidFill>
                  <a:srgbClr val="FFFFFF"/>
                </a:solidFill>
                <a:latin typeface="Almarai"/>
                <a:ea typeface="Almarai"/>
                <a:cs typeface="Almarai"/>
                <a:sym typeface="Almarai"/>
              </a:rPr>
              <a:t>: elabora la risposta completa (2-4 min) integrando RAG su FAISS, system prompt e rendering video cinematografico.</a:t>
            </a:r>
          </a:p>
          <a:p>
            <a:pPr algn="l" marL="474976" indent="-237488" lvl="1">
              <a:lnSpc>
                <a:spcPts val="3035"/>
              </a:lnSpc>
              <a:buFont typeface="Arial"/>
              <a:buChar char="•"/>
            </a:pPr>
            <a:r>
              <a:rPr lang="en-US" b="true" sz="2199">
                <a:solidFill>
                  <a:srgbClr val="FFFFFF"/>
                </a:solidFill>
                <a:latin typeface="Almarai Bold"/>
                <a:ea typeface="Almarai Bold"/>
                <a:cs typeface="Almarai Bold"/>
                <a:sym typeface="Almarai Bold"/>
              </a:rPr>
              <a:t>Swap Manager</a:t>
            </a:r>
            <a:r>
              <a:rPr lang="en-US" sz="2199">
                <a:solidFill>
                  <a:srgbClr val="FFFFFF"/>
                </a:solidFill>
                <a:latin typeface="Almarai"/>
                <a:ea typeface="Almarai"/>
                <a:cs typeface="Almarai"/>
                <a:sym typeface="Almarai"/>
              </a:rPr>
              <a:t>: macchina a stati deterministica che esegue lo seamless cut evitando glitch posturali o sovrapposizioni vocali.</a:t>
            </a:r>
          </a:p>
        </p:txBody>
      </p:sp>
      <p:sp>
        <p:nvSpPr>
          <p:cNvPr name="TextBox 14" id="14"/>
          <p:cNvSpPr txBox="true"/>
          <p:nvPr/>
        </p:nvSpPr>
        <p:spPr>
          <a:xfrm rot="0">
            <a:off x="1308479" y="2669045"/>
            <a:ext cx="6079995" cy="724441"/>
          </a:xfrm>
          <a:prstGeom prst="rect">
            <a:avLst/>
          </a:prstGeom>
        </p:spPr>
        <p:txBody>
          <a:bodyPr anchor="t" rtlCol="false" tIns="0" lIns="0" bIns="0" rIns="0">
            <a:spAutoFit/>
          </a:bodyPr>
          <a:lstStyle/>
          <a:p>
            <a:pPr algn="l" marL="0" indent="0" lvl="0">
              <a:lnSpc>
                <a:spcPts val="4837"/>
              </a:lnSpc>
              <a:spcBef>
                <a:spcPct val="0"/>
              </a:spcBef>
            </a:pPr>
            <a:r>
              <a:rPr lang="en-US" b="true" sz="3505">
                <a:solidFill>
                  <a:srgbClr val="17E3B2"/>
                </a:solidFill>
                <a:latin typeface="Almarai Bold"/>
                <a:ea typeface="Almarai Bold"/>
                <a:cs typeface="Almarai Bold"/>
                <a:sym typeface="Almarai Bold"/>
              </a:rPr>
              <a:t>Architettura Dual-Brain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Freeform 10" id="10"/>
          <p:cNvSpPr/>
          <p:nvPr/>
        </p:nvSpPr>
        <p:spPr>
          <a:xfrm flipH="false" flipV="false" rot="0">
            <a:off x="2214719" y="2844966"/>
            <a:ext cx="14391231" cy="3939628"/>
          </a:xfrm>
          <a:custGeom>
            <a:avLst/>
            <a:gdLst/>
            <a:ahLst/>
            <a:cxnLst/>
            <a:rect r="r" b="b" t="t" l="l"/>
            <a:pathLst>
              <a:path h="3939628" w="14391231">
                <a:moveTo>
                  <a:pt x="0" y="0"/>
                </a:moveTo>
                <a:lnTo>
                  <a:pt x="14391230" y="0"/>
                </a:lnTo>
                <a:lnTo>
                  <a:pt x="14391230" y="3939629"/>
                </a:lnTo>
                <a:lnTo>
                  <a:pt x="0" y="3939629"/>
                </a:lnTo>
                <a:lnTo>
                  <a:pt x="0" y="0"/>
                </a:lnTo>
                <a:close/>
              </a:path>
            </a:pathLst>
          </a:custGeom>
          <a:blipFill>
            <a:blip r:embed="rId4"/>
            <a:stretch>
              <a:fillRect l="0" t="0" r="0" b="0"/>
            </a:stretch>
          </a:blipFill>
        </p:spPr>
      </p:sp>
      <p:sp>
        <p:nvSpPr>
          <p:cNvPr name="TextBox 11" id="11"/>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TRUST BOUNDARY</a:t>
            </a:r>
          </a:p>
        </p:txBody>
      </p:sp>
      <p:sp>
        <p:nvSpPr>
          <p:cNvPr name="TextBox 12" id="12"/>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04</a:t>
            </a:r>
          </a:p>
        </p:txBody>
      </p:sp>
      <p:sp>
        <p:nvSpPr>
          <p:cNvPr name="TextBox 13" id="13"/>
          <p:cNvSpPr txBox="true"/>
          <p:nvPr/>
        </p:nvSpPr>
        <p:spPr>
          <a:xfrm rot="0">
            <a:off x="2369235" y="7009782"/>
            <a:ext cx="13299346" cy="2248518"/>
          </a:xfrm>
          <a:prstGeom prst="rect">
            <a:avLst/>
          </a:prstGeom>
        </p:spPr>
        <p:txBody>
          <a:bodyPr anchor="t" rtlCol="false" tIns="0" lIns="0" bIns="0" rIns="0">
            <a:spAutoFit/>
          </a:bodyPr>
          <a:lstStyle/>
          <a:p>
            <a:pPr algn="l" marL="470415" indent="-235207" lvl="1">
              <a:lnSpc>
                <a:spcPts val="3006"/>
              </a:lnSpc>
              <a:buFont typeface="Arial"/>
              <a:buChar char="•"/>
            </a:pPr>
            <a:r>
              <a:rPr lang="en-US" sz="2178">
                <a:solidFill>
                  <a:srgbClr val="FFFFFF"/>
                </a:solidFill>
                <a:latin typeface="Almarai"/>
                <a:ea typeface="Almarai"/>
                <a:cs typeface="Almarai"/>
                <a:sym typeface="Almarai"/>
              </a:rPr>
              <a:t>TB1 (Ut</a:t>
            </a:r>
            <a:r>
              <a:rPr lang="en-US" sz="2178" strike="noStrike" u="none">
                <a:solidFill>
                  <a:srgbClr val="FFFFFF"/>
                </a:solidFill>
                <a:latin typeface="Almarai"/>
                <a:ea typeface="Almarai"/>
                <a:cs typeface="Almarai"/>
                <a:sym typeface="Almarai"/>
              </a:rPr>
              <a:t>ente → Ingress): Superficie esposta a prompt injection, replay espoofing.</a:t>
            </a:r>
          </a:p>
          <a:p>
            <a:pPr algn="l" marL="470415" indent="-235207" lvl="1">
              <a:lnSpc>
                <a:spcPts val="3006"/>
              </a:lnSpc>
              <a:buFont typeface="Arial"/>
              <a:buChar char="•"/>
            </a:pPr>
            <a:r>
              <a:rPr lang="en-US" sz="2178" strike="noStrike" u="none">
                <a:solidFill>
                  <a:srgbClr val="FFFFFF"/>
                </a:solidFill>
                <a:latin typeface="Almarai"/>
                <a:ea typeface="Almarai"/>
                <a:cs typeface="Almarai"/>
                <a:sym typeface="Almarai"/>
              </a:rPr>
              <a:t>TB2 (Edge/STT → Agenti): Rischio di manipolazione dei partial transcript.</a:t>
            </a:r>
          </a:p>
          <a:p>
            <a:pPr algn="l" marL="470415" indent="-235207" lvl="1">
              <a:lnSpc>
                <a:spcPts val="3006"/>
              </a:lnSpc>
              <a:buFont typeface="Arial"/>
              <a:buChar char="•"/>
            </a:pPr>
            <a:r>
              <a:rPr lang="en-US" sz="2178" strike="noStrike" u="none">
                <a:solidFill>
                  <a:srgbClr val="FFFFFF"/>
                </a:solidFill>
                <a:latin typeface="Almarai"/>
                <a:ea typeface="Almarai"/>
                <a:cs typeface="Almarai"/>
                <a:sym typeface="Almarai"/>
              </a:rPr>
              <a:t>ТВЗ (Agenti → Control Plane): Confine critico regolato dall'Output Validator (M11).</a:t>
            </a:r>
          </a:p>
          <a:p>
            <a:pPr algn="l" marL="470415" indent="-235207" lvl="1">
              <a:lnSpc>
                <a:spcPts val="3006"/>
              </a:lnSpc>
              <a:buFont typeface="Arial"/>
              <a:buChar char="•"/>
            </a:pPr>
            <a:r>
              <a:rPr lang="en-US" sz="2178" strike="noStrike" u="none">
                <a:solidFill>
                  <a:srgbClr val="FFFFFF"/>
                </a:solidFill>
                <a:latin typeface="Almarai"/>
                <a:ea typeface="Almarai"/>
                <a:cs typeface="Almarai"/>
                <a:sym typeface="Almarai"/>
              </a:rPr>
              <a:t>TB4 (Deep-Brain - RAG/Memoria): Confine di isolamento per prevenire context poisoning.</a:t>
            </a:r>
          </a:p>
          <a:p>
            <a:pPr algn="l" marL="470415" indent="-235207" lvl="1">
              <a:lnSpc>
                <a:spcPts val="3006"/>
              </a:lnSpc>
              <a:buFont typeface="Arial"/>
              <a:buChar char="•"/>
            </a:pPr>
            <a:r>
              <a:rPr lang="en-US" sz="2178" strike="noStrike" u="none">
                <a:solidFill>
                  <a:srgbClr val="FFFFFF"/>
                </a:solidFill>
                <a:latin typeface="Almarai"/>
                <a:ea typeface="Almarai"/>
                <a:cs typeface="Almarai"/>
                <a:sym typeface="Almarai"/>
              </a:rPr>
              <a:t>TB5 &amp; TB6 (Pipeline → Worker → WebRTC): Protezione dei canali multimediali.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10" id="10"/>
          <p:cNvGrpSpPr/>
          <p:nvPr/>
        </p:nvGrpSpPr>
        <p:grpSpPr>
          <a:xfrm rot="0">
            <a:off x="1756823" y="4152311"/>
            <a:ext cx="4131732" cy="5751436"/>
            <a:chOff x="0" y="0"/>
            <a:chExt cx="1088193" cy="1514781"/>
          </a:xfrm>
        </p:grpSpPr>
        <p:sp>
          <p:nvSpPr>
            <p:cNvPr name="Freeform 11" id="11"/>
            <p:cNvSpPr/>
            <p:nvPr/>
          </p:nvSpPr>
          <p:spPr>
            <a:xfrm flipH="false" flipV="false" rot="0">
              <a:off x="0" y="0"/>
              <a:ext cx="1088193" cy="1514781"/>
            </a:xfrm>
            <a:custGeom>
              <a:avLst/>
              <a:gdLst/>
              <a:ahLst/>
              <a:cxnLst/>
              <a:rect r="r" b="b" t="t" l="l"/>
              <a:pathLst>
                <a:path h="1514781" w="1088193">
                  <a:moveTo>
                    <a:pt x="95562" y="0"/>
                  </a:moveTo>
                  <a:lnTo>
                    <a:pt x="992630" y="0"/>
                  </a:lnTo>
                  <a:cubicBezTo>
                    <a:pt x="1017975" y="0"/>
                    <a:pt x="1042282" y="10068"/>
                    <a:pt x="1060203" y="27990"/>
                  </a:cubicBezTo>
                  <a:cubicBezTo>
                    <a:pt x="1078125" y="45911"/>
                    <a:pt x="1088193" y="70218"/>
                    <a:pt x="1088193" y="95562"/>
                  </a:cubicBezTo>
                  <a:lnTo>
                    <a:pt x="1088193" y="1419219"/>
                  </a:lnTo>
                  <a:cubicBezTo>
                    <a:pt x="1088193" y="1444564"/>
                    <a:pt x="1078125" y="1468870"/>
                    <a:pt x="1060203" y="1486792"/>
                  </a:cubicBezTo>
                  <a:cubicBezTo>
                    <a:pt x="1042282" y="1504713"/>
                    <a:pt x="1017975" y="1514781"/>
                    <a:pt x="992630" y="1514781"/>
                  </a:cubicBezTo>
                  <a:lnTo>
                    <a:pt x="95562" y="1514781"/>
                  </a:lnTo>
                  <a:cubicBezTo>
                    <a:pt x="70218" y="1514781"/>
                    <a:pt x="45911" y="1504713"/>
                    <a:pt x="27990" y="1486792"/>
                  </a:cubicBezTo>
                  <a:cubicBezTo>
                    <a:pt x="10068" y="1468870"/>
                    <a:pt x="0" y="1444564"/>
                    <a:pt x="0" y="1419219"/>
                  </a:cubicBezTo>
                  <a:lnTo>
                    <a:pt x="0" y="95562"/>
                  </a:lnTo>
                  <a:cubicBezTo>
                    <a:pt x="0" y="70218"/>
                    <a:pt x="10068" y="45911"/>
                    <a:pt x="27990" y="27990"/>
                  </a:cubicBezTo>
                  <a:cubicBezTo>
                    <a:pt x="45911" y="10068"/>
                    <a:pt x="70218" y="0"/>
                    <a:pt x="95562" y="0"/>
                  </a:cubicBezTo>
                  <a:close/>
                </a:path>
              </a:pathLst>
            </a:custGeom>
            <a:solidFill>
              <a:srgbClr val="145DA0"/>
            </a:solidFill>
          </p:spPr>
        </p:sp>
        <p:sp>
          <p:nvSpPr>
            <p:cNvPr name="TextBox 12" id="12"/>
            <p:cNvSpPr txBox="true"/>
            <p:nvPr/>
          </p:nvSpPr>
          <p:spPr>
            <a:xfrm>
              <a:off x="0" y="-38100"/>
              <a:ext cx="1088193" cy="1552881"/>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2077521" y="4321771"/>
            <a:ext cx="583428" cy="821729"/>
          </a:xfrm>
          <a:custGeom>
            <a:avLst/>
            <a:gdLst/>
            <a:ahLst/>
            <a:cxnLst/>
            <a:rect r="r" b="b" t="t" l="l"/>
            <a:pathLst>
              <a:path h="821729" w="583428">
                <a:moveTo>
                  <a:pt x="0" y="0"/>
                </a:moveTo>
                <a:lnTo>
                  <a:pt x="583428" y="0"/>
                </a:lnTo>
                <a:lnTo>
                  <a:pt x="583428" y="821729"/>
                </a:lnTo>
                <a:lnTo>
                  <a:pt x="0" y="8217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957037" y="7241242"/>
            <a:ext cx="3751335" cy="2464635"/>
            <a:chOff x="0" y="0"/>
            <a:chExt cx="988006" cy="649122"/>
          </a:xfrm>
        </p:grpSpPr>
        <p:sp>
          <p:nvSpPr>
            <p:cNvPr name="Freeform 15" id="15"/>
            <p:cNvSpPr/>
            <p:nvPr/>
          </p:nvSpPr>
          <p:spPr>
            <a:xfrm flipH="false" flipV="false" rot="0">
              <a:off x="0" y="0"/>
              <a:ext cx="988006" cy="649122"/>
            </a:xfrm>
            <a:custGeom>
              <a:avLst/>
              <a:gdLst/>
              <a:ahLst/>
              <a:cxnLst/>
              <a:rect r="r" b="b" t="t" l="l"/>
              <a:pathLst>
                <a:path h="649122" w="988006">
                  <a:moveTo>
                    <a:pt x="105253" y="0"/>
                  </a:moveTo>
                  <a:lnTo>
                    <a:pt x="882753" y="0"/>
                  </a:lnTo>
                  <a:cubicBezTo>
                    <a:pt x="910668" y="0"/>
                    <a:pt x="937439" y="11089"/>
                    <a:pt x="957178" y="30828"/>
                  </a:cubicBezTo>
                  <a:cubicBezTo>
                    <a:pt x="976917" y="50566"/>
                    <a:pt x="988006" y="77338"/>
                    <a:pt x="988006" y="105253"/>
                  </a:cubicBezTo>
                  <a:lnTo>
                    <a:pt x="988006" y="543869"/>
                  </a:lnTo>
                  <a:cubicBezTo>
                    <a:pt x="988006" y="601999"/>
                    <a:pt x="940883" y="649122"/>
                    <a:pt x="882753" y="649122"/>
                  </a:cubicBezTo>
                  <a:lnTo>
                    <a:pt x="105253" y="649122"/>
                  </a:lnTo>
                  <a:cubicBezTo>
                    <a:pt x="77338" y="649122"/>
                    <a:pt x="50566" y="638033"/>
                    <a:pt x="30828" y="618294"/>
                  </a:cubicBezTo>
                  <a:cubicBezTo>
                    <a:pt x="11089" y="598555"/>
                    <a:pt x="0" y="571784"/>
                    <a:pt x="0" y="543869"/>
                  </a:cubicBezTo>
                  <a:lnTo>
                    <a:pt x="0" y="105253"/>
                  </a:lnTo>
                  <a:cubicBezTo>
                    <a:pt x="0" y="77338"/>
                    <a:pt x="11089" y="50566"/>
                    <a:pt x="30828" y="30828"/>
                  </a:cubicBezTo>
                  <a:cubicBezTo>
                    <a:pt x="50566" y="11089"/>
                    <a:pt x="77338" y="0"/>
                    <a:pt x="105253" y="0"/>
                  </a:cubicBezTo>
                  <a:close/>
                </a:path>
              </a:pathLst>
            </a:custGeom>
            <a:solidFill>
              <a:srgbClr val="031E40"/>
            </a:solidFill>
            <a:ln w="38100" cap="rnd">
              <a:solidFill>
                <a:srgbClr val="760F0F"/>
              </a:solidFill>
              <a:prstDash val="solid"/>
              <a:round/>
            </a:ln>
          </p:spPr>
        </p:sp>
        <p:sp>
          <p:nvSpPr>
            <p:cNvPr name="TextBox 16" id="16"/>
            <p:cNvSpPr txBox="true"/>
            <p:nvPr/>
          </p:nvSpPr>
          <p:spPr>
            <a:xfrm>
              <a:off x="0" y="-38100"/>
              <a:ext cx="988006" cy="687222"/>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6527621" y="4152311"/>
            <a:ext cx="4131732" cy="5751436"/>
            <a:chOff x="0" y="0"/>
            <a:chExt cx="1088193" cy="1514781"/>
          </a:xfrm>
        </p:grpSpPr>
        <p:sp>
          <p:nvSpPr>
            <p:cNvPr name="Freeform 18" id="18"/>
            <p:cNvSpPr/>
            <p:nvPr/>
          </p:nvSpPr>
          <p:spPr>
            <a:xfrm flipH="false" flipV="false" rot="0">
              <a:off x="0" y="0"/>
              <a:ext cx="1088193" cy="1514781"/>
            </a:xfrm>
            <a:custGeom>
              <a:avLst/>
              <a:gdLst/>
              <a:ahLst/>
              <a:cxnLst/>
              <a:rect r="r" b="b" t="t" l="l"/>
              <a:pathLst>
                <a:path h="1514781" w="1088193">
                  <a:moveTo>
                    <a:pt x="95562" y="0"/>
                  </a:moveTo>
                  <a:lnTo>
                    <a:pt x="992630" y="0"/>
                  </a:lnTo>
                  <a:cubicBezTo>
                    <a:pt x="1017975" y="0"/>
                    <a:pt x="1042282" y="10068"/>
                    <a:pt x="1060203" y="27990"/>
                  </a:cubicBezTo>
                  <a:cubicBezTo>
                    <a:pt x="1078125" y="45911"/>
                    <a:pt x="1088193" y="70218"/>
                    <a:pt x="1088193" y="95562"/>
                  </a:cubicBezTo>
                  <a:lnTo>
                    <a:pt x="1088193" y="1419219"/>
                  </a:lnTo>
                  <a:cubicBezTo>
                    <a:pt x="1088193" y="1444564"/>
                    <a:pt x="1078125" y="1468870"/>
                    <a:pt x="1060203" y="1486792"/>
                  </a:cubicBezTo>
                  <a:cubicBezTo>
                    <a:pt x="1042282" y="1504713"/>
                    <a:pt x="1017975" y="1514781"/>
                    <a:pt x="992630" y="1514781"/>
                  </a:cubicBezTo>
                  <a:lnTo>
                    <a:pt x="95562" y="1514781"/>
                  </a:lnTo>
                  <a:cubicBezTo>
                    <a:pt x="70218" y="1514781"/>
                    <a:pt x="45911" y="1504713"/>
                    <a:pt x="27990" y="1486792"/>
                  </a:cubicBezTo>
                  <a:cubicBezTo>
                    <a:pt x="10068" y="1468870"/>
                    <a:pt x="0" y="1444564"/>
                    <a:pt x="0" y="1419219"/>
                  </a:cubicBezTo>
                  <a:lnTo>
                    <a:pt x="0" y="95562"/>
                  </a:lnTo>
                  <a:cubicBezTo>
                    <a:pt x="0" y="70218"/>
                    <a:pt x="10068" y="45911"/>
                    <a:pt x="27990" y="27990"/>
                  </a:cubicBezTo>
                  <a:cubicBezTo>
                    <a:pt x="45911" y="10068"/>
                    <a:pt x="70218" y="0"/>
                    <a:pt x="95562" y="0"/>
                  </a:cubicBezTo>
                  <a:close/>
                </a:path>
              </a:pathLst>
            </a:custGeom>
            <a:solidFill>
              <a:srgbClr val="145DA0"/>
            </a:solidFill>
          </p:spPr>
        </p:sp>
        <p:sp>
          <p:nvSpPr>
            <p:cNvPr name="TextBox 19" id="19"/>
            <p:cNvSpPr txBox="true"/>
            <p:nvPr/>
          </p:nvSpPr>
          <p:spPr>
            <a:xfrm>
              <a:off x="0" y="-38100"/>
              <a:ext cx="1088193" cy="1552881"/>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6727836" y="7241242"/>
            <a:ext cx="3751335" cy="2464635"/>
            <a:chOff x="0" y="0"/>
            <a:chExt cx="988006" cy="649122"/>
          </a:xfrm>
        </p:grpSpPr>
        <p:sp>
          <p:nvSpPr>
            <p:cNvPr name="Freeform 21" id="21"/>
            <p:cNvSpPr/>
            <p:nvPr/>
          </p:nvSpPr>
          <p:spPr>
            <a:xfrm flipH="false" flipV="false" rot="0">
              <a:off x="0" y="0"/>
              <a:ext cx="988006" cy="649122"/>
            </a:xfrm>
            <a:custGeom>
              <a:avLst/>
              <a:gdLst/>
              <a:ahLst/>
              <a:cxnLst/>
              <a:rect r="r" b="b" t="t" l="l"/>
              <a:pathLst>
                <a:path h="649122" w="988006">
                  <a:moveTo>
                    <a:pt x="105253" y="0"/>
                  </a:moveTo>
                  <a:lnTo>
                    <a:pt x="882753" y="0"/>
                  </a:lnTo>
                  <a:cubicBezTo>
                    <a:pt x="910668" y="0"/>
                    <a:pt x="937439" y="11089"/>
                    <a:pt x="957178" y="30828"/>
                  </a:cubicBezTo>
                  <a:cubicBezTo>
                    <a:pt x="976917" y="50566"/>
                    <a:pt x="988006" y="77338"/>
                    <a:pt x="988006" y="105253"/>
                  </a:cubicBezTo>
                  <a:lnTo>
                    <a:pt x="988006" y="543869"/>
                  </a:lnTo>
                  <a:cubicBezTo>
                    <a:pt x="988006" y="601999"/>
                    <a:pt x="940883" y="649122"/>
                    <a:pt x="882753" y="649122"/>
                  </a:cubicBezTo>
                  <a:lnTo>
                    <a:pt x="105253" y="649122"/>
                  </a:lnTo>
                  <a:cubicBezTo>
                    <a:pt x="77338" y="649122"/>
                    <a:pt x="50566" y="638033"/>
                    <a:pt x="30828" y="618294"/>
                  </a:cubicBezTo>
                  <a:cubicBezTo>
                    <a:pt x="11089" y="598555"/>
                    <a:pt x="0" y="571784"/>
                    <a:pt x="0" y="543869"/>
                  </a:cubicBezTo>
                  <a:lnTo>
                    <a:pt x="0" y="105253"/>
                  </a:lnTo>
                  <a:cubicBezTo>
                    <a:pt x="0" y="77338"/>
                    <a:pt x="11089" y="50566"/>
                    <a:pt x="30828" y="30828"/>
                  </a:cubicBezTo>
                  <a:cubicBezTo>
                    <a:pt x="50566" y="11089"/>
                    <a:pt x="77338" y="0"/>
                    <a:pt x="105253" y="0"/>
                  </a:cubicBezTo>
                  <a:close/>
                </a:path>
              </a:pathLst>
            </a:custGeom>
            <a:solidFill>
              <a:srgbClr val="031E40"/>
            </a:solidFill>
            <a:ln w="38100" cap="rnd">
              <a:solidFill>
                <a:srgbClr val="760F0F"/>
              </a:solidFill>
              <a:prstDash val="solid"/>
              <a:round/>
            </a:ln>
          </p:spPr>
        </p:sp>
        <p:sp>
          <p:nvSpPr>
            <p:cNvPr name="TextBox 22" id="22"/>
            <p:cNvSpPr txBox="true"/>
            <p:nvPr/>
          </p:nvSpPr>
          <p:spPr>
            <a:xfrm>
              <a:off x="0" y="-38100"/>
              <a:ext cx="988006" cy="687222"/>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11298420" y="4152311"/>
            <a:ext cx="4131732" cy="5751436"/>
            <a:chOff x="0" y="0"/>
            <a:chExt cx="1088193" cy="1514781"/>
          </a:xfrm>
        </p:grpSpPr>
        <p:sp>
          <p:nvSpPr>
            <p:cNvPr name="Freeform 24" id="24"/>
            <p:cNvSpPr/>
            <p:nvPr/>
          </p:nvSpPr>
          <p:spPr>
            <a:xfrm flipH="false" flipV="false" rot="0">
              <a:off x="0" y="0"/>
              <a:ext cx="1088193" cy="1514781"/>
            </a:xfrm>
            <a:custGeom>
              <a:avLst/>
              <a:gdLst/>
              <a:ahLst/>
              <a:cxnLst/>
              <a:rect r="r" b="b" t="t" l="l"/>
              <a:pathLst>
                <a:path h="1514781" w="1088193">
                  <a:moveTo>
                    <a:pt x="95562" y="0"/>
                  </a:moveTo>
                  <a:lnTo>
                    <a:pt x="992630" y="0"/>
                  </a:lnTo>
                  <a:cubicBezTo>
                    <a:pt x="1017975" y="0"/>
                    <a:pt x="1042282" y="10068"/>
                    <a:pt x="1060203" y="27990"/>
                  </a:cubicBezTo>
                  <a:cubicBezTo>
                    <a:pt x="1078125" y="45911"/>
                    <a:pt x="1088193" y="70218"/>
                    <a:pt x="1088193" y="95562"/>
                  </a:cubicBezTo>
                  <a:lnTo>
                    <a:pt x="1088193" y="1419219"/>
                  </a:lnTo>
                  <a:cubicBezTo>
                    <a:pt x="1088193" y="1444564"/>
                    <a:pt x="1078125" y="1468870"/>
                    <a:pt x="1060203" y="1486792"/>
                  </a:cubicBezTo>
                  <a:cubicBezTo>
                    <a:pt x="1042282" y="1504713"/>
                    <a:pt x="1017975" y="1514781"/>
                    <a:pt x="992630" y="1514781"/>
                  </a:cubicBezTo>
                  <a:lnTo>
                    <a:pt x="95562" y="1514781"/>
                  </a:lnTo>
                  <a:cubicBezTo>
                    <a:pt x="70218" y="1514781"/>
                    <a:pt x="45911" y="1504713"/>
                    <a:pt x="27990" y="1486792"/>
                  </a:cubicBezTo>
                  <a:cubicBezTo>
                    <a:pt x="10068" y="1468870"/>
                    <a:pt x="0" y="1444564"/>
                    <a:pt x="0" y="1419219"/>
                  </a:cubicBezTo>
                  <a:lnTo>
                    <a:pt x="0" y="95562"/>
                  </a:lnTo>
                  <a:cubicBezTo>
                    <a:pt x="0" y="70218"/>
                    <a:pt x="10068" y="45911"/>
                    <a:pt x="27990" y="27990"/>
                  </a:cubicBezTo>
                  <a:cubicBezTo>
                    <a:pt x="45911" y="10068"/>
                    <a:pt x="70218" y="0"/>
                    <a:pt x="95562" y="0"/>
                  </a:cubicBezTo>
                  <a:close/>
                </a:path>
              </a:pathLst>
            </a:custGeom>
            <a:solidFill>
              <a:srgbClr val="145DA0"/>
            </a:solidFill>
          </p:spPr>
        </p:sp>
        <p:sp>
          <p:nvSpPr>
            <p:cNvPr name="TextBox 25" id="25"/>
            <p:cNvSpPr txBox="true"/>
            <p:nvPr/>
          </p:nvSpPr>
          <p:spPr>
            <a:xfrm>
              <a:off x="0" y="-38100"/>
              <a:ext cx="1088193" cy="1552881"/>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11498634" y="7241242"/>
            <a:ext cx="3751335" cy="2464635"/>
            <a:chOff x="0" y="0"/>
            <a:chExt cx="988006" cy="649122"/>
          </a:xfrm>
        </p:grpSpPr>
        <p:sp>
          <p:nvSpPr>
            <p:cNvPr name="Freeform 27" id="27"/>
            <p:cNvSpPr/>
            <p:nvPr/>
          </p:nvSpPr>
          <p:spPr>
            <a:xfrm flipH="false" flipV="false" rot="0">
              <a:off x="0" y="0"/>
              <a:ext cx="988006" cy="649122"/>
            </a:xfrm>
            <a:custGeom>
              <a:avLst/>
              <a:gdLst/>
              <a:ahLst/>
              <a:cxnLst/>
              <a:rect r="r" b="b" t="t" l="l"/>
              <a:pathLst>
                <a:path h="649122" w="988006">
                  <a:moveTo>
                    <a:pt x="105253" y="0"/>
                  </a:moveTo>
                  <a:lnTo>
                    <a:pt x="882753" y="0"/>
                  </a:lnTo>
                  <a:cubicBezTo>
                    <a:pt x="910668" y="0"/>
                    <a:pt x="937439" y="11089"/>
                    <a:pt x="957178" y="30828"/>
                  </a:cubicBezTo>
                  <a:cubicBezTo>
                    <a:pt x="976917" y="50566"/>
                    <a:pt x="988006" y="77338"/>
                    <a:pt x="988006" y="105253"/>
                  </a:cubicBezTo>
                  <a:lnTo>
                    <a:pt x="988006" y="543869"/>
                  </a:lnTo>
                  <a:cubicBezTo>
                    <a:pt x="988006" y="601999"/>
                    <a:pt x="940883" y="649122"/>
                    <a:pt x="882753" y="649122"/>
                  </a:cubicBezTo>
                  <a:lnTo>
                    <a:pt x="105253" y="649122"/>
                  </a:lnTo>
                  <a:cubicBezTo>
                    <a:pt x="77338" y="649122"/>
                    <a:pt x="50566" y="638033"/>
                    <a:pt x="30828" y="618294"/>
                  </a:cubicBezTo>
                  <a:cubicBezTo>
                    <a:pt x="11089" y="598555"/>
                    <a:pt x="0" y="571784"/>
                    <a:pt x="0" y="543869"/>
                  </a:cubicBezTo>
                  <a:lnTo>
                    <a:pt x="0" y="105253"/>
                  </a:lnTo>
                  <a:cubicBezTo>
                    <a:pt x="0" y="77338"/>
                    <a:pt x="11089" y="50566"/>
                    <a:pt x="30828" y="30828"/>
                  </a:cubicBezTo>
                  <a:cubicBezTo>
                    <a:pt x="50566" y="11089"/>
                    <a:pt x="77338" y="0"/>
                    <a:pt x="105253" y="0"/>
                  </a:cubicBezTo>
                  <a:close/>
                </a:path>
              </a:pathLst>
            </a:custGeom>
            <a:solidFill>
              <a:srgbClr val="031E40"/>
            </a:solidFill>
            <a:ln w="38100" cap="rnd">
              <a:solidFill>
                <a:srgbClr val="760F0F"/>
              </a:solidFill>
              <a:prstDash val="solid"/>
              <a:round/>
            </a:ln>
          </p:spPr>
        </p:sp>
        <p:sp>
          <p:nvSpPr>
            <p:cNvPr name="TextBox 28" id="28"/>
            <p:cNvSpPr txBox="true"/>
            <p:nvPr/>
          </p:nvSpPr>
          <p:spPr>
            <a:xfrm>
              <a:off x="0" y="-38100"/>
              <a:ext cx="988006" cy="687222"/>
            </a:xfrm>
            <a:prstGeom prst="rect">
              <a:avLst/>
            </a:prstGeom>
          </p:spPr>
          <p:txBody>
            <a:bodyPr anchor="ctr" rtlCol="false" tIns="50800" lIns="50800" bIns="50800" rIns="50800"/>
            <a:lstStyle/>
            <a:p>
              <a:pPr algn="ctr">
                <a:lnSpc>
                  <a:spcPts val="2659"/>
                </a:lnSpc>
                <a:spcBef>
                  <a:spcPct val="0"/>
                </a:spcBef>
              </a:pPr>
            </a:p>
          </p:txBody>
        </p:sp>
      </p:grpSp>
      <p:sp>
        <p:nvSpPr>
          <p:cNvPr name="Freeform 29" id="29"/>
          <p:cNvSpPr/>
          <p:nvPr/>
        </p:nvSpPr>
        <p:spPr>
          <a:xfrm flipH="false" flipV="false" rot="0">
            <a:off x="6790473" y="4402868"/>
            <a:ext cx="659535" cy="659535"/>
          </a:xfrm>
          <a:custGeom>
            <a:avLst/>
            <a:gdLst/>
            <a:ahLst/>
            <a:cxnLst/>
            <a:rect r="r" b="b" t="t" l="l"/>
            <a:pathLst>
              <a:path h="659535" w="659535">
                <a:moveTo>
                  <a:pt x="0" y="0"/>
                </a:moveTo>
                <a:lnTo>
                  <a:pt x="659535" y="0"/>
                </a:lnTo>
                <a:lnTo>
                  <a:pt x="659535" y="659535"/>
                </a:lnTo>
                <a:lnTo>
                  <a:pt x="0" y="6595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11579533" y="4321771"/>
            <a:ext cx="623811" cy="784668"/>
          </a:xfrm>
          <a:custGeom>
            <a:avLst/>
            <a:gdLst/>
            <a:ahLst/>
            <a:cxnLst/>
            <a:rect r="r" b="b" t="t" l="l"/>
            <a:pathLst>
              <a:path h="784668" w="623811">
                <a:moveTo>
                  <a:pt x="0" y="0"/>
                </a:moveTo>
                <a:lnTo>
                  <a:pt x="623811" y="0"/>
                </a:lnTo>
                <a:lnTo>
                  <a:pt x="623811" y="784668"/>
                </a:lnTo>
                <a:lnTo>
                  <a:pt x="0" y="7846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1" id="31"/>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ASSET MODEL</a:t>
            </a:r>
          </a:p>
        </p:txBody>
      </p:sp>
      <p:sp>
        <p:nvSpPr>
          <p:cNvPr name="TextBox 32" id="32"/>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05</a:t>
            </a:r>
          </a:p>
        </p:txBody>
      </p:sp>
      <p:sp>
        <p:nvSpPr>
          <p:cNvPr name="TextBox 33" id="33"/>
          <p:cNvSpPr txBox="true"/>
          <p:nvPr/>
        </p:nvSpPr>
        <p:spPr>
          <a:xfrm rot="0">
            <a:off x="1768405" y="2800873"/>
            <a:ext cx="5216826" cy="951388"/>
          </a:xfrm>
          <a:prstGeom prst="rect">
            <a:avLst/>
          </a:prstGeom>
        </p:spPr>
        <p:txBody>
          <a:bodyPr anchor="t" rtlCol="false" tIns="0" lIns="0" bIns="0" rIns="0">
            <a:spAutoFit/>
          </a:bodyPr>
          <a:lstStyle/>
          <a:p>
            <a:pPr algn="l" marL="0" indent="0" lvl="0">
              <a:lnSpc>
                <a:spcPts val="6355"/>
              </a:lnSpc>
              <a:spcBef>
                <a:spcPct val="0"/>
              </a:spcBef>
            </a:pPr>
            <a:r>
              <a:rPr lang="en-US" b="true" sz="4605">
                <a:solidFill>
                  <a:srgbClr val="17E3B2"/>
                </a:solidFill>
                <a:latin typeface="Almarai Bold"/>
                <a:ea typeface="Almarai Bold"/>
                <a:cs typeface="Almarai Bold"/>
                <a:sym typeface="Almarai Bold"/>
              </a:rPr>
              <a:t>Data Assets</a:t>
            </a:r>
          </a:p>
        </p:txBody>
      </p:sp>
      <p:sp>
        <p:nvSpPr>
          <p:cNvPr name="TextBox 34" id="34"/>
          <p:cNvSpPr txBox="true"/>
          <p:nvPr/>
        </p:nvSpPr>
        <p:spPr>
          <a:xfrm rot="0">
            <a:off x="2766869" y="4228511"/>
            <a:ext cx="2777801" cy="1073418"/>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Flussi Conversazionali &amp; I/O (D1-D3, D6) </a:t>
            </a:r>
          </a:p>
        </p:txBody>
      </p:sp>
      <p:sp>
        <p:nvSpPr>
          <p:cNvPr name="TextBox 35" id="35"/>
          <p:cNvSpPr txBox="true"/>
          <p:nvPr/>
        </p:nvSpPr>
        <p:spPr>
          <a:xfrm rot="0">
            <a:off x="1957037" y="5589060"/>
            <a:ext cx="3751335" cy="1518666"/>
          </a:xfrm>
          <a:prstGeom prst="rect">
            <a:avLst/>
          </a:prstGeom>
        </p:spPr>
        <p:txBody>
          <a:bodyPr anchor="t" rtlCol="false" tIns="0" lIns="0" bIns="0" rIns="0">
            <a:spAutoFit/>
          </a:bodyPr>
          <a:lstStyle/>
          <a:p>
            <a:pPr algn="l" marL="410209" indent="-205105" lvl="1">
              <a:lnSpc>
                <a:spcPts val="2621"/>
              </a:lnSpc>
              <a:buFont typeface="Arial"/>
              <a:buChar char="•"/>
            </a:pPr>
            <a:r>
              <a:rPr lang="en-US" b="true" sz="1899">
                <a:solidFill>
                  <a:srgbClr val="FFFFFF"/>
                </a:solidFill>
                <a:latin typeface="Almarai Bold"/>
                <a:ea typeface="Almarai Bold"/>
                <a:cs typeface="Almarai Bold"/>
                <a:sym typeface="Almarai Bold"/>
              </a:rPr>
              <a:t>Audio grezzo</a:t>
            </a:r>
          </a:p>
          <a:p>
            <a:pPr algn="l" marL="410209" indent="-205105" lvl="1">
              <a:lnSpc>
                <a:spcPts val="2621"/>
              </a:lnSpc>
              <a:buFont typeface="Arial"/>
              <a:buChar char="•"/>
            </a:pPr>
            <a:r>
              <a:rPr lang="en-US" b="true" sz="1899">
                <a:solidFill>
                  <a:srgbClr val="FFFFFF"/>
                </a:solidFill>
                <a:latin typeface="Almarai Bold"/>
                <a:ea typeface="Almarai Bold"/>
                <a:cs typeface="Almarai Bold"/>
                <a:sym typeface="Almarai Bold"/>
              </a:rPr>
              <a:t>Trascrizioni parziali/totali</a:t>
            </a:r>
          </a:p>
          <a:p>
            <a:pPr algn="l" marL="410209" indent="-205105" lvl="1">
              <a:lnSpc>
                <a:spcPts val="2621"/>
              </a:lnSpc>
              <a:buFont typeface="Arial"/>
              <a:buChar char="•"/>
            </a:pPr>
            <a:r>
              <a:rPr lang="en-US" b="true" sz="1899">
                <a:solidFill>
                  <a:srgbClr val="FFFFFF"/>
                </a:solidFill>
                <a:latin typeface="Almarai Bold"/>
                <a:ea typeface="Almarai Bold"/>
                <a:cs typeface="Almarai Bold"/>
                <a:sym typeface="Almarai Bold"/>
              </a:rPr>
              <a:t>Testi generati</a:t>
            </a:r>
          </a:p>
        </p:txBody>
      </p:sp>
      <p:sp>
        <p:nvSpPr>
          <p:cNvPr name="TextBox 36" id="36"/>
          <p:cNvSpPr txBox="true"/>
          <p:nvPr/>
        </p:nvSpPr>
        <p:spPr>
          <a:xfrm rot="0">
            <a:off x="2369235" y="7393476"/>
            <a:ext cx="2777801" cy="356241"/>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Minacce chiave</a:t>
            </a:r>
          </a:p>
        </p:txBody>
      </p:sp>
      <p:sp>
        <p:nvSpPr>
          <p:cNvPr name="TextBox 37" id="37"/>
          <p:cNvSpPr txBox="true"/>
          <p:nvPr/>
        </p:nvSpPr>
        <p:spPr>
          <a:xfrm rot="0">
            <a:off x="1957037" y="7810684"/>
            <a:ext cx="3751335" cy="1736150"/>
          </a:xfrm>
          <a:prstGeom prst="rect">
            <a:avLst/>
          </a:prstGeom>
        </p:spPr>
        <p:txBody>
          <a:bodyPr anchor="t" rtlCol="false" tIns="0" lIns="0" bIns="0" rIns="0">
            <a:spAutoFit/>
          </a:bodyPr>
          <a:lstStyle/>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Tampering del testo</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Prompt injection su token parziali </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Eavesdropping del canale audio</a:t>
            </a:r>
          </a:p>
        </p:txBody>
      </p:sp>
      <p:sp>
        <p:nvSpPr>
          <p:cNvPr name="TextBox 38" id="38"/>
          <p:cNvSpPr txBox="true"/>
          <p:nvPr/>
        </p:nvSpPr>
        <p:spPr>
          <a:xfrm rot="0">
            <a:off x="7537668" y="4228511"/>
            <a:ext cx="2777801" cy="1073418"/>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Ident</a:t>
            </a:r>
            <a:r>
              <a:rPr lang="en-US" b="true" sz="1769">
                <a:solidFill>
                  <a:srgbClr val="FFFFFF"/>
                </a:solidFill>
                <a:latin typeface="Almarai Bold"/>
                <a:ea typeface="Almarai Bold"/>
                <a:cs typeface="Almarai Bold"/>
                <a:sym typeface="Almarai Bold"/>
              </a:rPr>
              <a:t>ità &amp; Artefatti Multimediali </a:t>
            </a:r>
          </a:p>
          <a:p>
            <a:pPr algn="l">
              <a:lnSpc>
                <a:spcPts val="2441"/>
              </a:lnSpc>
              <a:spcBef>
                <a:spcPct val="0"/>
              </a:spcBef>
            </a:pPr>
            <a:r>
              <a:rPr lang="en-US" b="true" sz="1769">
                <a:solidFill>
                  <a:srgbClr val="FFFFFF"/>
                </a:solidFill>
                <a:latin typeface="Almarai Bold"/>
                <a:ea typeface="Almarai Bold"/>
                <a:cs typeface="Almarai Bold"/>
                <a:sym typeface="Almarai Bold"/>
              </a:rPr>
              <a:t>(D5, D7–D9, D11)</a:t>
            </a:r>
          </a:p>
        </p:txBody>
      </p:sp>
      <p:sp>
        <p:nvSpPr>
          <p:cNvPr name="TextBox 39" id="39"/>
          <p:cNvSpPr txBox="true"/>
          <p:nvPr/>
        </p:nvSpPr>
        <p:spPr>
          <a:xfrm rot="0">
            <a:off x="6627729" y="5516249"/>
            <a:ext cx="3931517" cy="1476128"/>
          </a:xfrm>
          <a:prstGeom prst="rect">
            <a:avLst/>
          </a:prstGeom>
        </p:spPr>
        <p:txBody>
          <a:bodyPr anchor="t" rtlCol="false" tIns="0" lIns="0" bIns="0" rIns="0">
            <a:spAutoFit/>
          </a:bodyPr>
          <a:lstStyle/>
          <a:p>
            <a:pPr algn="l" marL="388620" indent="-194310" lvl="1">
              <a:lnSpc>
                <a:spcPts val="2483"/>
              </a:lnSpc>
              <a:buFont typeface="Arial"/>
              <a:buChar char="•"/>
            </a:pPr>
            <a:r>
              <a:rPr lang="en-US" b="true" sz="1800">
                <a:solidFill>
                  <a:srgbClr val="FFFFFF"/>
                </a:solidFill>
                <a:latin typeface="Almarai Bold"/>
                <a:ea typeface="Almarai Bold"/>
                <a:cs typeface="Almarai Bold"/>
                <a:sym typeface="Almarai Bold"/>
              </a:rPr>
              <a:t>Trigger posturali e gesti</a:t>
            </a:r>
          </a:p>
          <a:p>
            <a:pPr algn="l" marL="388620" indent="-194310" lvl="1">
              <a:lnSpc>
                <a:spcPts val="2483"/>
              </a:lnSpc>
              <a:buFont typeface="Arial"/>
              <a:buChar char="•"/>
            </a:pPr>
            <a:r>
              <a:rPr lang="en-US" b="true" sz="1800">
                <a:solidFill>
                  <a:srgbClr val="FFFFFF"/>
                </a:solidFill>
                <a:latin typeface="Almarai Bold"/>
                <a:ea typeface="Almarai Bold"/>
                <a:cs typeface="Almarai Bold"/>
                <a:sym typeface="Almarai Bold"/>
              </a:rPr>
              <a:t>Identità, voce e stile avatar</a:t>
            </a:r>
          </a:p>
          <a:p>
            <a:pPr algn="l" marL="388620" indent="-194310" lvl="1">
              <a:lnSpc>
                <a:spcPts val="2483"/>
              </a:lnSpc>
              <a:buFont typeface="Arial"/>
              <a:buChar char="•"/>
            </a:pPr>
            <a:r>
              <a:rPr lang="en-US" b="true" sz="1800">
                <a:solidFill>
                  <a:srgbClr val="FFFFFF"/>
                </a:solidFill>
                <a:latin typeface="Almarai Bold"/>
                <a:ea typeface="Almarai Bold"/>
                <a:cs typeface="Almarai Bold"/>
                <a:sym typeface="Almarai Bold"/>
              </a:rPr>
              <a:t>Clip temporanee e stream WebRTC</a:t>
            </a:r>
          </a:p>
        </p:txBody>
      </p:sp>
      <p:sp>
        <p:nvSpPr>
          <p:cNvPr name="TextBox 40" id="40"/>
          <p:cNvSpPr txBox="true"/>
          <p:nvPr/>
        </p:nvSpPr>
        <p:spPr>
          <a:xfrm rot="0">
            <a:off x="7140033" y="7393476"/>
            <a:ext cx="2777801" cy="356241"/>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Minacce chiave</a:t>
            </a:r>
          </a:p>
        </p:txBody>
      </p:sp>
      <p:sp>
        <p:nvSpPr>
          <p:cNvPr name="TextBox 41" id="41"/>
          <p:cNvSpPr txBox="true"/>
          <p:nvPr/>
        </p:nvSpPr>
        <p:spPr>
          <a:xfrm rot="0">
            <a:off x="6727836" y="7810684"/>
            <a:ext cx="3751335" cy="1736150"/>
          </a:xfrm>
          <a:prstGeom prst="rect">
            <a:avLst/>
          </a:prstGeom>
        </p:spPr>
        <p:txBody>
          <a:bodyPr anchor="t" rtlCol="false" tIns="0" lIns="0" bIns="0" rIns="0">
            <a:spAutoFit/>
          </a:bodyPr>
          <a:lstStyle/>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Voice spoofing</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Manomissione postura e sguardi</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Esfiltrazione di tratti di personalità</a:t>
            </a:r>
          </a:p>
        </p:txBody>
      </p:sp>
      <p:sp>
        <p:nvSpPr>
          <p:cNvPr name="TextBox 42" id="42"/>
          <p:cNvSpPr txBox="true"/>
          <p:nvPr/>
        </p:nvSpPr>
        <p:spPr>
          <a:xfrm rot="0">
            <a:off x="12308466" y="4228511"/>
            <a:ext cx="2777801" cy="1073418"/>
          </a:xfrm>
          <a:prstGeom prst="rect">
            <a:avLst/>
          </a:prstGeom>
        </p:spPr>
        <p:txBody>
          <a:bodyPr anchor="t" rtlCol="false" tIns="0" lIns="0" bIns="0" rIns="0">
            <a:spAutoFit/>
          </a:bodyPr>
          <a:lstStyle/>
          <a:p>
            <a:pPr algn="l">
              <a:lnSpc>
                <a:spcPts val="2441"/>
              </a:lnSpc>
            </a:pPr>
            <a:r>
              <a:rPr lang="en-US" sz="1769" b="true">
                <a:solidFill>
                  <a:srgbClr val="FFFFFF"/>
                </a:solidFill>
                <a:latin typeface="Almarai Bold"/>
                <a:ea typeface="Almarai Bold"/>
                <a:cs typeface="Almarai Bold"/>
                <a:sym typeface="Almarai Bold"/>
              </a:rPr>
              <a:t>Conoscenza, Stato  &amp; Credenziali </a:t>
            </a:r>
          </a:p>
          <a:p>
            <a:pPr algn="l">
              <a:lnSpc>
                <a:spcPts val="2441"/>
              </a:lnSpc>
              <a:spcBef>
                <a:spcPct val="0"/>
              </a:spcBef>
            </a:pPr>
            <a:r>
              <a:rPr lang="en-US" b="true" sz="1769">
                <a:solidFill>
                  <a:srgbClr val="FFFFFF"/>
                </a:solidFill>
                <a:latin typeface="Almarai Bold"/>
                <a:ea typeface="Almarai Bold"/>
                <a:cs typeface="Almarai Bold"/>
                <a:sym typeface="Almarai Bold"/>
              </a:rPr>
              <a:t>(D4, D10, D12-13)</a:t>
            </a:r>
          </a:p>
        </p:txBody>
      </p:sp>
      <p:sp>
        <p:nvSpPr>
          <p:cNvPr name="TextBox 43" id="43"/>
          <p:cNvSpPr txBox="true"/>
          <p:nvPr/>
        </p:nvSpPr>
        <p:spPr>
          <a:xfrm rot="0">
            <a:off x="11424065" y="5401652"/>
            <a:ext cx="3751335" cy="1736150"/>
          </a:xfrm>
          <a:prstGeom prst="rect">
            <a:avLst/>
          </a:prstGeom>
        </p:spPr>
        <p:txBody>
          <a:bodyPr anchor="t" rtlCol="false" tIns="0" lIns="0" bIns="0" rIns="0">
            <a:spAutoFit/>
          </a:bodyPr>
          <a:lstStyle/>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Indice RAG &amp; memoria contesto</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Stato sessione &amp; swap coordination </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Log di audit &amp; credenziali</a:t>
            </a:r>
          </a:p>
        </p:txBody>
      </p:sp>
      <p:sp>
        <p:nvSpPr>
          <p:cNvPr name="TextBox 44" id="44"/>
          <p:cNvSpPr txBox="true"/>
          <p:nvPr/>
        </p:nvSpPr>
        <p:spPr>
          <a:xfrm rot="0">
            <a:off x="11910832" y="7393476"/>
            <a:ext cx="2777801" cy="356241"/>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Minacce chiave</a:t>
            </a:r>
          </a:p>
        </p:txBody>
      </p:sp>
      <p:sp>
        <p:nvSpPr>
          <p:cNvPr name="TextBox 45" id="45"/>
          <p:cNvSpPr txBox="true"/>
          <p:nvPr/>
        </p:nvSpPr>
        <p:spPr>
          <a:xfrm rot="0">
            <a:off x="11498634" y="7810684"/>
            <a:ext cx="3751335" cy="1626377"/>
          </a:xfrm>
          <a:prstGeom prst="rect">
            <a:avLst/>
          </a:prstGeom>
        </p:spPr>
        <p:txBody>
          <a:bodyPr anchor="t" rtlCol="false" tIns="0" lIns="0" bIns="0" rIns="0">
            <a:spAutoFit/>
          </a:bodyPr>
          <a:lstStyle/>
          <a:p>
            <a:pPr algn="l" marL="345441" indent="-172721" lvl="1">
              <a:lnSpc>
                <a:spcPts val="2208"/>
              </a:lnSpc>
              <a:buFont typeface="Arial"/>
              <a:buChar char="•"/>
            </a:pPr>
            <a:r>
              <a:rPr lang="en-US" b="true" sz="1600">
                <a:solidFill>
                  <a:srgbClr val="FFFFFF"/>
                </a:solidFill>
                <a:latin typeface="Almarai Bold"/>
                <a:ea typeface="Almarai Bold"/>
                <a:cs typeface="Almarai Bold"/>
                <a:sym typeface="Almarai Bold"/>
              </a:rPr>
              <a:t>Poisoning di RAG e contesto</a:t>
            </a:r>
          </a:p>
          <a:p>
            <a:pPr algn="l" marL="345441" indent="-172721" lvl="1">
              <a:lnSpc>
                <a:spcPts val="2208"/>
              </a:lnSpc>
              <a:buFont typeface="Arial"/>
              <a:buChar char="•"/>
            </a:pPr>
            <a:r>
              <a:rPr lang="en-US" b="true" sz="1600">
                <a:solidFill>
                  <a:srgbClr val="FFFFFF"/>
                </a:solidFill>
                <a:latin typeface="Almarai Bold"/>
                <a:ea typeface="Almarai Bold"/>
                <a:cs typeface="Almarai Bold"/>
                <a:sym typeface="Almarai Bold"/>
              </a:rPr>
              <a:t>Falsificazione o replay del Video Ready</a:t>
            </a:r>
          </a:p>
          <a:p>
            <a:pPr algn="l" marL="345441" indent="-172721" lvl="1">
              <a:lnSpc>
                <a:spcPts val="2208"/>
              </a:lnSpc>
              <a:buFont typeface="Arial"/>
              <a:buChar char="•"/>
            </a:pPr>
            <a:r>
              <a:rPr lang="en-US" b="true" sz="1600">
                <a:solidFill>
                  <a:srgbClr val="FFFFFF"/>
                </a:solidFill>
                <a:latin typeface="Almarai Bold"/>
                <a:ea typeface="Almarai Bold"/>
                <a:cs typeface="Almarai Bold"/>
                <a:sym typeface="Almarai Bold"/>
              </a:rPr>
              <a:t>Escalation privilegi e furto credenziali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10" id="10"/>
          <p:cNvGrpSpPr/>
          <p:nvPr/>
        </p:nvGrpSpPr>
        <p:grpSpPr>
          <a:xfrm rot="0">
            <a:off x="1756823" y="4152311"/>
            <a:ext cx="4131732" cy="5751436"/>
            <a:chOff x="0" y="0"/>
            <a:chExt cx="1088193" cy="1514781"/>
          </a:xfrm>
        </p:grpSpPr>
        <p:sp>
          <p:nvSpPr>
            <p:cNvPr name="Freeform 11" id="11"/>
            <p:cNvSpPr/>
            <p:nvPr/>
          </p:nvSpPr>
          <p:spPr>
            <a:xfrm flipH="false" flipV="false" rot="0">
              <a:off x="0" y="0"/>
              <a:ext cx="1088193" cy="1514781"/>
            </a:xfrm>
            <a:custGeom>
              <a:avLst/>
              <a:gdLst/>
              <a:ahLst/>
              <a:cxnLst/>
              <a:rect r="r" b="b" t="t" l="l"/>
              <a:pathLst>
                <a:path h="1514781" w="1088193">
                  <a:moveTo>
                    <a:pt x="95562" y="0"/>
                  </a:moveTo>
                  <a:lnTo>
                    <a:pt x="992630" y="0"/>
                  </a:lnTo>
                  <a:cubicBezTo>
                    <a:pt x="1017975" y="0"/>
                    <a:pt x="1042282" y="10068"/>
                    <a:pt x="1060203" y="27990"/>
                  </a:cubicBezTo>
                  <a:cubicBezTo>
                    <a:pt x="1078125" y="45911"/>
                    <a:pt x="1088193" y="70218"/>
                    <a:pt x="1088193" y="95562"/>
                  </a:cubicBezTo>
                  <a:lnTo>
                    <a:pt x="1088193" y="1419219"/>
                  </a:lnTo>
                  <a:cubicBezTo>
                    <a:pt x="1088193" y="1444564"/>
                    <a:pt x="1078125" y="1468870"/>
                    <a:pt x="1060203" y="1486792"/>
                  </a:cubicBezTo>
                  <a:cubicBezTo>
                    <a:pt x="1042282" y="1504713"/>
                    <a:pt x="1017975" y="1514781"/>
                    <a:pt x="992630" y="1514781"/>
                  </a:cubicBezTo>
                  <a:lnTo>
                    <a:pt x="95562" y="1514781"/>
                  </a:lnTo>
                  <a:cubicBezTo>
                    <a:pt x="70218" y="1514781"/>
                    <a:pt x="45911" y="1504713"/>
                    <a:pt x="27990" y="1486792"/>
                  </a:cubicBezTo>
                  <a:cubicBezTo>
                    <a:pt x="10068" y="1468870"/>
                    <a:pt x="0" y="1444564"/>
                    <a:pt x="0" y="1419219"/>
                  </a:cubicBezTo>
                  <a:lnTo>
                    <a:pt x="0" y="95562"/>
                  </a:lnTo>
                  <a:cubicBezTo>
                    <a:pt x="0" y="70218"/>
                    <a:pt x="10068" y="45911"/>
                    <a:pt x="27990" y="27990"/>
                  </a:cubicBezTo>
                  <a:cubicBezTo>
                    <a:pt x="45911" y="10068"/>
                    <a:pt x="70218" y="0"/>
                    <a:pt x="95562" y="0"/>
                  </a:cubicBezTo>
                  <a:close/>
                </a:path>
              </a:pathLst>
            </a:custGeom>
            <a:solidFill>
              <a:srgbClr val="145DA0"/>
            </a:solidFill>
          </p:spPr>
        </p:sp>
        <p:sp>
          <p:nvSpPr>
            <p:cNvPr name="TextBox 12" id="12"/>
            <p:cNvSpPr txBox="true"/>
            <p:nvPr/>
          </p:nvSpPr>
          <p:spPr>
            <a:xfrm>
              <a:off x="0" y="-38100"/>
              <a:ext cx="1088193" cy="1552881"/>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957037" y="7241242"/>
            <a:ext cx="3751335" cy="2464635"/>
            <a:chOff x="0" y="0"/>
            <a:chExt cx="988006" cy="649122"/>
          </a:xfrm>
        </p:grpSpPr>
        <p:sp>
          <p:nvSpPr>
            <p:cNvPr name="Freeform 14" id="14"/>
            <p:cNvSpPr/>
            <p:nvPr/>
          </p:nvSpPr>
          <p:spPr>
            <a:xfrm flipH="false" flipV="false" rot="0">
              <a:off x="0" y="0"/>
              <a:ext cx="988006" cy="649122"/>
            </a:xfrm>
            <a:custGeom>
              <a:avLst/>
              <a:gdLst/>
              <a:ahLst/>
              <a:cxnLst/>
              <a:rect r="r" b="b" t="t" l="l"/>
              <a:pathLst>
                <a:path h="649122" w="988006">
                  <a:moveTo>
                    <a:pt x="105253" y="0"/>
                  </a:moveTo>
                  <a:lnTo>
                    <a:pt x="882753" y="0"/>
                  </a:lnTo>
                  <a:cubicBezTo>
                    <a:pt x="910668" y="0"/>
                    <a:pt x="937439" y="11089"/>
                    <a:pt x="957178" y="30828"/>
                  </a:cubicBezTo>
                  <a:cubicBezTo>
                    <a:pt x="976917" y="50566"/>
                    <a:pt x="988006" y="77338"/>
                    <a:pt x="988006" y="105253"/>
                  </a:cubicBezTo>
                  <a:lnTo>
                    <a:pt x="988006" y="543869"/>
                  </a:lnTo>
                  <a:cubicBezTo>
                    <a:pt x="988006" y="601999"/>
                    <a:pt x="940883" y="649122"/>
                    <a:pt x="882753" y="649122"/>
                  </a:cubicBezTo>
                  <a:lnTo>
                    <a:pt x="105253" y="649122"/>
                  </a:lnTo>
                  <a:cubicBezTo>
                    <a:pt x="77338" y="649122"/>
                    <a:pt x="50566" y="638033"/>
                    <a:pt x="30828" y="618294"/>
                  </a:cubicBezTo>
                  <a:cubicBezTo>
                    <a:pt x="11089" y="598555"/>
                    <a:pt x="0" y="571784"/>
                    <a:pt x="0" y="543869"/>
                  </a:cubicBezTo>
                  <a:lnTo>
                    <a:pt x="0" y="105253"/>
                  </a:lnTo>
                  <a:cubicBezTo>
                    <a:pt x="0" y="77338"/>
                    <a:pt x="11089" y="50566"/>
                    <a:pt x="30828" y="30828"/>
                  </a:cubicBezTo>
                  <a:cubicBezTo>
                    <a:pt x="50566" y="11089"/>
                    <a:pt x="77338" y="0"/>
                    <a:pt x="105253" y="0"/>
                  </a:cubicBezTo>
                  <a:close/>
                </a:path>
              </a:pathLst>
            </a:custGeom>
            <a:solidFill>
              <a:srgbClr val="031E40"/>
            </a:solidFill>
            <a:ln w="38100" cap="rnd">
              <a:solidFill>
                <a:srgbClr val="760F0F"/>
              </a:solidFill>
              <a:prstDash val="solid"/>
              <a:round/>
            </a:ln>
          </p:spPr>
        </p:sp>
        <p:sp>
          <p:nvSpPr>
            <p:cNvPr name="TextBox 15" id="15"/>
            <p:cNvSpPr txBox="true"/>
            <p:nvPr/>
          </p:nvSpPr>
          <p:spPr>
            <a:xfrm>
              <a:off x="0" y="-38100"/>
              <a:ext cx="988006" cy="687222"/>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6527621" y="4152311"/>
            <a:ext cx="4131732" cy="5751436"/>
            <a:chOff x="0" y="0"/>
            <a:chExt cx="1088193" cy="1514781"/>
          </a:xfrm>
        </p:grpSpPr>
        <p:sp>
          <p:nvSpPr>
            <p:cNvPr name="Freeform 17" id="17"/>
            <p:cNvSpPr/>
            <p:nvPr/>
          </p:nvSpPr>
          <p:spPr>
            <a:xfrm flipH="false" flipV="false" rot="0">
              <a:off x="0" y="0"/>
              <a:ext cx="1088193" cy="1514781"/>
            </a:xfrm>
            <a:custGeom>
              <a:avLst/>
              <a:gdLst/>
              <a:ahLst/>
              <a:cxnLst/>
              <a:rect r="r" b="b" t="t" l="l"/>
              <a:pathLst>
                <a:path h="1514781" w="1088193">
                  <a:moveTo>
                    <a:pt x="95562" y="0"/>
                  </a:moveTo>
                  <a:lnTo>
                    <a:pt x="992630" y="0"/>
                  </a:lnTo>
                  <a:cubicBezTo>
                    <a:pt x="1017975" y="0"/>
                    <a:pt x="1042282" y="10068"/>
                    <a:pt x="1060203" y="27990"/>
                  </a:cubicBezTo>
                  <a:cubicBezTo>
                    <a:pt x="1078125" y="45911"/>
                    <a:pt x="1088193" y="70218"/>
                    <a:pt x="1088193" y="95562"/>
                  </a:cubicBezTo>
                  <a:lnTo>
                    <a:pt x="1088193" y="1419219"/>
                  </a:lnTo>
                  <a:cubicBezTo>
                    <a:pt x="1088193" y="1444564"/>
                    <a:pt x="1078125" y="1468870"/>
                    <a:pt x="1060203" y="1486792"/>
                  </a:cubicBezTo>
                  <a:cubicBezTo>
                    <a:pt x="1042282" y="1504713"/>
                    <a:pt x="1017975" y="1514781"/>
                    <a:pt x="992630" y="1514781"/>
                  </a:cubicBezTo>
                  <a:lnTo>
                    <a:pt x="95562" y="1514781"/>
                  </a:lnTo>
                  <a:cubicBezTo>
                    <a:pt x="70218" y="1514781"/>
                    <a:pt x="45911" y="1504713"/>
                    <a:pt x="27990" y="1486792"/>
                  </a:cubicBezTo>
                  <a:cubicBezTo>
                    <a:pt x="10068" y="1468870"/>
                    <a:pt x="0" y="1444564"/>
                    <a:pt x="0" y="1419219"/>
                  </a:cubicBezTo>
                  <a:lnTo>
                    <a:pt x="0" y="95562"/>
                  </a:lnTo>
                  <a:cubicBezTo>
                    <a:pt x="0" y="70218"/>
                    <a:pt x="10068" y="45911"/>
                    <a:pt x="27990" y="27990"/>
                  </a:cubicBezTo>
                  <a:cubicBezTo>
                    <a:pt x="45911" y="10068"/>
                    <a:pt x="70218" y="0"/>
                    <a:pt x="95562" y="0"/>
                  </a:cubicBezTo>
                  <a:close/>
                </a:path>
              </a:pathLst>
            </a:custGeom>
            <a:solidFill>
              <a:srgbClr val="145DA0"/>
            </a:solidFill>
          </p:spPr>
        </p:sp>
        <p:sp>
          <p:nvSpPr>
            <p:cNvPr name="TextBox 18" id="18"/>
            <p:cNvSpPr txBox="true"/>
            <p:nvPr/>
          </p:nvSpPr>
          <p:spPr>
            <a:xfrm>
              <a:off x="0" y="-38100"/>
              <a:ext cx="1088193" cy="1552881"/>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6727836" y="7241242"/>
            <a:ext cx="3751335" cy="2464635"/>
            <a:chOff x="0" y="0"/>
            <a:chExt cx="988006" cy="649122"/>
          </a:xfrm>
        </p:grpSpPr>
        <p:sp>
          <p:nvSpPr>
            <p:cNvPr name="Freeform 20" id="20"/>
            <p:cNvSpPr/>
            <p:nvPr/>
          </p:nvSpPr>
          <p:spPr>
            <a:xfrm flipH="false" flipV="false" rot="0">
              <a:off x="0" y="0"/>
              <a:ext cx="988006" cy="649122"/>
            </a:xfrm>
            <a:custGeom>
              <a:avLst/>
              <a:gdLst/>
              <a:ahLst/>
              <a:cxnLst/>
              <a:rect r="r" b="b" t="t" l="l"/>
              <a:pathLst>
                <a:path h="649122" w="988006">
                  <a:moveTo>
                    <a:pt x="105253" y="0"/>
                  </a:moveTo>
                  <a:lnTo>
                    <a:pt x="882753" y="0"/>
                  </a:lnTo>
                  <a:cubicBezTo>
                    <a:pt x="910668" y="0"/>
                    <a:pt x="937439" y="11089"/>
                    <a:pt x="957178" y="30828"/>
                  </a:cubicBezTo>
                  <a:cubicBezTo>
                    <a:pt x="976917" y="50566"/>
                    <a:pt x="988006" y="77338"/>
                    <a:pt x="988006" y="105253"/>
                  </a:cubicBezTo>
                  <a:lnTo>
                    <a:pt x="988006" y="543869"/>
                  </a:lnTo>
                  <a:cubicBezTo>
                    <a:pt x="988006" y="601999"/>
                    <a:pt x="940883" y="649122"/>
                    <a:pt x="882753" y="649122"/>
                  </a:cubicBezTo>
                  <a:lnTo>
                    <a:pt x="105253" y="649122"/>
                  </a:lnTo>
                  <a:cubicBezTo>
                    <a:pt x="77338" y="649122"/>
                    <a:pt x="50566" y="638033"/>
                    <a:pt x="30828" y="618294"/>
                  </a:cubicBezTo>
                  <a:cubicBezTo>
                    <a:pt x="11089" y="598555"/>
                    <a:pt x="0" y="571784"/>
                    <a:pt x="0" y="543869"/>
                  </a:cubicBezTo>
                  <a:lnTo>
                    <a:pt x="0" y="105253"/>
                  </a:lnTo>
                  <a:cubicBezTo>
                    <a:pt x="0" y="77338"/>
                    <a:pt x="11089" y="50566"/>
                    <a:pt x="30828" y="30828"/>
                  </a:cubicBezTo>
                  <a:cubicBezTo>
                    <a:pt x="50566" y="11089"/>
                    <a:pt x="77338" y="0"/>
                    <a:pt x="105253" y="0"/>
                  </a:cubicBezTo>
                  <a:close/>
                </a:path>
              </a:pathLst>
            </a:custGeom>
            <a:solidFill>
              <a:srgbClr val="031E40"/>
            </a:solidFill>
            <a:ln w="38100" cap="rnd">
              <a:solidFill>
                <a:srgbClr val="760F0F"/>
              </a:solidFill>
              <a:prstDash val="solid"/>
              <a:round/>
            </a:ln>
          </p:spPr>
        </p:sp>
        <p:sp>
          <p:nvSpPr>
            <p:cNvPr name="TextBox 21" id="21"/>
            <p:cNvSpPr txBox="true"/>
            <p:nvPr/>
          </p:nvSpPr>
          <p:spPr>
            <a:xfrm>
              <a:off x="0" y="-38100"/>
              <a:ext cx="988006" cy="687222"/>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11298420" y="4152311"/>
            <a:ext cx="4131732" cy="5751436"/>
            <a:chOff x="0" y="0"/>
            <a:chExt cx="1088193" cy="1514781"/>
          </a:xfrm>
        </p:grpSpPr>
        <p:sp>
          <p:nvSpPr>
            <p:cNvPr name="Freeform 23" id="23"/>
            <p:cNvSpPr/>
            <p:nvPr/>
          </p:nvSpPr>
          <p:spPr>
            <a:xfrm flipH="false" flipV="false" rot="0">
              <a:off x="0" y="0"/>
              <a:ext cx="1088193" cy="1514781"/>
            </a:xfrm>
            <a:custGeom>
              <a:avLst/>
              <a:gdLst/>
              <a:ahLst/>
              <a:cxnLst/>
              <a:rect r="r" b="b" t="t" l="l"/>
              <a:pathLst>
                <a:path h="1514781" w="1088193">
                  <a:moveTo>
                    <a:pt x="95562" y="0"/>
                  </a:moveTo>
                  <a:lnTo>
                    <a:pt x="992630" y="0"/>
                  </a:lnTo>
                  <a:cubicBezTo>
                    <a:pt x="1017975" y="0"/>
                    <a:pt x="1042282" y="10068"/>
                    <a:pt x="1060203" y="27990"/>
                  </a:cubicBezTo>
                  <a:cubicBezTo>
                    <a:pt x="1078125" y="45911"/>
                    <a:pt x="1088193" y="70218"/>
                    <a:pt x="1088193" y="95562"/>
                  </a:cubicBezTo>
                  <a:lnTo>
                    <a:pt x="1088193" y="1419219"/>
                  </a:lnTo>
                  <a:cubicBezTo>
                    <a:pt x="1088193" y="1444564"/>
                    <a:pt x="1078125" y="1468870"/>
                    <a:pt x="1060203" y="1486792"/>
                  </a:cubicBezTo>
                  <a:cubicBezTo>
                    <a:pt x="1042282" y="1504713"/>
                    <a:pt x="1017975" y="1514781"/>
                    <a:pt x="992630" y="1514781"/>
                  </a:cubicBezTo>
                  <a:lnTo>
                    <a:pt x="95562" y="1514781"/>
                  </a:lnTo>
                  <a:cubicBezTo>
                    <a:pt x="70218" y="1514781"/>
                    <a:pt x="45911" y="1504713"/>
                    <a:pt x="27990" y="1486792"/>
                  </a:cubicBezTo>
                  <a:cubicBezTo>
                    <a:pt x="10068" y="1468870"/>
                    <a:pt x="0" y="1444564"/>
                    <a:pt x="0" y="1419219"/>
                  </a:cubicBezTo>
                  <a:lnTo>
                    <a:pt x="0" y="95562"/>
                  </a:lnTo>
                  <a:cubicBezTo>
                    <a:pt x="0" y="70218"/>
                    <a:pt x="10068" y="45911"/>
                    <a:pt x="27990" y="27990"/>
                  </a:cubicBezTo>
                  <a:cubicBezTo>
                    <a:pt x="45911" y="10068"/>
                    <a:pt x="70218" y="0"/>
                    <a:pt x="95562" y="0"/>
                  </a:cubicBezTo>
                  <a:close/>
                </a:path>
              </a:pathLst>
            </a:custGeom>
            <a:solidFill>
              <a:srgbClr val="145DA0"/>
            </a:solidFill>
          </p:spPr>
        </p:sp>
        <p:sp>
          <p:nvSpPr>
            <p:cNvPr name="TextBox 24" id="24"/>
            <p:cNvSpPr txBox="true"/>
            <p:nvPr/>
          </p:nvSpPr>
          <p:spPr>
            <a:xfrm>
              <a:off x="0" y="-38100"/>
              <a:ext cx="1088193" cy="1552881"/>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1498634" y="7241242"/>
            <a:ext cx="3751335" cy="2464635"/>
            <a:chOff x="0" y="0"/>
            <a:chExt cx="988006" cy="649122"/>
          </a:xfrm>
        </p:grpSpPr>
        <p:sp>
          <p:nvSpPr>
            <p:cNvPr name="Freeform 26" id="26"/>
            <p:cNvSpPr/>
            <p:nvPr/>
          </p:nvSpPr>
          <p:spPr>
            <a:xfrm flipH="false" flipV="false" rot="0">
              <a:off x="0" y="0"/>
              <a:ext cx="988006" cy="649122"/>
            </a:xfrm>
            <a:custGeom>
              <a:avLst/>
              <a:gdLst/>
              <a:ahLst/>
              <a:cxnLst/>
              <a:rect r="r" b="b" t="t" l="l"/>
              <a:pathLst>
                <a:path h="649122" w="988006">
                  <a:moveTo>
                    <a:pt x="105253" y="0"/>
                  </a:moveTo>
                  <a:lnTo>
                    <a:pt x="882753" y="0"/>
                  </a:lnTo>
                  <a:cubicBezTo>
                    <a:pt x="910668" y="0"/>
                    <a:pt x="937439" y="11089"/>
                    <a:pt x="957178" y="30828"/>
                  </a:cubicBezTo>
                  <a:cubicBezTo>
                    <a:pt x="976917" y="50566"/>
                    <a:pt x="988006" y="77338"/>
                    <a:pt x="988006" y="105253"/>
                  </a:cubicBezTo>
                  <a:lnTo>
                    <a:pt x="988006" y="543869"/>
                  </a:lnTo>
                  <a:cubicBezTo>
                    <a:pt x="988006" y="601999"/>
                    <a:pt x="940883" y="649122"/>
                    <a:pt x="882753" y="649122"/>
                  </a:cubicBezTo>
                  <a:lnTo>
                    <a:pt x="105253" y="649122"/>
                  </a:lnTo>
                  <a:cubicBezTo>
                    <a:pt x="77338" y="649122"/>
                    <a:pt x="50566" y="638033"/>
                    <a:pt x="30828" y="618294"/>
                  </a:cubicBezTo>
                  <a:cubicBezTo>
                    <a:pt x="11089" y="598555"/>
                    <a:pt x="0" y="571784"/>
                    <a:pt x="0" y="543869"/>
                  </a:cubicBezTo>
                  <a:lnTo>
                    <a:pt x="0" y="105253"/>
                  </a:lnTo>
                  <a:cubicBezTo>
                    <a:pt x="0" y="77338"/>
                    <a:pt x="11089" y="50566"/>
                    <a:pt x="30828" y="30828"/>
                  </a:cubicBezTo>
                  <a:cubicBezTo>
                    <a:pt x="50566" y="11089"/>
                    <a:pt x="77338" y="0"/>
                    <a:pt x="105253" y="0"/>
                  </a:cubicBezTo>
                  <a:close/>
                </a:path>
              </a:pathLst>
            </a:custGeom>
            <a:solidFill>
              <a:srgbClr val="031E40"/>
            </a:solidFill>
            <a:ln w="38100" cap="rnd">
              <a:solidFill>
                <a:srgbClr val="760F0F"/>
              </a:solidFill>
              <a:prstDash val="solid"/>
              <a:round/>
            </a:ln>
          </p:spPr>
        </p:sp>
        <p:sp>
          <p:nvSpPr>
            <p:cNvPr name="TextBox 27" id="27"/>
            <p:cNvSpPr txBox="true"/>
            <p:nvPr/>
          </p:nvSpPr>
          <p:spPr>
            <a:xfrm>
              <a:off x="0" y="-38100"/>
              <a:ext cx="988006" cy="687222"/>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1918173" y="4268867"/>
            <a:ext cx="762972" cy="833849"/>
          </a:xfrm>
          <a:custGeom>
            <a:avLst/>
            <a:gdLst/>
            <a:ahLst/>
            <a:cxnLst/>
            <a:rect r="r" b="b" t="t" l="l"/>
            <a:pathLst>
              <a:path h="833849" w="762972">
                <a:moveTo>
                  <a:pt x="0" y="0"/>
                </a:moveTo>
                <a:lnTo>
                  <a:pt x="762971" y="0"/>
                </a:lnTo>
                <a:lnTo>
                  <a:pt x="762971" y="833848"/>
                </a:lnTo>
                <a:lnTo>
                  <a:pt x="0" y="833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6654529" y="4392089"/>
            <a:ext cx="670507" cy="425772"/>
          </a:xfrm>
          <a:custGeom>
            <a:avLst/>
            <a:gdLst/>
            <a:ahLst/>
            <a:cxnLst/>
            <a:rect r="r" b="b" t="t" l="l"/>
            <a:pathLst>
              <a:path h="425772" w="670507">
                <a:moveTo>
                  <a:pt x="0" y="0"/>
                </a:moveTo>
                <a:lnTo>
                  <a:pt x="670506" y="0"/>
                </a:lnTo>
                <a:lnTo>
                  <a:pt x="670506" y="425772"/>
                </a:lnTo>
                <a:lnTo>
                  <a:pt x="0" y="4257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11424065" y="4306859"/>
            <a:ext cx="806238" cy="757863"/>
          </a:xfrm>
          <a:custGeom>
            <a:avLst/>
            <a:gdLst/>
            <a:ahLst/>
            <a:cxnLst/>
            <a:rect r="r" b="b" t="t" l="l"/>
            <a:pathLst>
              <a:path h="757863" w="806238">
                <a:moveTo>
                  <a:pt x="0" y="0"/>
                </a:moveTo>
                <a:lnTo>
                  <a:pt x="806238" y="0"/>
                </a:lnTo>
                <a:lnTo>
                  <a:pt x="806238" y="757864"/>
                </a:lnTo>
                <a:lnTo>
                  <a:pt x="0" y="7578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1" id="31"/>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ASSET MODEL</a:t>
            </a:r>
          </a:p>
        </p:txBody>
      </p:sp>
      <p:sp>
        <p:nvSpPr>
          <p:cNvPr name="TextBox 32" id="32"/>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05</a:t>
            </a:r>
          </a:p>
        </p:txBody>
      </p:sp>
      <p:sp>
        <p:nvSpPr>
          <p:cNvPr name="TextBox 33" id="33"/>
          <p:cNvSpPr txBox="true"/>
          <p:nvPr/>
        </p:nvSpPr>
        <p:spPr>
          <a:xfrm rot="0">
            <a:off x="1768405" y="2800873"/>
            <a:ext cx="5216826" cy="951388"/>
          </a:xfrm>
          <a:prstGeom prst="rect">
            <a:avLst/>
          </a:prstGeom>
        </p:spPr>
        <p:txBody>
          <a:bodyPr anchor="t" rtlCol="false" tIns="0" lIns="0" bIns="0" rIns="0">
            <a:spAutoFit/>
          </a:bodyPr>
          <a:lstStyle/>
          <a:p>
            <a:pPr algn="l" marL="0" indent="0" lvl="0">
              <a:lnSpc>
                <a:spcPts val="6355"/>
              </a:lnSpc>
              <a:spcBef>
                <a:spcPct val="0"/>
              </a:spcBef>
            </a:pPr>
            <a:r>
              <a:rPr lang="en-US" b="true" sz="4605">
                <a:solidFill>
                  <a:srgbClr val="17E3B2"/>
                </a:solidFill>
                <a:latin typeface="Almarai Bold"/>
                <a:ea typeface="Almarai Bold"/>
                <a:cs typeface="Almarai Bold"/>
                <a:sym typeface="Almarai Bold"/>
              </a:rPr>
              <a:t>Model Assets</a:t>
            </a:r>
          </a:p>
        </p:txBody>
      </p:sp>
      <p:sp>
        <p:nvSpPr>
          <p:cNvPr name="TextBox 34" id="34"/>
          <p:cNvSpPr txBox="true"/>
          <p:nvPr/>
        </p:nvSpPr>
        <p:spPr>
          <a:xfrm rot="0">
            <a:off x="2766869" y="4228511"/>
            <a:ext cx="2777801" cy="714829"/>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Agent</a:t>
            </a:r>
            <a:r>
              <a:rPr lang="en-US" b="true" sz="1769">
                <a:solidFill>
                  <a:srgbClr val="FFFFFF"/>
                </a:solidFill>
                <a:latin typeface="Almarai Bold"/>
                <a:ea typeface="Almarai Bold"/>
                <a:cs typeface="Almarai Bold"/>
                <a:sym typeface="Almarai Bold"/>
              </a:rPr>
              <a:t>i Decisionali Dual-Brain (M1–M3)</a:t>
            </a:r>
          </a:p>
        </p:txBody>
      </p:sp>
      <p:sp>
        <p:nvSpPr>
          <p:cNvPr name="TextBox 35" id="35"/>
          <p:cNvSpPr txBox="true"/>
          <p:nvPr/>
        </p:nvSpPr>
        <p:spPr>
          <a:xfrm rot="0">
            <a:off x="1957037" y="5589060"/>
            <a:ext cx="3751335" cy="1137666"/>
          </a:xfrm>
          <a:prstGeom prst="rect">
            <a:avLst/>
          </a:prstGeom>
        </p:spPr>
        <p:txBody>
          <a:bodyPr anchor="t" rtlCol="false" tIns="0" lIns="0" bIns="0" rIns="0">
            <a:spAutoFit/>
          </a:bodyPr>
          <a:lstStyle/>
          <a:p>
            <a:pPr algn="l" marL="410209" indent="-205105" lvl="1">
              <a:lnSpc>
                <a:spcPts val="2621"/>
              </a:lnSpc>
              <a:buFont typeface="Arial"/>
              <a:buChar char="•"/>
            </a:pPr>
            <a:r>
              <a:rPr lang="en-US" b="true" sz="1899">
                <a:solidFill>
                  <a:srgbClr val="FFFFFF"/>
                </a:solidFill>
                <a:latin typeface="Almarai Bold"/>
                <a:ea typeface="Almarai Bold"/>
                <a:cs typeface="Almarai Bold"/>
                <a:sym typeface="Almarai Bold"/>
              </a:rPr>
              <a:t>Fast-Brain (&lt;800 ms), </a:t>
            </a:r>
          </a:p>
          <a:p>
            <a:pPr algn="l" marL="410209" indent="-205105" lvl="1">
              <a:lnSpc>
                <a:spcPts val="2621"/>
              </a:lnSpc>
              <a:buFont typeface="Arial"/>
              <a:buChar char="•"/>
            </a:pPr>
            <a:r>
              <a:rPr lang="en-US" b="true" sz="1899">
                <a:solidFill>
                  <a:srgbClr val="FFFFFF"/>
                </a:solidFill>
                <a:latin typeface="Almarai Bold"/>
                <a:ea typeface="Almarai Bold"/>
                <a:cs typeface="Almarai Bold"/>
                <a:sym typeface="Almarai Bold"/>
              </a:rPr>
              <a:t>Deep-Brain (RAG), </a:t>
            </a:r>
          </a:p>
          <a:p>
            <a:pPr algn="l" marL="410209" indent="-205105" lvl="1">
              <a:lnSpc>
                <a:spcPts val="2621"/>
              </a:lnSpc>
              <a:buFont typeface="Arial"/>
              <a:buChar char="•"/>
            </a:pPr>
            <a:r>
              <a:rPr lang="en-US" b="true" sz="1899">
                <a:solidFill>
                  <a:srgbClr val="FFFFFF"/>
                </a:solidFill>
                <a:latin typeface="Almarai Bold"/>
                <a:ea typeface="Almarai Bold"/>
                <a:cs typeface="Almarai Bold"/>
                <a:sym typeface="Almarai Bold"/>
              </a:rPr>
              <a:t>System Prompts</a:t>
            </a:r>
          </a:p>
        </p:txBody>
      </p:sp>
      <p:sp>
        <p:nvSpPr>
          <p:cNvPr name="TextBox 36" id="36"/>
          <p:cNvSpPr txBox="true"/>
          <p:nvPr/>
        </p:nvSpPr>
        <p:spPr>
          <a:xfrm rot="0">
            <a:off x="2369235" y="7393476"/>
            <a:ext cx="2777801" cy="356241"/>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Minacce chiave</a:t>
            </a:r>
          </a:p>
        </p:txBody>
      </p:sp>
      <p:sp>
        <p:nvSpPr>
          <p:cNvPr name="TextBox 37" id="37"/>
          <p:cNvSpPr txBox="true"/>
          <p:nvPr/>
        </p:nvSpPr>
        <p:spPr>
          <a:xfrm rot="0">
            <a:off x="1957037" y="7810684"/>
            <a:ext cx="3751335" cy="1041385"/>
          </a:xfrm>
          <a:prstGeom prst="rect">
            <a:avLst/>
          </a:prstGeom>
        </p:spPr>
        <p:txBody>
          <a:bodyPr anchor="t" rtlCol="false" tIns="0" lIns="0" bIns="0" rIns="0">
            <a:spAutoFit/>
          </a:bodyPr>
          <a:lstStyle/>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Goal hijack</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 Alterazione filler/trigger</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 Goal drift</a:t>
            </a:r>
          </a:p>
        </p:txBody>
      </p:sp>
      <p:sp>
        <p:nvSpPr>
          <p:cNvPr name="TextBox 38" id="38"/>
          <p:cNvSpPr txBox="true"/>
          <p:nvPr/>
        </p:nvSpPr>
        <p:spPr>
          <a:xfrm rot="0">
            <a:off x="7537668" y="4228511"/>
            <a:ext cx="2777801" cy="714829"/>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Modell</a:t>
            </a:r>
            <a:r>
              <a:rPr lang="en-US" b="true" sz="1769">
                <a:solidFill>
                  <a:srgbClr val="FFFFFF"/>
                </a:solidFill>
                <a:latin typeface="Almarai Bold"/>
                <a:ea typeface="Almarai Bold"/>
                <a:cs typeface="Almarai Bold"/>
                <a:sym typeface="Almarai Bold"/>
              </a:rPr>
              <a:t>i Multimodali Downstream (M4–M8)</a:t>
            </a:r>
          </a:p>
        </p:txBody>
      </p:sp>
      <p:sp>
        <p:nvSpPr>
          <p:cNvPr name="TextBox 39" id="39"/>
          <p:cNvSpPr txBox="true"/>
          <p:nvPr/>
        </p:nvSpPr>
        <p:spPr>
          <a:xfrm rot="0">
            <a:off x="6627729" y="5516249"/>
            <a:ext cx="3931517" cy="1476128"/>
          </a:xfrm>
          <a:prstGeom prst="rect">
            <a:avLst/>
          </a:prstGeom>
        </p:spPr>
        <p:txBody>
          <a:bodyPr anchor="t" rtlCol="false" tIns="0" lIns="0" bIns="0" rIns="0">
            <a:spAutoFit/>
          </a:bodyPr>
          <a:lstStyle/>
          <a:p>
            <a:pPr algn="l" marL="388620" indent="-194310" lvl="1">
              <a:lnSpc>
                <a:spcPts val="2483"/>
              </a:lnSpc>
              <a:buFont typeface="Arial"/>
              <a:buChar char="•"/>
            </a:pPr>
            <a:r>
              <a:rPr lang="en-US" b="true" sz="1800">
                <a:solidFill>
                  <a:srgbClr val="FFFFFF"/>
                </a:solidFill>
                <a:latin typeface="Almarai Bold"/>
                <a:ea typeface="Almarai Bold"/>
                <a:cs typeface="Almarai Bold"/>
                <a:sym typeface="Almarai Bold"/>
              </a:rPr>
              <a:t>VAD/STT</a:t>
            </a:r>
          </a:p>
          <a:p>
            <a:pPr algn="l" marL="388620" indent="-194310" lvl="1">
              <a:lnSpc>
                <a:spcPts val="2483"/>
              </a:lnSpc>
              <a:buFont typeface="Arial"/>
              <a:buChar char="•"/>
            </a:pPr>
            <a:r>
              <a:rPr lang="en-US" b="true" sz="1800">
                <a:solidFill>
                  <a:srgbClr val="FFFFFF"/>
                </a:solidFill>
                <a:latin typeface="Almarai Bold"/>
                <a:ea typeface="Almarai Bold"/>
                <a:cs typeface="Almarai Bold"/>
                <a:sym typeface="Almarai Bold"/>
              </a:rPr>
              <a:t>Retriever FAISS</a:t>
            </a:r>
          </a:p>
          <a:p>
            <a:pPr algn="l" marL="388620" indent="-194310" lvl="1">
              <a:lnSpc>
                <a:spcPts val="2483"/>
              </a:lnSpc>
              <a:buFont typeface="Arial"/>
              <a:buChar char="•"/>
            </a:pPr>
            <a:r>
              <a:rPr lang="en-US" b="true" sz="1800">
                <a:solidFill>
                  <a:srgbClr val="FFFFFF"/>
                </a:solidFill>
                <a:latin typeface="Almarai Bold"/>
                <a:ea typeface="Almarai Bold"/>
                <a:cs typeface="Almarai Bold"/>
                <a:sym typeface="Almarai Bold"/>
              </a:rPr>
              <a:t>TTS/Voice Cloning</a:t>
            </a:r>
          </a:p>
          <a:p>
            <a:pPr algn="l" marL="388620" indent="-194310" lvl="1">
              <a:lnSpc>
                <a:spcPts val="2483"/>
              </a:lnSpc>
              <a:buFont typeface="Arial"/>
              <a:buChar char="•"/>
            </a:pPr>
            <a:r>
              <a:rPr lang="en-US" b="true" sz="1800">
                <a:solidFill>
                  <a:srgbClr val="FFFFFF"/>
                </a:solidFill>
                <a:latin typeface="Almarai Bold"/>
                <a:ea typeface="Almarai Bold"/>
                <a:cs typeface="Almarai Bold"/>
                <a:sym typeface="Almarai Bold"/>
              </a:rPr>
              <a:t>Video &amp; Lip-Sync</a:t>
            </a:r>
          </a:p>
        </p:txBody>
      </p:sp>
      <p:sp>
        <p:nvSpPr>
          <p:cNvPr name="TextBox 40" id="40"/>
          <p:cNvSpPr txBox="true"/>
          <p:nvPr/>
        </p:nvSpPr>
        <p:spPr>
          <a:xfrm rot="0">
            <a:off x="7140033" y="7393476"/>
            <a:ext cx="2777801" cy="356241"/>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Minacce chiave</a:t>
            </a:r>
          </a:p>
        </p:txBody>
      </p:sp>
      <p:sp>
        <p:nvSpPr>
          <p:cNvPr name="TextBox 41" id="41"/>
          <p:cNvSpPr txBox="true"/>
          <p:nvPr/>
        </p:nvSpPr>
        <p:spPr>
          <a:xfrm rot="0">
            <a:off x="6727836" y="7810684"/>
            <a:ext cx="3587633" cy="1388767"/>
          </a:xfrm>
          <a:prstGeom prst="rect">
            <a:avLst/>
          </a:prstGeom>
        </p:spPr>
        <p:txBody>
          <a:bodyPr anchor="t" rtlCol="false" tIns="0" lIns="0" bIns="0" rIns="0">
            <a:spAutoFit/>
          </a:bodyPr>
          <a:lstStyle/>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Voice/video spoofing</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DoS su rendering/sintesi</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Alterazione sync e lip-sync</a:t>
            </a:r>
          </a:p>
        </p:txBody>
      </p:sp>
      <p:sp>
        <p:nvSpPr>
          <p:cNvPr name="TextBox 42" id="42"/>
          <p:cNvSpPr txBox="true"/>
          <p:nvPr/>
        </p:nvSpPr>
        <p:spPr>
          <a:xfrm rot="0">
            <a:off x="12308466" y="4228511"/>
            <a:ext cx="2777801" cy="1073418"/>
          </a:xfrm>
          <a:prstGeom prst="rect">
            <a:avLst/>
          </a:prstGeom>
        </p:spPr>
        <p:txBody>
          <a:bodyPr anchor="t" rtlCol="false" tIns="0" lIns="0" bIns="0" rIns="0">
            <a:spAutoFit/>
          </a:bodyPr>
          <a:lstStyle/>
          <a:p>
            <a:pPr algn="l">
              <a:lnSpc>
                <a:spcPts val="2441"/>
              </a:lnSpc>
            </a:pPr>
            <a:r>
              <a:rPr lang="en-US" sz="1769" b="true">
                <a:solidFill>
                  <a:srgbClr val="FFFFFF"/>
                </a:solidFill>
                <a:latin typeface="Almarai Bold"/>
                <a:ea typeface="Almarai Bold"/>
                <a:cs typeface="Almarai Bold"/>
                <a:sym typeface="Almarai Bold"/>
              </a:rPr>
              <a:t>Control Plane &amp; Enforcement </a:t>
            </a:r>
          </a:p>
          <a:p>
            <a:pPr algn="l">
              <a:lnSpc>
                <a:spcPts val="2441"/>
              </a:lnSpc>
              <a:spcBef>
                <a:spcPct val="0"/>
              </a:spcBef>
            </a:pPr>
            <a:r>
              <a:rPr lang="en-US" b="true" sz="1769">
                <a:solidFill>
                  <a:srgbClr val="FFFFFF"/>
                </a:solidFill>
                <a:latin typeface="Almarai Bold"/>
                <a:ea typeface="Almarai Bold"/>
                <a:cs typeface="Almarai Bold"/>
                <a:sym typeface="Almarai Bold"/>
              </a:rPr>
              <a:t>(M9–M11)</a:t>
            </a:r>
          </a:p>
        </p:txBody>
      </p:sp>
      <p:sp>
        <p:nvSpPr>
          <p:cNvPr name="TextBox 43" id="43"/>
          <p:cNvSpPr txBox="true"/>
          <p:nvPr/>
        </p:nvSpPr>
        <p:spPr>
          <a:xfrm rot="0">
            <a:off x="11424065" y="5516249"/>
            <a:ext cx="3751335" cy="1041385"/>
          </a:xfrm>
          <a:prstGeom prst="rect">
            <a:avLst/>
          </a:prstGeom>
        </p:spPr>
        <p:txBody>
          <a:bodyPr anchor="t" rtlCol="false" tIns="0" lIns="0" bIns="0" rIns="0">
            <a:spAutoFit/>
          </a:bodyPr>
          <a:lstStyle/>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Request Router</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Swap Manager</a:t>
            </a:r>
          </a:p>
          <a:p>
            <a:pPr algn="l" marL="367031" indent="-183515" lvl="1">
              <a:lnSpc>
                <a:spcPts val="2346"/>
              </a:lnSpc>
              <a:buFont typeface="Arial"/>
              <a:buChar char="•"/>
            </a:pPr>
            <a:r>
              <a:rPr lang="en-US" b="true" sz="1700">
                <a:solidFill>
                  <a:srgbClr val="FFFFFF"/>
                </a:solidFill>
                <a:latin typeface="Almarai Bold"/>
                <a:ea typeface="Almarai Bold"/>
                <a:cs typeface="Almarai Bold"/>
                <a:sym typeface="Almarai Bold"/>
              </a:rPr>
              <a:t>Validation Layer / Guardrail</a:t>
            </a:r>
          </a:p>
        </p:txBody>
      </p:sp>
      <p:sp>
        <p:nvSpPr>
          <p:cNvPr name="TextBox 44" id="44"/>
          <p:cNvSpPr txBox="true"/>
          <p:nvPr/>
        </p:nvSpPr>
        <p:spPr>
          <a:xfrm rot="0">
            <a:off x="11910832" y="7393476"/>
            <a:ext cx="2777801" cy="356241"/>
          </a:xfrm>
          <a:prstGeom prst="rect">
            <a:avLst/>
          </a:prstGeom>
        </p:spPr>
        <p:txBody>
          <a:bodyPr anchor="t" rtlCol="false" tIns="0" lIns="0" bIns="0" rIns="0">
            <a:spAutoFit/>
          </a:bodyPr>
          <a:lstStyle/>
          <a:p>
            <a:pPr algn="l">
              <a:lnSpc>
                <a:spcPts val="2441"/>
              </a:lnSpc>
              <a:spcBef>
                <a:spcPct val="0"/>
              </a:spcBef>
            </a:pPr>
            <a:r>
              <a:rPr lang="en-US" b="true" sz="1769">
                <a:solidFill>
                  <a:srgbClr val="FFFFFF"/>
                </a:solidFill>
                <a:latin typeface="Almarai Bold"/>
                <a:ea typeface="Almarai Bold"/>
                <a:cs typeface="Almarai Bold"/>
                <a:sym typeface="Almarai Bold"/>
              </a:rPr>
              <a:t>Minacce chiave</a:t>
            </a:r>
          </a:p>
        </p:txBody>
      </p:sp>
      <p:sp>
        <p:nvSpPr>
          <p:cNvPr name="TextBox 45" id="45"/>
          <p:cNvSpPr txBox="true"/>
          <p:nvPr/>
        </p:nvSpPr>
        <p:spPr>
          <a:xfrm rot="0">
            <a:off x="11498634" y="7810684"/>
            <a:ext cx="3587633" cy="976436"/>
          </a:xfrm>
          <a:prstGeom prst="rect">
            <a:avLst/>
          </a:prstGeom>
        </p:spPr>
        <p:txBody>
          <a:bodyPr anchor="t" rtlCol="false" tIns="0" lIns="0" bIns="0" rIns="0">
            <a:spAutoFit/>
          </a:bodyPr>
          <a:lstStyle/>
          <a:p>
            <a:pPr algn="l" marL="345441" indent="-172721" lvl="1">
              <a:lnSpc>
                <a:spcPts val="2208"/>
              </a:lnSpc>
              <a:buFont typeface="Arial"/>
              <a:buChar char="•"/>
            </a:pPr>
            <a:r>
              <a:rPr lang="en-US" b="true" sz="1600">
                <a:solidFill>
                  <a:srgbClr val="FFFFFF"/>
                </a:solidFill>
                <a:latin typeface="Almarai Bold"/>
                <a:ea typeface="Almarai Bold"/>
                <a:cs typeface="Almarai Bold"/>
                <a:sym typeface="Almarai Bold"/>
              </a:rPr>
              <a:t>Desincronizzazione swap</a:t>
            </a:r>
          </a:p>
          <a:p>
            <a:pPr algn="l" marL="345441" indent="-172721" lvl="1">
              <a:lnSpc>
                <a:spcPts val="2208"/>
              </a:lnSpc>
              <a:buFont typeface="Arial"/>
              <a:buChar char="•"/>
            </a:pPr>
            <a:r>
              <a:rPr lang="en-US" b="true" sz="1600">
                <a:solidFill>
                  <a:srgbClr val="FFFFFF"/>
                </a:solidFill>
                <a:latin typeface="Almarai Bold"/>
                <a:ea typeface="Almarai Bold"/>
                <a:cs typeface="Almarai Bold"/>
                <a:sym typeface="Almarai Bold"/>
              </a:rPr>
              <a:t> Tampering o DoS del layer di guardrail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Freeform 10" id="10"/>
          <p:cNvSpPr/>
          <p:nvPr/>
        </p:nvSpPr>
        <p:spPr>
          <a:xfrm flipH="false" flipV="false" rot="0">
            <a:off x="2603325" y="2856788"/>
            <a:ext cx="13081351" cy="6401512"/>
          </a:xfrm>
          <a:custGeom>
            <a:avLst/>
            <a:gdLst/>
            <a:ahLst/>
            <a:cxnLst/>
            <a:rect r="r" b="b" t="t" l="l"/>
            <a:pathLst>
              <a:path h="6401512" w="13081351">
                <a:moveTo>
                  <a:pt x="0" y="0"/>
                </a:moveTo>
                <a:lnTo>
                  <a:pt x="13081350" y="0"/>
                </a:lnTo>
                <a:lnTo>
                  <a:pt x="13081350" y="6401512"/>
                </a:lnTo>
                <a:lnTo>
                  <a:pt x="0" y="6401512"/>
                </a:lnTo>
                <a:lnTo>
                  <a:pt x="0" y="0"/>
                </a:lnTo>
                <a:close/>
              </a:path>
            </a:pathLst>
          </a:custGeom>
          <a:blipFill>
            <a:blip r:embed="rId4"/>
            <a:stretch>
              <a:fillRect l="0" t="0" r="0" b="0"/>
            </a:stretch>
          </a:blipFill>
        </p:spPr>
      </p:sp>
      <p:sp>
        <p:nvSpPr>
          <p:cNvPr name="TextBox 11" id="11"/>
          <p:cNvSpPr txBox="true"/>
          <p:nvPr/>
        </p:nvSpPr>
        <p:spPr>
          <a:xfrm rot="0">
            <a:off x="2766869" y="1467525"/>
            <a:ext cx="12252029"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MAPPATURA OWASP </a:t>
            </a:r>
          </a:p>
        </p:txBody>
      </p:sp>
      <p:sp>
        <p:nvSpPr>
          <p:cNvPr name="TextBox 12" id="12"/>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RISK PRIORITIZATION</a:t>
            </a:r>
          </a:p>
        </p:txBody>
      </p:sp>
      <p:grpSp>
        <p:nvGrpSpPr>
          <p:cNvPr name="Group 11" id="11"/>
          <p:cNvGrpSpPr/>
          <p:nvPr/>
        </p:nvGrpSpPr>
        <p:grpSpPr>
          <a:xfrm rot="-10800000">
            <a:off x="9103516" y="2373424"/>
            <a:ext cx="80969" cy="7607037"/>
            <a:chOff x="0" y="0"/>
            <a:chExt cx="21325" cy="2003499"/>
          </a:xfrm>
        </p:grpSpPr>
        <p:sp>
          <p:nvSpPr>
            <p:cNvPr name="Freeform 12" id="12"/>
            <p:cNvSpPr/>
            <p:nvPr/>
          </p:nvSpPr>
          <p:spPr>
            <a:xfrm flipH="false" flipV="false" rot="0">
              <a:off x="0" y="0"/>
              <a:ext cx="21325" cy="2003499"/>
            </a:xfrm>
            <a:custGeom>
              <a:avLst/>
              <a:gdLst/>
              <a:ahLst/>
              <a:cxnLst/>
              <a:rect r="r" b="b" t="t" l="l"/>
              <a:pathLst>
                <a:path h="2003499" w="21325">
                  <a:moveTo>
                    <a:pt x="0" y="0"/>
                  </a:moveTo>
                  <a:lnTo>
                    <a:pt x="21325" y="0"/>
                  </a:lnTo>
                  <a:lnTo>
                    <a:pt x="21325" y="2003499"/>
                  </a:lnTo>
                  <a:lnTo>
                    <a:pt x="0" y="2003499"/>
                  </a:lnTo>
                  <a:close/>
                </a:path>
              </a:pathLst>
            </a:custGeom>
            <a:solidFill>
              <a:srgbClr val="145DA0"/>
            </a:solidFill>
          </p:spPr>
        </p:sp>
        <p:sp>
          <p:nvSpPr>
            <p:cNvPr name="TextBox 13" id="13"/>
            <p:cNvSpPr txBox="true"/>
            <p:nvPr/>
          </p:nvSpPr>
          <p:spPr>
            <a:xfrm>
              <a:off x="0" y="-47625"/>
              <a:ext cx="21325" cy="2051124"/>
            </a:xfrm>
            <a:prstGeom prst="rect">
              <a:avLst/>
            </a:prstGeom>
          </p:spPr>
          <p:txBody>
            <a:bodyPr anchor="ctr" rtlCol="false" tIns="50800" lIns="50800" bIns="50800" rIns="50800"/>
            <a:lstStyle/>
            <a:p>
              <a:pPr algn="ctr">
                <a:lnSpc>
                  <a:spcPts val="2605"/>
                </a:lnSpc>
              </a:pPr>
            </a:p>
          </p:txBody>
        </p:sp>
      </p:grpSp>
      <p:graphicFrame>
        <p:nvGraphicFramePr>
          <p:cNvPr name="Table 14" id="14"/>
          <p:cNvGraphicFramePr>
            <a:graphicFrameLocks noGrp="true"/>
          </p:cNvGraphicFramePr>
          <p:nvPr/>
        </p:nvGraphicFramePr>
        <p:xfrm>
          <a:off x="11220284" y="4285458"/>
          <a:ext cx="6039016" cy="2581275"/>
        </p:xfrm>
        <a:graphic>
          <a:graphicData uri="http://schemas.openxmlformats.org/drawingml/2006/table">
            <a:tbl>
              <a:tblPr/>
              <a:tblGrid>
                <a:gridCol w="2013005"/>
                <a:gridCol w="2013005"/>
                <a:gridCol w="2013005"/>
              </a:tblGrid>
              <a:tr h="860425">
                <a:tc>
                  <a:txBody>
                    <a:bodyPr anchor="t" rtlCol="false"/>
                    <a:lstStyle/>
                    <a:p>
                      <a:pPr algn="ctr">
                        <a:lnSpc>
                          <a:spcPts val="2380"/>
                        </a:lnSpc>
                        <a:defRPr/>
                      </a:pPr>
                      <a:r>
                        <a:rPr lang="en-US" sz="1700">
                          <a:solidFill>
                            <a:srgbClr val="FFFFFF"/>
                          </a:solidFill>
                          <a:latin typeface="Almarai"/>
                          <a:ea typeface="Almarai"/>
                          <a:cs typeface="Almarai"/>
                          <a:sym typeface="Almarai"/>
                        </a:rPr>
                        <a:t>MEDIO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D3BD68"/>
                    </a:solidFill>
                  </a:tcPr>
                </a:tc>
                <a:tc>
                  <a:txBody>
                    <a:bodyPr anchor="t" rtlCol="false"/>
                    <a:lstStyle/>
                    <a:p>
                      <a:pPr algn="ctr">
                        <a:lnSpc>
                          <a:spcPts val="2380"/>
                        </a:lnSpc>
                        <a:defRPr/>
                      </a:pPr>
                      <a:r>
                        <a:rPr lang="en-US" sz="1700">
                          <a:solidFill>
                            <a:srgbClr val="FFFFFF"/>
                          </a:solidFill>
                          <a:latin typeface="Almarai"/>
                          <a:ea typeface="Almarai"/>
                          <a:cs typeface="Almarai"/>
                          <a:sym typeface="Almarai"/>
                        </a:rPr>
                        <a:t>ALTO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B77A54"/>
                    </a:solidFill>
                  </a:tcPr>
                </a:tc>
                <a:tc>
                  <a:txBody>
                    <a:bodyPr anchor="t" rtlCol="false"/>
                    <a:lstStyle/>
                    <a:p>
                      <a:pPr algn="ctr">
                        <a:lnSpc>
                          <a:spcPts val="2380"/>
                        </a:lnSpc>
                        <a:defRPr/>
                      </a:pPr>
                      <a:r>
                        <a:rPr lang="en-US" sz="1700">
                          <a:solidFill>
                            <a:srgbClr val="FFFFFF"/>
                          </a:solidFill>
                          <a:latin typeface="Almarai"/>
                          <a:ea typeface="Almarai"/>
                          <a:cs typeface="Almarai"/>
                          <a:sym typeface="Almarai"/>
                        </a:rPr>
                        <a:t>CRITICO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760F0F"/>
                    </a:solidFill>
                  </a:tcPr>
                </a:tc>
              </a:tr>
              <a:tr h="860425">
                <a:tc>
                  <a:txBody>
                    <a:bodyPr anchor="t" rtlCol="false"/>
                    <a:lstStyle/>
                    <a:p>
                      <a:pPr algn="ctr">
                        <a:lnSpc>
                          <a:spcPts val="2380"/>
                        </a:lnSpc>
                        <a:defRPr/>
                      </a:pPr>
                      <a:r>
                        <a:rPr lang="en-US" sz="1700">
                          <a:solidFill>
                            <a:srgbClr val="FFFFFF"/>
                          </a:solidFill>
                          <a:latin typeface="Almarai"/>
                          <a:ea typeface="Almarai"/>
                          <a:cs typeface="Almarai"/>
                          <a:sym typeface="Almarai"/>
                        </a:rPr>
                        <a:t>BASSO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235849"/>
                    </a:solidFill>
                  </a:tcPr>
                </a:tc>
                <a:tc>
                  <a:txBody>
                    <a:bodyPr anchor="t" rtlCol="false"/>
                    <a:lstStyle/>
                    <a:p>
                      <a:pPr algn="ctr">
                        <a:lnSpc>
                          <a:spcPts val="2380"/>
                        </a:lnSpc>
                        <a:defRPr/>
                      </a:pPr>
                      <a:r>
                        <a:rPr lang="en-US" sz="1700">
                          <a:solidFill>
                            <a:srgbClr val="FFFFFF"/>
                          </a:solidFill>
                          <a:latin typeface="Almarai"/>
                          <a:ea typeface="Almarai"/>
                          <a:cs typeface="Almarai"/>
                          <a:sym typeface="Almarai"/>
                        </a:rPr>
                        <a:t>MEDIO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D3BD68"/>
                    </a:solidFill>
                  </a:tcPr>
                </a:tc>
                <a:tc>
                  <a:txBody>
                    <a:bodyPr anchor="t" rtlCol="false"/>
                    <a:lstStyle/>
                    <a:p>
                      <a:pPr algn="ctr">
                        <a:lnSpc>
                          <a:spcPts val="2380"/>
                        </a:lnSpc>
                        <a:defRPr/>
                      </a:pPr>
                      <a:r>
                        <a:rPr lang="en-US" sz="1700">
                          <a:solidFill>
                            <a:srgbClr val="FFFFFF"/>
                          </a:solidFill>
                          <a:latin typeface="Almarai"/>
                          <a:ea typeface="Almarai"/>
                          <a:cs typeface="Almarai"/>
                          <a:sym typeface="Almarai"/>
                        </a:rPr>
                        <a:t>ALTO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B77A54"/>
                    </a:solidFill>
                  </a:tcPr>
                </a:tc>
              </a:tr>
              <a:tr h="860425">
                <a:tc>
                  <a:txBody>
                    <a:bodyPr anchor="t" rtlCol="false"/>
                    <a:lstStyle/>
                    <a:p>
                      <a:pPr algn="ctr">
                        <a:lnSpc>
                          <a:spcPts val="2380"/>
                        </a:lnSpc>
                        <a:defRPr/>
                      </a:pPr>
                      <a:r>
                        <a:rPr lang="en-US" sz="1700">
                          <a:solidFill>
                            <a:srgbClr val="FFFFFF"/>
                          </a:solidFill>
                          <a:latin typeface="Almarai"/>
                          <a:ea typeface="Almarai"/>
                          <a:cs typeface="Almarai"/>
                          <a:sym typeface="Almarai"/>
                        </a:rPr>
                        <a:t>BASSO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235849"/>
                    </a:solidFill>
                  </a:tcPr>
                </a:tc>
                <a:tc>
                  <a:txBody>
                    <a:bodyPr anchor="t" rtlCol="false"/>
                    <a:lstStyle/>
                    <a:p>
                      <a:pPr algn="ctr">
                        <a:lnSpc>
                          <a:spcPts val="2380"/>
                        </a:lnSpc>
                        <a:defRPr/>
                      </a:pPr>
                      <a:r>
                        <a:rPr lang="en-US" sz="1700">
                          <a:solidFill>
                            <a:srgbClr val="FFFFFF"/>
                          </a:solidFill>
                          <a:latin typeface="Almarai"/>
                          <a:ea typeface="Almarai"/>
                          <a:cs typeface="Almarai"/>
                          <a:sym typeface="Almarai"/>
                        </a:rPr>
                        <a:t>BASSO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235849"/>
                    </a:solidFill>
                  </a:tcPr>
                </a:tc>
                <a:tc>
                  <a:txBody>
                    <a:bodyPr anchor="t" rtlCol="false"/>
                    <a:lstStyle/>
                    <a:p>
                      <a:pPr algn="ctr">
                        <a:lnSpc>
                          <a:spcPts val="2380"/>
                        </a:lnSpc>
                        <a:defRPr/>
                      </a:pPr>
                      <a:r>
                        <a:rPr lang="en-US" sz="1700">
                          <a:solidFill>
                            <a:srgbClr val="FFFFFF"/>
                          </a:solidFill>
                          <a:latin typeface="Almarai"/>
                          <a:ea typeface="Almarai"/>
                          <a:cs typeface="Almarai"/>
                          <a:sym typeface="Almarai"/>
                        </a:rPr>
                        <a:t>MEDIO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D3BD68"/>
                    </a:solidFill>
                  </a:tcPr>
                </a:tc>
              </a:tr>
            </a:tbl>
          </a:graphicData>
        </a:graphic>
      </p:graphicFrame>
      <p:sp>
        <p:nvSpPr>
          <p:cNvPr name="TextBox 15" id="15"/>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07</a:t>
            </a:r>
          </a:p>
        </p:txBody>
      </p:sp>
      <p:sp>
        <p:nvSpPr>
          <p:cNvPr name="TextBox 16" id="16"/>
          <p:cNvSpPr txBox="true"/>
          <p:nvPr/>
        </p:nvSpPr>
        <p:spPr>
          <a:xfrm rot="0">
            <a:off x="1768405" y="2819923"/>
            <a:ext cx="5750806"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Fattori di valutazione</a:t>
            </a:r>
          </a:p>
        </p:txBody>
      </p:sp>
      <p:sp>
        <p:nvSpPr>
          <p:cNvPr name="TextBox 17" id="17"/>
          <p:cNvSpPr txBox="true"/>
          <p:nvPr/>
        </p:nvSpPr>
        <p:spPr>
          <a:xfrm rot="0">
            <a:off x="10087216" y="2686108"/>
            <a:ext cx="5216826"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Matrice di rischio</a:t>
            </a:r>
          </a:p>
        </p:txBody>
      </p:sp>
      <p:sp>
        <p:nvSpPr>
          <p:cNvPr name="TextBox 18" id="18"/>
          <p:cNvSpPr txBox="true"/>
          <p:nvPr/>
        </p:nvSpPr>
        <p:spPr>
          <a:xfrm rot="0">
            <a:off x="1028700" y="3630464"/>
            <a:ext cx="7809432" cy="5385682"/>
          </a:xfrm>
          <a:prstGeom prst="rect">
            <a:avLst/>
          </a:prstGeom>
        </p:spPr>
        <p:txBody>
          <a:bodyPr anchor="t" rtlCol="false" tIns="0" lIns="0" bIns="0" rIns="0">
            <a:spAutoFit/>
          </a:bodyPr>
          <a:lstStyle/>
          <a:p>
            <a:pPr algn="l">
              <a:lnSpc>
                <a:spcPts val="3035"/>
              </a:lnSpc>
            </a:pPr>
            <a:r>
              <a:rPr lang="en-US" sz="2199" b="true">
                <a:solidFill>
                  <a:srgbClr val="FFFFFF"/>
                </a:solidFill>
                <a:latin typeface="Almarai Bold"/>
                <a:ea typeface="Almarai Bold"/>
                <a:cs typeface="Almarai Bold"/>
                <a:sym typeface="Almarai Bold"/>
              </a:rPr>
              <a:t>Severity (impatto)</a:t>
            </a:r>
            <a:r>
              <a:rPr lang="en-US" sz="2199">
                <a:solidFill>
                  <a:srgbClr val="FFFFFF"/>
                </a:solidFill>
                <a:latin typeface="Almarai"/>
                <a:ea typeface="Almarai"/>
                <a:cs typeface="Almarai"/>
                <a:sym typeface="Almarai"/>
              </a:rPr>
              <a:t>: esprime la gravità delle conseguenze dello scenario. Considera:</a:t>
            </a:r>
          </a:p>
          <a:p>
            <a:pPr algn="l" marL="474976" indent="-237488" lvl="1">
              <a:lnSpc>
                <a:spcPts val="3035"/>
              </a:lnSpc>
              <a:buFont typeface="Arial"/>
              <a:buChar char="•"/>
            </a:pPr>
            <a:r>
              <a:rPr lang="en-US" sz="2199">
                <a:solidFill>
                  <a:srgbClr val="FFFFFF"/>
                </a:solidFill>
                <a:latin typeface="Almarai"/>
                <a:ea typeface="Almarai"/>
                <a:cs typeface="Almarai"/>
                <a:sym typeface="Almarai"/>
              </a:rPr>
              <a:t>Violazione delle proprietà CIA3-R</a:t>
            </a:r>
          </a:p>
          <a:p>
            <a:pPr algn="l" marL="474976" indent="-237488" lvl="1">
              <a:lnSpc>
                <a:spcPts val="3035"/>
              </a:lnSpc>
              <a:buFont typeface="Arial"/>
              <a:buChar char="•"/>
            </a:pPr>
            <a:r>
              <a:rPr lang="en-US" sz="2199">
                <a:solidFill>
                  <a:srgbClr val="FFFFFF"/>
                </a:solidFill>
                <a:latin typeface="Almarai"/>
                <a:ea typeface="Almarai"/>
                <a:cs typeface="Almarai"/>
                <a:sym typeface="Almarai"/>
              </a:rPr>
              <a:t>Persistenza del danno</a:t>
            </a:r>
          </a:p>
          <a:p>
            <a:pPr algn="l" marL="474976" indent="-237488" lvl="1">
              <a:lnSpc>
                <a:spcPts val="3035"/>
              </a:lnSpc>
              <a:buFont typeface="Arial"/>
              <a:buChar char="•"/>
            </a:pPr>
            <a:r>
              <a:rPr lang="en-US" sz="2199">
                <a:solidFill>
                  <a:srgbClr val="FFFFFF"/>
                </a:solidFill>
                <a:latin typeface="Almarai"/>
                <a:ea typeface="Almarai"/>
                <a:cs typeface="Almarai"/>
                <a:sym typeface="Almarai"/>
              </a:rPr>
              <a:t>Propagazione ai servizi  downstream</a:t>
            </a:r>
          </a:p>
          <a:p>
            <a:pPr algn="l">
              <a:lnSpc>
                <a:spcPts val="3035"/>
              </a:lnSpc>
            </a:pPr>
          </a:p>
          <a:p>
            <a:pPr algn="l">
              <a:lnSpc>
                <a:spcPts val="3035"/>
              </a:lnSpc>
            </a:pPr>
            <a:r>
              <a:rPr lang="en-US" sz="2199" b="true">
                <a:solidFill>
                  <a:srgbClr val="FFFFFF"/>
                </a:solidFill>
                <a:latin typeface="Almarai Bold"/>
                <a:ea typeface="Almarai Bold"/>
                <a:cs typeface="Almarai Bold"/>
                <a:sym typeface="Almarai Bold"/>
              </a:rPr>
              <a:t>Likelihood (probabilità)</a:t>
            </a:r>
            <a:r>
              <a:rPr lang="en-US" sz="2199">
                <a:solidFill>
                  <a:srgbClr val="FFFFFF"/>
                </a:solidFill>
                <a:latin typeface="Almarai"/>
                <a:ea typeface="Almarai"/>
                <a:cs typeface="Almarai"/>
                <a:sym typeface="Almarai"/>
              </a:rPr>
              <a:t>: esprime la fattibilità di un attacco. Considera:</a:t>
            </a:r>
          </a:p>
          <a:p>
            <a:pPr algn="l" marL="474976" indent="-237488" lvl="1">
              <a:lnSpc>
                <a:spcPts val="3035"/>
              </a:lnSpc>
              <a:buFont typeface="Arial"/>
              <a:buChar char="•"/>
            </a:pPr>
            <a:r>
              <a:rPr lang="en-US" sz="2199">
                <a:solidFill>
                  <a:srgbClr val="FFFFFF"/>
                </a:solidFill>
                <a:latin typeface="Almarai"/>
                <a:ea typeface="Almarai"/>
                <a:cs typeface="Almarai"/>
                <a:sym typeface="Almarai"/>
              </a:rPr>
              <a:t> Accessibilità del vettore</a:t>
            </a:r>
          </a:p>
          <a:p>
            <a:pPr algn="l" marL="474976" indent="-237488" lvl="1">
              <a:lnSpc>
                <a:spcPts val="3035"/>
              </a:lnSpc>
              <a:buFont typeface="Arial"/>
              <a:buChar char="•"/>
            </a:pPr>
            <a:r>
              <a:rPr lang="en-US" sz="2199">
                <a:solidFill>
                  <a:srgbClr val="FFFFFF"/>
                </a:solidFill>
                <a:latin typeface="Almarai"/>
                <a:ea typeface="Almarai"/>
                <a:cs typeface="Almarai"/>
                <a:sym typeface="Almarai"/>
              </a:rPr>
              <a:t>Privilegi e precondizioni richiesti</a:t>
            </a:r>
          </a:p>
          <a:p>
            <a:pPr algn="l" marL="474976" indent="-237488" lvl="1">
              <a:lnSpc>
                <a:spcPts val="3035"/>
              </a:lnSpc>
              <a:buFont typeface="Arial"/>
              <a:buChar char="•"/>
            </a:pPr>
            <a:r>
              <a:rPr lang="en-US" sz="2199">
                <a:solidFill>
                  <a:srgbClr val="FFFFFF"/>
                </a:solidFill>
                <a:latin typeface="Almarai"/>
                <a:ea typeface="Almarai"/>
                <a:cs typeface="Almarai"/>
                <a:sym typeface="Almarai"/>
              </a:rPr>
              <a:t>Complessità tecnica</a:t>
            </a:r>
          </a:p>
          <a:p>
            <a:pPr algn="l" marL="474976" indent="-237488" lvl="1">
              <a:lnSpc>
                <a:spcPts val="3035"/>
              </a:lnSpc>
              <a:buFont typeface="Arial"/>
              <a:buChar char="•"/>
            </a:pPr>
            <a:r>
              <a:rPr lang="en-US" sz="2199">
                <a:solidFill>
                  <a:srgbClr val="FFFFFF"/>
                </a:solidFill>
                <a:latin typeface="Almarai"/>
                <a:ea typeface="Almarai"/>
                <a:cs typeface="Almarai"/>
                <a:sym typeface="Almarai"/>
              </a:rPr>
              <a:t>Esposizione di Knowledge Base e Supply Chain</a:t>
            </a:r>
          </a:p>
        </p:txBody>
      </p:sp>
      <p:sp>
        <p:nvSpPr>
          <p:cNvPr name="TextBox 19" id="19"/>
          <p:cNvSpPr txBox="true"/>
          <p:nvPr/>
        </p:nvSpPr>
        <p:spPr>
          <a:xfrm rot="-5400000">
            <a:off x="8874224" y="5246613"/>
            <a:ext cx="1845308" cy="455094"/>
          </a:xfrm>
          <a:prstGeom prst="rect">
            <a:avLst/>
          </a:prstGeom>
        </p:spPr>
        <p:txBody>
          <a:bodyPr anchor="t" rtlCol="false" tIns="0" lIns="0" bIns="0" rIns="0">
            <a:spAutoFit/>
          </a:bodyPr>
          <a:lstStyle/>
          <a:p>
            <a:pPr algn="l">
              <a:lnSpc>
                <a:spcPts val="3035"/>
              </a:lnSpc>
            </a:pPr>
            <a:r>
              <a:rPr lang="en-US" b="true" sz="2199">
                <a:solidFill>
                  <a:srgbClr val="FFFFFF"/>
                </a:solidFill>
                <a:latin typeface="Almarai Bold"/>
                <a:ea typeface="Almarai Bold"/>
                <a:cs typeface="Almarai Bold"/>
                <a:sym typeface="Almarai Bold"/>
              </a:rPr>
              <a:t>Likelihood</a:t>
            </a:r>
          </a:p>
        </p:txBody>
      </p:sp>
      <p:sp>
        <p:nvSpPr>
          <p:cNvPr name="TextBox 20" id="20"/>
          <p:cNvSpPr txBox="true"/>
          <p:nvPr/>
        </p:nvSpPr>
        <p:spPr>
          <a:xfrm rot="0">
            <a:off x="10262512" y="4513406"/>
            <a:ext cx="696344" cy="366746"/>
          </a:xfrm>
          <a:prstGeom prst="rect">
            <a:avLst/>
          </a:prstGeom>
        </p:spPr>
        <p:txBody>
          <a:bodyPr anchor="t" rtlCol="false" tIns="0" lIns="0" bIns="0" rIns="0">
            <a:spAutoFit/>
          </a:bodyPr>
          <a:lstStyle/>
          <a:p>
            <a:pPr algn="l">
              <a:lnSpc>
                <a:spcPts val="2483"/>
              </a:lnSpc>
            </a:pPr>
            <a:r>
              <a:rPr lang="en-US" sz="1799">
                <a:solidFill>
                  <a:srgbClr val="FFFFFF"/>
                </a:solidFill>
                <a:latin typeface="Almarai"/>
                <a:ea typeface="Almarai"/>
                <a:cs typeface="Almarai"/>
                <a:sym typeface="Almarai"/>
              </a:rPr>
              <a:t>Alta</a:t>
            </a:r>
          </a:p>
        </p:txBody>
      </p:sp>
      <p:sp>
        <p:nvSpPr>
          <p:cNvPr name="TextBox 21" id="21"/>
          <p:cNvSpPr txBox="true"/>
          <p:nvPr/>
        </p:nvSpPr>
        <p:spPr>
          <a:xfrm rot="0">
            <a:off x="10262512" y="5373672"/>
            <a:ext cx="829694" cy="366746"/>
          </a:xfrm>
          <a:prstGeom prst="rect">
            <a:avLst/>
          </a:prstGeom>
        </p:spPr>
        <p:txBody>
          <a:bodyPr anchor="t" rtlCol="false" tIns="0" lIns="0" bIns="0" rIns="0">
            <a:spAutoFit/>
          </a:bodyPr>
          <a:lstStyle/>
          <a:p>
            <a:pPr algn="l">
              <a:lnSpc>
                <a:spcPts val="2483"/>
              </a:lnSpc>
            </a:pPr>
            <a:r>
              <a:rPr lang="en-US" sz="1799">
                <a:solidFill>
                  <a:srgbClr val="FFFFFF"/>
                </a:solidFill>
                <a:latin typeface="Almarai"/>
                <a:ea typeface="Almarai"/>
                <a:cs typeface="Almarai"/>
                <a:sym typeface="Almarai"/>
              </a:rPr>
              <a:t>Media</a:t>
            </a:r>
          </a:p>
        </p:txBody>
      </p:sp>
      <p:sp>
        <p:nvSpPr>
          <p:cNvPr name="TextBox 22" id="22"/>
          <p:cNvSpPr txBox="true"/>
          <p:nvPr/>
        </p:nvSpPr>
        <p:spPr>
          <a:xfrm rot="0">
            <a:off x="10262272" y="6148329"/>
            <a:ext cx="963044" cy="366746"/>
          </a:xfrm>
          <a:prstGeom prst="rect">
            <a:avLst/>
          </a:prstGeom>
        </p:spPr>
        <p:txBody>
          <a:bodyPr anchor="t" rtlCol="false" tIns="0" lIns="0" bIns="0" rIns="0">
            <a:spAutoFit/>
          </a:bodyPr>
          <a:lstStyle/>
          <a:p>
            <a:pPr algn="l">
              <a:lnSpc>
                <a:spcPts val="2483"/>
              </a:lnSpc>
            </a:pPr>
            <a:r>
              <a:rPr lang="en-US" sz="1799">
                <a:solidFill>
                  <a:srgbClr val="FFFFFF"/>
                </a:solidFill>
                <a:latin typeface="Almarai"/>
                <a:ea typeface="Almarai"/>
                <a:cs typeface="Almarai"/>
                <a:sym typeface="Almarai"/>
              </a:rPr>
              <a:t>Bassa</a:t>
            </a:r>
          </a:p>
        </p:txBody>
      </p:sp>
      <p:sp>
        <p:nvSpPr>
          <p:cNvPr name="TextBox 23" id="23"/>
          <p:cNvSpPr txBox="true"/>
          <p:nvPr/>
        </p:nvSpPr>
        <p:spPr>
          <a:xfrm rot="0">
            <a:off x="13419074" y="7613334"/>
            <a:ext cx="1499231" cy="455094"/>
          </a:xfrm>
          <a:prstGeom prst="rect">
            <a:avLst/>
          </a:prstGeom>
        </p:spPr>
        <p:txBody>
          <a:bodyPr anchor="t" rtlCol="false" tIns="0" lIns="0" bIns="0" rIns="0">
            <a:spAutoFit/>
          </a:bodyPr>
          <a:lstStyle/>
          <a:p>
            <a:pPr algn="l">
              <a:lnSpc>
                <a:spcPts val="3035"/>
              </a:lnSpc>
            </a:pPr>
            <a:r>
              <a:rPr lang="en-US" b="true" sz="2199">
                <a:solidFill>
                  <a:srgbClr val="FFFFFF"/>
                </a:solidFill>
                <a:latin typeface="Almarai Bold"/>
                <a:ea typeface="Almarai Bold"/>
                <a:cs typeface="Almarai Bold"/>
                <a:sym typeface="Almarai Bold"/>
              </a:rPr>
              <a:t>Severity</a:t>
            </a:r>
          </a:p>
        </p:txBody>
      </p:sp>
      <p:sp>
        <p:nvSpPr>
          <p:cNvPr name="TextBox 24" id="24"/>
          <p:cNvSpPr txBox="true"/>
          <p:nvPr/>
        </p:nvSpPr>
        <p:spPr>
          <a:xfrm rot="0">
            <a:off x="16084902" y="7029865"/>
            <a:ext cx="696344" cy="366746"/>
          </a:xfrm>
          <a:prstGeom prst="rect">
            <a:avLst/>
          </a:prstGeom>
        </p:spPr>
        <p:txBody>
          <a:bodyPr anchor="t" rtlCol="false" tIns="0" lIns="0" bIns="0" rIns="0">
            <a:spAutoFit/>
          </a:bodyPr>
          <a:lstStyle/>
          <a:p>
            <a:pPr algn="l">
              <a:lnSpc>
                <a:spcPts val="2483"/>
              </a:lnSpc>
            </a:pPr>
            <a:r>
              <a:rPr lang="en-US" sz="1799">
                <a:solidFill>
                  <a:srgbClr val="FFFFFF"/>
                </a:solidFill>
                <a:latin typeface="Almarai"/>
                <a:ea typeface="Almarai"/>
                <a:cs typeface="Almarai"/>
                <a:sym typeface="Almarai"/>
              </a:rPr>
              <a:t>Alta</a:t>
            </a:r>
          </a:p>
        </p:txBody>
      </p:sp>
      <p:sp>
        <p:nvSpPr>
          <p:cNvPr name="TextBox 25" id="25"/>
          <p:cNvSpPr txBox="true"/>
          <p:nvPr/>
        </p:nvSpPr>
        <p:spPr>
          <a:xfrm rot="0">
            <a:off x="13824945" y="7029865"/>
            <a:ext cx="829694" cy="366746"/>
          </a:xfrm>
          <a:prstGeom prst="rect">
            <a:avLst/>
          </a:prstGeom>
        </p:spPr>
        <p:txBody>
          <a:bodyPr anchor="t" rtlCol="false" tIns="0" lIns="0" bIns="0" rIns="0">
            <a:spAutoFit/>
          </a:bodyPr>
          <a:lstStyle/>
          <a:p>
            <a:pPr algn="l">
              <a:lnSpc>
                <a:spcPts val="2483"/>
              </a:lnSpc>
            </a:pPr>
            <a:r>
              <a:rPr lang="en-US" sz="1799">
                <a:solidFill>
                  <a:srgbClr val="FFFFFF"/>
                </a:solidFill>
                <a:latin typeface="Almarai"/>
                <a:ea typeface="Almarai"/>
                <a:cs typeface="Almarai"/>
                <a:sym typeface="Almarai"/>
              </a:rPr>
              <a:t>Media</a:t>
            </a:r>
          </a:p>
        </p:txBody>
      </p:sp>
      <p:sp>
        <p:nvSpPr>
          <p:cNvPr name="TextBox 26" id="26"/>
          <p:cNvSpPr txBox="true"/>
          <p:nvPr/>
        </p:nvSpPr>
        <p:spPr>
          <a:xfrm rot="0">
            <a:off x="11685911" y="7029865"/>
            <a:ext cx="963044" cy="366746"/>
          </a:xfrm>
          <a:prstGeom prst="rect">
            <a:avLst/>
          </a:prstGeom>
        </p:spPr>
        <p:txBody>
          <a:bodyPr anchor="t" rtlCol="false" tIns="0" lIns="0" bIns="0" rIns="0">
            <a:spAutoFit/>
          </a:bodyPr>
          <a:lstStyle/>
          <a:p>
            <a:pPr algn="l">
              <a:lnSpc>
                <a:spcPts val="2483"/>
              </a:lnSpc>
            </a:pPr>
            <a:r>
              <a:rPr lang="en-US" sz="1799">
                <a:solidFill>
                  <a:srgbClr val="FFFFFF"/>
                </a:solidFill>
                <a:latin typeface="Almarai"/>
                <a:ea typeface="Almarai"/>
                <a:cs typeface="Almarai"/>
                <a:sym typeface="Almarai"/>
              </a:rPr>
              <a:t>Bassa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LE SETTE PRECAUZIONI</a:t>
            </a:r>
          </a:p>
        </p:txBody>
      </p:sp>
      <p:sp>
        <p:nvSpPr>
          <p:cNvPr name="TextBox 11" id="11"/>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08</a:t>
            </a:r>
          </a:p>
        </p:txBody>
      </p:sp>
      <p:sp>
        <p:nvSpPr>
          <p:cNvPr name="TextBox 12" id="12"/>
          <p:cNvSpPr txBox="true"/>
          <p:nvPr/>
        </p:nvSpPr>
        <p:spPr>
          <a:xfrm rot="0">
            <a:off x="2152487" y="2838973"/>
            <a:ext cx="3661328" cy="616099"/>
          </a:xfrm>
          <a:prstGeom prst="rect">
            <a:avLst/>
          </a:prstGeom>
        </p:spPr>
        <p:txBody>
          <a:bodyPr anchor="t" rtlCol="false" tIns="0" lIns="0" bIns="0" rIns="0">
            <a:spAutoFit/>
          </a:bodyPr>
          <a:lstStyle/>
          <a:p>
            <a:pPr algn="l" marL="0" indent="0" lvl="0">
              <a:lnSpc>
                <a:spcPts val="4140"/>
              </a:lnSpc>
              <a:spcBef>
                <a:spcPct val="0"/>
              </a:spcBef>
            </a:pPr>
            <a:r>
              <a:rPr lang="en-US" b="true" sz="3000">
                <a:solidFill>
                  <a:srgbClr val="17E3B2"/>
                </a:solidFill>
                <a:latin typeface="Almarai Bold"/>
                <a:ea typeface="Almarai Bold"/>
                <a:cs typeface="Almarai Bold"/>
                <a:sym typeface="Almarai Bold"/>
              </a:rPr>
              <a:t>P1: Least Agency</a:t>
            </a:r>
          </a:p>
        </p:txBody>
      </p:sp>
      <p:sp>
        <p:nvSpPr>
          <p:cNvPr name="TextBox 13" id="13"/>
          <p:cNvSpPr txBox="true"/>
          <p:nvPr/>
        </p:nvSpPr>
        <p:spPr>
          <a:xfrm rot="0">
            <a:off x="1922524" y="3537473"/>
            <a:ext cx="4199542" cy="1606027"/>
          </a:xfrm>
          <a:prstGeom prst="rect">
            <a:avLst/>
          </a:prstGeom>
        </p:spPr>
        <p:txBody>
          <a:bodyPr anchor="t" rtlCol="false" tIns="0" lIns="0" bIns="0" rIns="0">
            <a:spAutoFit/>
          </a:bodyPr>
          <a:lstStyle/>
          <a:p>
            <a:pPr algn="l" marL="431797" indent="-215899" lvl="1">
              <a:lnSpc>
                <a:spcPts val="2759"/>
              </a:lnSpc>
              <a:buFont typeface="Arial"/>
              <a:buChar char="•"/>
            </a:pPr>
            <a:r>
              <a:rPr lang="en-US" sz="1999">
                <a:solidFill>
                  <a:srgbClr val="FFFFFF"/>
                </a:solidFill>
                <a:latin typeface="Almarai"/>
                <a:ea typeface="Almarai"/>
                <a:cs typeface="Almarai"/>
                <a:sym typeface="Almarai"/>
              </a:rPr>
              <a:t>Principio del privilegio minimo su azioni e memorie</a:t>
            </a:r>
          </a:p>
          <a:p>
            <a:pPr algn="l" marL="431797" indent="-215899" lvl="1">
              <a:lnSpc>
                <a:spcPts val="2759"/>
              </a:lnSpc>
              <a:buFont typeface="Arial"/>
              <a:buChar char="•"/>
            </a:pPr>
            <a:r>
              <a:rPr lang="en-US" sz="1999">
                <a:solidFill>
                  <a:srgbClr val="FFFFFF"/>
                </a:solidFill>
                <a:latin typeface="Almarai"/>
                <a:ea typeface="Almarai"/>
                <a:cs typeface="Almarai"/>
                <a:sym typeface="Almarai"/>
              </a:rPr>
              <a:t>A</a:t>
            </a:r>
            <a:r>
              <a:rPr lang="en-US" sz="1999">
                <a:solidFill>
                  <a:srgbClr val="FFFFFF"/>
                </a:solidFill>
                <a:latin typeface="Almarai"/>
                <a:ea typeface="Almarai"/>
                <a:cs typeface="Almarai"/>
                <a:sym typeface="Almarai"/>
              </a:rPr>
              <a:t>utonomia circoscritta al solo compito previsto</a:t>
            </a:r>
          </a:p>
        </p:txBody>
      </p:sp>
      <p:sp>
        <p:nvSpPr>
          <p:cNvPr name="TextBox 14" id="14"/>
          <p:cNvSpPr txBox="true"/>
          <p:nvPr/>
        </p:nvSpPr>
        <p:spPr>
          <a:xfrm rot="0">
            <a:off x="7143880" y="2838973"/>
            <a:ext cx="3661328" cy="616099"/>
          </a:xfrm>
          <a:prstGeom prst="rect">
            <a:avLst/>
          </a:prstGeom>
        </p:spPr>
        <p:txBody>
          <a:bodyPr anchor="t" rtlCol="false" tIns="0" lIns="0" bIns="0" rIns="0">
            <a:spAutoFit/>
          </a:bodyPr>
          <a:lstStyle/>
          <a:p>
            <a:pPr algn="l" marL="0" indent="0" lvl="0">
              <a:lnSpc>
                <a:spcPts val="4140"/>
              </a:lnSpc>
              <a:spcBef>
                <a:spcPct val="0"/>
              </a:spcBef>
            </a:pPr>
            <a:r>
              <a:rPr lang="en-US" b="true" sz="3000">
                <a:solidFill>
                  <a:srgbClr val="17E3B2"/>
                </a:solidFill>
                <a:latin typeface="Almarai Bold"/>
                <a:ea typeface="Almarai Bold"/>
                <a:cs typeface="Almarai Bold"/>
                <a:sym typeface="Almarai Bold"/>
              </a:rPr>
              <a:t>P2: Guardrail </a:t>
            </a:r>
          </a:p>
        </p:txBody>
      </p:sp>
      <p:sp>
        <p:nvSpPr>
          <p:cNvPr name="TextBox 15" id="15"/>
          <p:cNvSpPr txBox="true"/>
          <p:nvPr/>
        </p:nvSpPr>
        <p:spPr>
          <a:xfrm rot="0">
            <a:off x="6913916" y="3537473"/>
            <a:ext cx="4812778" cy="1606027"/>
          </a:xfrm>
          <a:prstGeom prst="rect">
            <a:avLst/>
          </a:prstGeom>
        </p:spPr>
        <p:txBody>
          <a:bodyPr anchor="t" rtlCol="false" tIns="0" lIns="0" bIns="0" rIns="0">
            <a:spAutoFit/>
          </a:bodyPr>
          <a:lstStyle/>
          <a:p>
            <a:pPr algn="l" marL="431797" indent="-215899" lvl="1">
              <a:lnSpc>
                <a:spcPts val="2759"/>
              </a:lnSpc>
              <a:buFont typeface="Arial"/>
              <a:buChar char="•"/>
            </a:pPr>
            <a:r>
              <a:rPr lang="en-US" sz="1999">
                <a:solidFill>
                  <a:srgbClr val="FFFFFF"/>
                </a:solidFill>
                <a:latin typeface="Almarai"/>
                <a:ea typeface="Almarai"/>
                <a:cs typeface="Almarai"/>
                <a:sym typeface="Almarai"/>
              </a:rPr>
              <a:t>Validazione deterministica di I/O</a:t>
            </a:r>
          </a:p>
          <a:p>
            <a:pPr algn="l" marL="431797" indent="-215899" lvl="1">
              <a:lnSpc>
                <a:spcPts val="2759"/>
              </a:lnSpc>
              <a:buFont typeface="Arial"/>
              <a:buChar char="•"/>
            </a:pPr>
            <a:r>
              <a:rPr lang="en-US" sz="1999">
                <a:solidFill>
                  <a:srgbClr val="FFFFFF"/>
                </a:solidFill>
                <a:latin typeface="Almarai"/>
                <a:ea typeface="Almarai"/>
                <a:cs typeface="Almarai"/>
                <a:sym typeface="Almarai"/>
              </a:rPr>
              <a:t>Strict schema</a:t>
            </a:r>
          </a:p>
          <a:p>
            <a:pPr algn="l" marL="431797" indent="-215899" lvl="1">
              <a:lnSpc>
                <a:spcPts val="2759"/>
              </a:lnSpc>
              <a:buFont typeface="Arial"/>
              <a:buChar char="•"/>
            </a:pPr>
            <a:r>
              <a:rPr lang="en-US" sz="1999">
                <a:solidFill>
                  <a:srgbClr val="FFFFFF"/>
                </a:solidFill>
                <a:latin typeface="Almarai"/>
                <a:ea typeface="Almarai"/>
                <a:cs typeface="Almarai"/>
                <a:sym typeface="Almarai"/>
              </a:rPr>
              <a:t>Fallback sicuro e HIL su modifiche</a:t>
            </a:r>
          </a:p>
        </p:txBody>
      </p:sp>
      <p:sp>
        <p:nvSpPr>
          <p:cNvPr name="TextBox 16" id="16"/>
          <p:cNvSpPr txBox="true"/>
          <p:nvPr/>
        </p:nvSpPr>
        <p:spPr>
          <a:xfrm rot="0">
            <a:off x="12518544" y="2838973"/>
            <a:ext cx="3661328" cy="616099"/>
          </a:xfrm>
          <a:prstGeom prst="rect">
            <a:avLst/>
          </a:prstGeom>
        </p:spPr>
        <p:txBody>
          <a:bodyPr anchor="t" rtlCol="false" tIns="0" lIns="0" bIns="0" rIns="0">
            <a:spAutoFit/>
          </a:bodyPr>
          <a:lstStyle/>
          <a:p>
            <a:pPr algn="l" marL="0" indent="0" lvl="0">
              <a:lnSpc>
                <a:spcPts val="4140"/>
              </a:lnSpc>
              <a:spcBef>
                <a:spcPct val="0"/>
              </a:spcBef>
            </a:pPr>
            <a:r>
              <a:rPr lang="en-US" b="true" sz="3000">
                <a:solidFill>
                  <a:srgbClr val="17E3B2"/>
                </a:solidFill>
                <a:latin typeface="Almarai Bold"/>
                <a:ea typeface="Almarai Bold"/>
                <a:cs typeface="Almarai Bold"/>
                <a:sym typeface="Almarai Bold"/>
              </a:rPr>
              <a:t>P3: Sandboxing</a:t>
            </a:r>
          </a:p>
        </p:txBody>
      </p:sp>
      <p:sp>
        <p:nvSpPr>
          <p:cNvPr name="TextBox 17" id="17"/>
          <p:cNvSpPr txBox="true"/>
          <p:nvPr/>
        </p:nvSpPr>
        <p:spPr>
          <a:xfrm rot="0">
            <a:off x="12288581" y="3537473"/>
            <a:ext cx="4076895" cy="1606027"/>
          </a:xfrm>
          <a:prstGeom prst="rect">
            <a:avLst/>
          </a:prstGeom>
        </p:spPr>
        <p:txBody>
          <a:bodyPr anchor="t" rtlCol="false" tIns="0" lIns="0" bIns="0" rIns="0">
            <a:spAutoFit/>
          </a:bodyPr>
          <a:lstStyle/>
          <a:p>
            <a:pPr algn="l" marL="431797" indent="-215899" lvl="1">
              <a:lnSpc>
                <a:spcPts val="2759"/>
              </a:lnSpc>
              <a:buFont typeface="Arial"/>
              <a:buChar char="•"/>
            </a:pPr>
            <a:r>
              <a:rPr lang="en-US" sz="1999">
                <a:solidFill>
                  <a:srgbClr val="FFFFFF"/>
                </a:solidFill>
                <a:latin typeface="Almarai"/>
                <a:ea typeface="Almarai"/>
                <a:cs typeface="Almarai"/>
                <a:sym typeface="Almarai"/>
              </a:rPr>
              <a:t>Esecuzioni in container</a:t>
            </a:r>
          </a:p>
          <a:p>
            <a:pPr algn="l" marL="431797" indent="-215899" lvl="1">
              <a:lnSpc>
                <a:spcPts val="2759"/>
              </a:lnSpc>
              <a:buFont typeface="Arial"/>
              <a:buChar char="•"/>
            </a:pPr>
            <a:r>
              <a:rPr lang="en-US" sz="1999">
                <a:solidFill>
                  <a:srgbClr val="FFFFFF"/>
                </a:solidFill>
                <a:latin typeface="Almarai"/>
                <a:ea typeface="Almarai"/>
                <a:cs typeface="Almarai"/>
                <a:sym typeface="Almarai"/>
              </a:rPr>
              <a:t>Policy deny-by-default</a:t>
            </a:r>
          </a:p>
          <a:p>
            <a:pPr algn="l" marL="431797" indent="-215899" lvl="1">
              <a:lnSpc>
                <a:spcPts val="2759"/>
              </a:lnSpc>
              <a:buFont typeface="Arial"/>
              <a:buChar char="•"/>
            </a:pPr>
            <a:r>
              <a:rPr lang="en-US" sz="1999">
                <a:solidFill>
                  <a:srgbClr val="FFFFFF"/>
                </a:solidFill>
                <a:latin typeface="Almarai"/>
                <a:ea typeface="Almarai"/>
                <a:cs typeface="Almarai"/>
                <a:sym typeface="Almarai"/>
              </a:rPr>
              <a:t>Segregazione delle memorie</a:t>
            </a:r>
          </a:p>
        </p:txBody>
      </p:sp>
      <p:sp>
        <p:nvSpPr>
          <p:cNvPr name="TextBox 18" id="18"/>
          <p:cNvSpPr txBox="true"/>
          <p:nvPr/>
        </p:nvSpPr>
        <p:spPr>
          <a:xfrm rot="0">
            <a:off x="805921" y="5711715"/>
            <a:ext cx="3661328" cy="616099"/>
          </a:xfrm>
          <a:prstGeom prst="rect">
            <a:avLst/>
          </a:prstGeom>
        </p:spPr>
        <p:txBody>
          <a:bodyPr anchor="t" rtlCol="false" tIns="0" lIns="0" bIns="0" rIns="0">
            <a:spAutoFit/>
          </a:bodyPr>
          <a:lstStyle/>
          <a:p>
            <a:pPr algn="l" marL="0" indent="0" lvl="0">
              <a:lnSpc>
                <a:spcPts val="4140"/>
              </a:lnSpc>
              <a:spcBef>
                <a:spcPct val="0"/>
              </a:spcBef>
            </a:pPr>
            <a:r>
              <a:rPr lang="en-US" b="true" sz="3000">
                <a:solidFill>
                  <a:srgbClr val="17E3B2"/>
                </a:solidFill>
                <a:latin typeface="Almarai Bold"/>
                <a:ea typeface="Almarai Bold"/>
                <a:cs typeface="Almarai Bold"/>
                <a:sym typeface="Almarai Bold"/>
              </a:rPr>
              <a:t>P4: Audit trail</a:t>
            </a:r>
          </a:p>
        </p:txBody>
      </p:sp>
      <p:sp>
        <p:nvSpPr>
          <p:cNvPr name="TextBox 19" id="19"/>
          <p:cNvSpPr txBox="true"/>
          <p:nvPr/>
        </p:nvSpPr>
        <p:spPr>
          <a:xfrm rot="0">
            <a:off x="575958" y="6410215"/>
            <a:ext cx="4076895" cy="1202615"/>
          </a:xfrm>
          <a:prstGeom prst="rect">
            <a:avLst/>
          </a:prstGeom>
        </p:spPr>
        <p:txBody>
          <a:bodyPr anchor="t" rtlCol="false" tIns="0" lIns="0" bIns="0" rIns="0">
            <a:spAutoFit/>
          </a:bodyPr>
          <a:lstStyle/>
          <a:p>
            <a:pPr algn="l" marL="431797" indent="-215899" lvl="1">
              <a:lnSpc>
                <a:spcPts val="2759"/>
              </a:lnSpc>
              <a:buFont typeface="Arial"/>
              <a:buChar char="•"/>
            </a:pPr>
            <a:r>
              <a:rPr lang="en-US" sz="1999">
                <a:solidFill>
                  <a:srgbClr val="FFFFFF"/>
                </a:solidFill>
                <a:latin typeface="Almarai"/>
                <a:ea typeface="Almarai"/>
                <a:cs typeface="Almarai"/>
                <a:sym typeface="Almarai"/>
              </a:rPr>
              <a:t>Tracciabilità forense</a:t>
            </a:r>
          </a:p>
          <a:p>
            <a:pPr algn="l" marL="431797" indent="-215899" lvl="1">
              <a:lnSpc>
                <a:spcPts val="2759"/>
              </a:lnSpc>
              <a:buFont typeface="Arial"/>
              <a:buChar char="•"/>
            </a:pPr>
            <a:r>
              <a:rPr lang="en-US" sz="1999">
                <a:solidFill>
                  <a:srgbClr val="FFFFFF"/>
                </a:solidFill>
                <a:latin typeface="Almarai"/>
                <a:ea typeface="Almarai"/>
                <a:cs typeface="Almarai"/>
                <a:sym typeface="Almarai"/>
              </a:rPr>
              <a:t>Registrazione immutabile di metadati</a:t>
            </a:r>
          </a:p>
        </p:txBody>
      </p:sp>
      <p:sp>
        <p:nvSpPr>
          <p:cNvPr name="TextBox 20" id="20"/>
          <p:cNvSpPr txBox="true"/>
          <p:nvPr/>
        </p:nvSpPr>
        <p:spPr>
          <a:xfrm rot="0">
            <a:off x="5066182" y="5711715"/>
            <a:ext cx="3661328" cy="1243629"/>
          </a:xfrm>
          <a:prstGeom prst="rect">
            <a:avLst/>
          </a:prstGeom>
        </p:spPr>
        <p:txBody>
          <a:bodyPr anchor="t" rtlCol="false" tIns="0" lIns="0" bIns="0" rIns="0">
            <a:spAutoFit/>
          </a:bodyPr>
          <a:lstStyle/>
          <a:p>
            <a:pPr algn="l">
              <a:lnSpc>
                <a:spcPts val="4140"/>
              </a:lnSpc>
            </a:pPr>
            <a:r>
              <a:rPr lang="en-US" sz="3000" b="true">
                <a:solidFill>
                  <a:srgbClr val="17E3B2"/>
                </a:solidFill>
                <a:latin typeface="Almarai Bold"/>
                <a:ea typeface="Almarai Bold"/>
                <a:cs typeface="Almarai Bold"/>
                <a:sym typeface="Almarai Bold"/>
              </a:rPr>
              <a:t>P5: Supply Chain</a:t>
            </a:r>
          </a:p>
          <a:p>
            <a:pPr algn="l" marL="0" indent="0" lvl="0">
              <a:lnSpc>
                <a:spcPts val="4140"/>
              </a:lnSpc>
              <a:spcBef>
                <a:spcPct val="0"/>
              </a:spcBef>
            </a:pPr>
          </a:p>
        </p:txBody>
      </p:sp>
      <p:sp>
        <p:nvSpPr>
          <p:cNvPr name="TextBox 21" id="21"/>
          <p:cNvSpPr txBox="true"/>
          <p:nvPr/>
        </p:nvSpPr>
        <p:spPr>
          <a:xfrm rot="0">
            <a:off x="4836219" y="6410215"/>
            <a:ext cx="4076895" cy="2412851"/>
          </a:xfrm>
          <a:prstGeom prst="rect">
            <a:avLst/>
          </a:prstGeom>
        </p:spPr>
        <p:txBody>
          <a:bodyPr anchor="t" rtlCol="false" tIns="0" lIns="0" bIns="0" rIns="0">
            <a:spAutoFit/>
          </a:bodyPr>
          <a:lstStyle/>
          <a:p>
            <a:pPr algn="l" marL="431797" indent="-215899" lvl="1">
              <a:lnSpc>
                <a:spcPts val="2759"/>
              </a:lnSpc>
              <a:buFont typeface="Arial"/>
              <a:buChar char="•"/>
            </a:pPr>
            <a:r>
              <a:rPr lang="en-US" sz="1999">
                <a:solidFill>
                  <a:srgbClr val="FFFFFF"/>
                </a:solidFill>
                <a:latin typeface="Almarai"/>
                <a:ea typeface="Almarai"/>
                <a:cs typeface="Almarai"/>
                <a:sym typeface="Almarai"/>
              </a:rPr>
              <a:t>Verifica preventiva su modelli, container e sw</a:t>
            </a:r>
          </a:p>
          <a:p>
            <a:pPr algn="l" marL="431797" indent="-215899" lvl="1">
              <a:lnSpc>
                <a:spcPts val="2759"/>
              </a:lnSpc>
              <a:buFont typeface="Arial"/>
              <a:buChar char="•"/>
            </a:pPr>
            <a:r>
              <a:rPr lang="en-US" sz="1999">
                <a:solidFill>
                  <a:srgbClr val="FFFFFF"/>
                </a:solidFill>
                <a:latin typeface="Almarai"/>
                <a:ea typeface="Almarai"/>
                <a:cs typeface="Almarai"/>
                <a:sym typeface="Almarai"/>
              </a:rPr>
              <a:t>Richiede registri approvati, hash e firme</a:t>
            </a:r>
          </a:p>
          <a:p>
            <a:pPr algn="l" marL="431797" indent="-215899" lvl="1">
              <a:lnSpc>
                <a:spcPts val="2759"/>
              </a:lnSpc>
              <a:buFont typeface="Arial"/>
              <a:buChar char="•"/>
            </a:pPr>
            <a:r>
              <a:rPr lang="en-US" sz="1999">
                <a:solidFill>
                  <a:srgbClr val="FFFFFF"/>
                </a:solidFill>
                <a:latin typeface="Almarai"/>
                <a:ea typeface="Almarai"/>
                <a:cs typeface="Almarai"/>
                <a:sym typeface="Almarai"/>
              </a:rPr>
              <a:t>Scansioni continue di vulenrabilità</a:t>
            </a:r>
          </a:p>
        </p:txBody>
      </p:sp>
      <p:sp>
        <p:nvSpPr>
          <p:cNvPr name="TextBox 22" id="22"/>
          <p:cNvSpPr txBox="true"/>
          <p:nvPr/>
        </p:nvSpPr>
        <p:spPr>
          <a:xfrm rot="0">
            <a:off x="9512047" y="5711715"/>
            <a:ext cx="3661328" cy="616099"/>
          </a:xfrm>
          <a:prstGeom prst="rect">
            <a:avLst/>
          </a:prstGeom>
        </p:spPr>
        <p:txBody>
          <a:bodyPr anchor="t" rtlCol="false" tIns="0" lIns="0" bIns="0" rIns="0">
            <a:spAutoFit/>
          </a:bodyPr>
          <a:lstStyle/>
          <a:p>
            <a:pPr algn="l" marL="0" indent="0" lvl="0">
              <a:lnSpc>
                <a:spcPts val="4140"/>
              </a:lnSpc>
              <a:spcBef>
                <a:spcPct val="0"/>
              </a:spcBef>
            </a:pPr>
            <a:r>
              <a:rPr lang="en-US" b="true" sz="3000">
                <a:solidFill>
                  <a:srgbClr val="17E3B2"/>
                </a:solidFill>
                <a:latin typeface="Almarai Bold"/>
                <a:ea typeface="Almarai Bold"/>
                <a:cs typeface="Almarai Bold"/>
                <a:sym typeface="Almarai Bold"/>
              </a:rPr>
              <a:t>P6: Monitoraggio</a:t>
            </a:r>
          </a:p>
        </p:txBody>
      </p:sp>
      <p:sp>
        <p:nvSpPr>
          <p:cNvPr name="TextBox 23" id="23"/>
          <p:cNvSpPr txBox="true"/>
          <p:nvPr/>
        </p:nvSpPr>
        <p:spPr>
          <a:xfrm rot="0">
            <a:off x="9282084" y="6410215"/>
            <a:ext cx="4076895" cy="2009439"/>
          </a:xfrm>
          <a:prstGeom prst="rect">
            <a:avLst/>
          </a:prstGeom>
        </p:spPr>
        <p:txBody>
          <a:bodyPr anchor="t" rtlCol="false" tIns="0" lIns="0" bIns="0" rIns="0">
            <a:spAutoFit/>
          </a:bodyPr>
          <a:lstStyle/>
          <a:p>
            <a:pPr algn="l" marL="431797" indent="-215899" lvl="1">
              <a:lnSpc>
                <a:spcPts val="2759"/>
              </a:lnSpc>
              <a:buFont typeface="Arial"/>
              <a:buChar char="•"/>
            </a:pPr>
            <a:r>
              <a:rPr lang="en-US" sz="1999">
                <a:solidFill>
                  <a:srgbClr val="FFFFFF"/>
                </a:solidFill>
                <a:latin typeface="Almarai"/>
                <a:ea typeface="Almarai"/>
                <a:cs typeface="Almarai"/>
                <a:sym typeface="Almarai"/>
              </a:rPr>
              <a:t>Osservabilità runtime del comportamento</a:t>
            </a:r>
          </a:p>
          <a:p>
            <a:pPr algn="l" marL="431797" indent="-215899" lvl="1">
              <a:lnSpc>
                <a:spcPts val="2759"/>
              </a:lnSpc>
              <a:buFont typeface="Arial"/>
              <a:buChar char="•"/>
            </a:pPr>
            <a:r>
              <a:rPr lang="en-US" sz="1999">
                <a:solidFill>
                  <a:srgbClr val="FFFFFF"/>
                </a:solidFill>
                <a:latin typeface="Almarai"/>
                <a:ea typeface="Almarai"/>
                <a:cs typeface="Almarai"/>
                <a:sym typeface="Almarai"/>
              </a:rPr>
              <a:t>Rilevamento anomalie</a:t>
            </a:r>
          </a:p>
          <a:p>
            <a:pPr algn="l" marL="431797" indent="-215899" lvl="1">
              <a:lnSpc>
                <a:spcPts val="2759"/>
              </a:lnSpc>
              <a:buFont typeface="Arial"/>
              <a:buChar char="•"/>
            </a:pPr>
            <a:r>
              <a:rPr lang="en-US" sz="1999">
                <a:solidFill>
                  <a:srgbClr val="FFFFFF"/>
                </a:solidFill>
                <a:latin typeface="Almarai"/>
                <a:ea typeface="Almarai"/>
                <a:cs typeface="Almarai"/>
                <a:sym typeface="Almarai"/>
              </a:rPr>
              <a:t>Circuit-braker e fail-safe automatizzati</a:t>
            </a:r>
          </a:p>
        </p:txBody>
      </p:sp>
      <p:sp>
        <p:nvSpPr>
          <p:cNvPr name="TextBox 24" id="24"/>
          <p:cNvSpPr txBox="true"/>
          <p:nvPr/>
        </p:nvSpPr>
        <p:spPr>
          <a:xfrm rot="0">
            <a:off x="13865110" y="5711715"/>
            <a:ext cx="3661328" cy="616099"/>
          </a:xfrm>
          <a:prstGeom prst="rect">
            <a:avLst/>
          </a:prstGeom>
        </p:spPr>
        <p:txBody>
          <a:bodyPr anchor="t" rtlCol="false" tIns="0" lIns="0" bIns="0" rIns="0">
            <a:spAutoFit/>
          </a:bodyPr>
          <a:lstStyle/>
          <a:p>
            <a:pPr algn="l" marL="0" indent="0" lvl="0">
              <a:lnSpc>
                <a:spcPts val="4140"/>
              </a:lnSpc>
              <a:spcBef>
                <a:spcPct val="0"/>
              </a:spcBef>
            </a:pPr>
            <a:r>
              <a:rPr lang="en-US" b="true" sz="3000">
                <a:solidFill>
                  <a:srgbClr val="17E3B2"/>
                </a:solidFill>
                <a:latin typeface="Almarai Bold"/>
                <a:ea typeface="Almarai Bold"/>
                <a:cs typeface="Almarai Bold"/>
                <a:sym typeface="Almarai Bold"/>
              </a:rPr>
              <a:t>P7: Audit AIVSS</a:t>
            </a:r>
          </a:p>
        </p:txBody>
      </p:sp>
      <p:sp>
        <p:nvSpPr>
          <p:cNvPr name="TextBox 25" id="25"/>
          <p:cNvSpPr txBox="true"/>
          <p:nvPr/>
        </p:nvSpPr>
        <p:spPr>
          <a:xfrm rot="0">
            <a:off x="13635147" y="6410215"/>
            <a:ext cx="4076895" cy="1606027"/>
          </a:xfrm>
          <a:prstGeom prst="rect">
            <a:avLst/>
          </a:prstGeom>
        </p:spPr>
        <p:txBody>
          <a:bodyPr anchor="t" rtlCol="false" tIns="0" lIns="0" bIns="0" rIns="0">
            <a:spAutoFit/>
          </a:bodyPr>
          <a:lstStyle/>
          <a:p>
            <a:pPr algn="l" marL="431797" indent="-215899" lvl="1">
              <a:lnSpc>
                <a:spcPts val="2759"/>
              </a:lnSpc>
              <a:buFont typeface="Arial"/>
              <a:buChar char="•"/>
            </a:pPr>
            <a:r>
              <a:rPr lang="en-US" sz="1999">
                <a:solidFill>
                  <a:srgbClr val="FFFFFF"/>
                </a:solidFill>
                <a:latin typeface="Almarai"/>
                <a:ea typeface="Almarai"/>
                <a:cs typeface="Almarai"/>
                <a:sym typeface="Almarai"/>
              </a:rPr>
              <a:t>Valutazione periodica del profilo di rischio</a:t>
            </a:r>
          </a:p>
          <a:p>
            <a:pPr algn="l" marL="431797" indent="-215899" lvl="1">
              <a:lnSpc>
                <a:spcPts val="2759"/>
              </a:lnSpc>
              <a:buFont typeface="Arial"/>
              <a:buChar char="•"/>
            </a:pPr>
            <a:r>
              <a:rPr lang="en-US" sz="1999">
                <a:solidFill>
                  <a:srgbClr val="FFFFFF"/>
                </a:solidFill>
                <a:latin typeface="Almarai"/>
                <a:ea typeface="Almarai"/>
                <a:cs typeface="Almarai"/>
                <a:sym typeface="Almarai"/>
              </a:rPr>
              <a:t>Utilizzo AIVSS come checklist di conformità</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SCENARI PRIORITARI</a:t>
            </a:r>
          </a:p>
        </p:txBody>
      </p:sp>
      <p:sp>
        <p:nvSpPr>
          <p:cNvPr name="TextBox 11" id="11"/>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09</a:t>
            </a:r>
          </a:p>
        </p:txBody>
      </p:sp>
      <p:sp>
        <p:nvSpPr>
          <p:cNvPr name="TextBox 12" id="12"/>
          <p:cNvSpPr txBox="true"/>
          <p:nvPr/>
        </p:nvSpPr>
        <p:spPr>
          <a:xfrm rot="0">
            <a:off x="1768405" y="2819923"/>
            <a:ext cx="14837544"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Scenari Critici: SC1  - Goal Hijack &amp; Chunk Splitting (ASI01)</a:t>
            </a:r>
          </a:p>
        </p:txBody>
      </p:sp>
      <p:sp>
        <p:nvSpPr>
          <p:cNvPr name="TextBox 13" id="13"/>
          <p:cNvSpPr txBox="true"/>
          <p:nvPr/>
        </p:nvSpPr>
        <p:spPr>
          <a:xfrm rot="0">
            <a:off x="1768405" y="3686461"/>
            <a:ext cx="14555022" cy="5236733"/>
          </a:xfrm>
          <a:prstGeom prst="rect">
            <a:avLst/>
          </a:prstGeom>
        </p:spPr>
        <p:txBody>
          <a:bodyPr anchor="t" rtlCol="false" tIns="0" lIns="0" bIns="0" rIns="0">
            <a:spAutoFit/>
          </a:bodyPr>
          <a:lstStyle/>
          <a:p>
            <a:pPr algn="l">
              <a:lnSpc>
                <a:spcPts val="2759"/>
              </a:lnSpc>
            </a:pPr>
            <a:r>
              <a:rPr lang="en-US" sz="1999" b="true">
                <a:solidFill>
                  <a:srgbClr val="FFFFFF"/>
                </a:solidFill>
                <a:latin typeface="Almarai Bold"/>
                <a:ea typeface="Almarai Bold"/>
                <a:cs typeface="Almarai Bold"/>
                <a:sym typeface="Almarai Bold"/>
              </a:rPr>
              <a:t>Meccanismo di Attacco</a:t>
            </a:r>
          </a:p>
          <a:p>
            <a:pPr algn="l" marL="431797" indent="-215899" lvl="1">
              <a:lnSpc>
                <a:spcPts val="2759"/>
              </a:lnSpc>
              <a:buFont typeface="Arial"/>
              <a:buChar char="•"/>
            </a:pPr>
            <a:r>
              <a:rPr lang="en-US" sz="1999">
                <a:solidFill>
                  <a:srgbClr val="FFFFFF"/>
                </a:solidFill>
                <a:latin typeface="Almarai"/>
                <a:ea typeface="Almarai"/>
                <a:cs typeface="Almarai"/>
                <a:sym typeface="Almarai"/>
              </a:rPr>
              <a:t>L'avversario usa chunk splitting su token parziali o prompt injection sul testo completo/RAG. Il Fast-Brain (&lt;800 ms) esegue l'istruzione deviando filler e trigger; il Deep-Brain genera risposte dannose propagate al video</a:t>
            </a:r>
          </a:p>
          <a:p>
            <a:pPr algn="l">
              <a:lnSpc>
                <a:spcPts val="2759"/>
              </a:lnSpc>
            </a:pPr>
          </a:p>
          <a:p>
            <a:pPr algn="l">
              <a:lnSpc>
                <a:spcPts val="2759"/>
              </a:lnSpc>
            </a:pPr>
            <a:r>
              <a:rPr lang="en-US" sz="1999" b="true">
                <a:solidFill>
                  <a:srgbClr val="FFFFFF"/>
                </a:solidFill>
                <a:latin typeface="Almarai Bold"/>
                <a:ea typeface="Almarai Bold"/>
                <a:cs typeface="Almarai Bold"/>
                <a:sym typeface="Almarai Bold"/>
              </a:rPr>
              <a:t>Proprietà violate</a:t>
            </a:r>
          </a:p>
          <a:p>
            <a:pPr algn="l" marL="431797" indent="-215899" lvl="1">
              <a:lnSpc>
                <a:spcPts val="2759"/>
              </a:lnSpc>
              <a:buFont typeface="Arial"/>
              <a:buChar char="•"/>
            </a:pPr>
            <a:r>
              <a:rPr lang="en-US" sz="1999">
                <a:solidFill>
                  <a:srgbClr val="FFFFFF"/>
                </a:solidFill>
                <a:latin typeface="Almarai"/>
                <a:ea typeface="Almarai"/>
                <a:cs typeface="Almarai"/>
                <a:sym typeface="Almarai"/>
              </a:rPr>
              <a:t>I, Au, Ac</a:t>
            </a:r>
          </a:p>
          <a:p>
            <a:pPr algn="l">
              <a:lnSpc>
                <a:spcPts val="2759"/>
              </a:lnSpc>
            </a:pPr>
          </a:p>
          <a:p>
            <a:pPr algn="l">
              <a:lnSpc>
                <a:spcPts val="2759"/>
              </a:lnSpc>
            </a:pPr>
            <a:r>
              <a:rPr lang="en-US" sz="1999" b="true">
                <a:solidFill>
                  <a:srgbClr val="FFFFFF"/>
                </a:solidFill>
                <a:latin typeface="Almarai Bold"/>
                <a:ea typeface="Almarai Bold"/>
                <a:cs typeface="Almarai Bold"/>
                <a:sym typeface="Almarai Bold"/>
              </a:rPr>
              <a:t>Contromisure</a:t>
            </a:r>
          </a:p>
          <a:p>
            <a:pPr algn="l" marL="431797" indent="-215899" lvl="1">
              <a:lnSpc>
                <a:spcPts val="2759"/>
              </a:lnSpc>
              <a:buFont typeface="Arial"/>
              <a:buChar char="•"/>
            </a:pPr>
            <a:r>
              <a:rPr lang="en-US" sz="1999">
                <a:solidFill>
                  <a:srgbClr val="FFFFFF"/>
                </a:solidFill>
                <a:latin typeface="Almarai"/>
                <a:ea typeface="Almarai"/>
                <a:cs typeface="Almarai"/>
                <a:sym typeface="Almarai"/>
              </a:rPr>
              <a:t>P1: Fast-Brain isolato da memoria e tool downstream; trigger gestuali vincolati ad allowlist chiusa.</a:t>
            </a:r>
          </a:p>
          <a:p>
            <a:pPr algn="l" marL="431797" indent="-215899" lvl="1">
              <a:lnSpc>
                <a:spcPts val="2759"/>
              </a:lnSpc>
              <a:buFont typeface="Arial"/>
              <a:buChar char="•"/>
            </a:pPr>
            <a:r>
              <a:rPr lang="en-US" sz="1999">
                <a:solidFill>
                  <a:srgbClr val="FFFFFF"/>
                </a:solidFill>
                <a:latin typeface="Almarai"/>
                <a:ea typeface="Almarai"/>
                <a:cs typeface="Almarai"/>
                <a:sym typeface="Almarai"/>
              </a:rPr>
              <a:t>P2: M11 valida schema e semantica di input/output; fallback statico su violazione o timeout.</a:t>
            </a:r>
          </a:p>
          <a:p>
            <a:pPr algn="l" marL="431797" indent="-215899" lvl="1">
              <a:lnSpc>
                <a:spcPts val="2759"/>
              </a:lnSpc>
              <a:buFont typeface="Arial"/>
              <a:buChar char="•"/>
            </a:pPr>
            <a:r>
              <a:rPr lang="en-US" sz="1999">
                <a:solidFill>
                  <a:srgbClr val="FFFFFF"/>
                </a:solidFill>
                <a:latin typeface="Almarai"/>
                <a:ea typeface="Almarai"/>
                <a:cs typeface="Almarai"/>
                <a:sym typeface="Almarai"/>
              </a:rPr>
              <a:t>P3: Workload separati per Fast/Deep-Brain; accesso alla Knowledge Base rigorosamente in sola lettura.</a:t>
            </a:r>
          </a:p>
          <a:p>
            <a:pPr algn="l" marL="431797" indent="-215899" lvl="1">
              <a:lnSpc>
                <a:spcPts val="2759"/>
              </a:lnSpc>
              <a:buFont typeface="Arial"/>
              <a:buChar char="•"/>
            </a:pPr>
            <a:r>
              <a:rPr lang="en-US" sz="1999">
                <a:solidFill>
                  <a:srgbClr val="FFFFFF"/>
                </a:solidFill>
                <a:latin typeface="Almarai"/>
                <a:ea typeface="Almarai"/>
                <a:cs typeface="Almarai"/>
                <a:sym typeface="Almarai"/>
              </a:rPr>
              <a:t>P4 &amp; P6: Tracciamento immutabile degli eventi e circuit breaker runtime su anomalie o drift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SCENARI PRIORITARI</a:t>
            </a:r>
          </a:p>
        </p:txBody>
      </p:sp>
      <p:sp>
        <p:nvSpPr>
          <p:cNvPr name="TextBox 11" id="11"/>
          <p:cNvSpPr txBox="true"/>
          <p:nvPr/>
        </p:nvSpPr>
        <p:spPr>
          <a:xfrm rot="0">
            <a:off x="1768405" y="2819923"/>
            <a:ext cx="14837544"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Scenari Critici: SC6  - Memory &amp; Context Poisoning (ASI06)</a:t>
            </a:r>
          </a:p>
        </p:txBody>
      </p:sp>
      <p:sp>
        <p:nvSpPr>
          <p:cNvPr name="TextBox 12" id="12"/>
          <p:cNvSpPr txBox="true"/>
          <p:nvPr/>
        </p:nvSpPr>
        <p:spPr>
          <a:xfrm rot="0">
            <a:off x="1768405" y="3686461"/>
            <a:ext cx="14837544" cy="5640145"/>
          </a:xfrm>
          <a:prstGeom prst="rect">
            <a:avLst/>
          </a:prstGeom>
        </p:spPr>
        <p:txBody>
          <a:bodyPr anchor="t" rtlCol="false" tIns="0" lIns="0" bIns="0" rIns="0">
            <a:spAutoFit/>
          </a:bodyPr>
          <a:lstStyle/>
          <a:p>
            <a:pPr algn="l">
              <a:lnSpc>
                <a:spcPts val="2760"/>
              </a:lnSpc>
            </a:pPr>
            <a:r>
              <a:rPr lang="en-US" sz="2000" b="true">
                <a:solidFill>
                  <a:srgbClr val="FFFFFF"/>
                </a:solidFill>
                <a:latin typeface="Almarai Bold"/>
                <a:ea typeface="Almarai Bold"/>
                <a:cs typeface="Almarai Bold"/>
                <a:sym typeface="Almarai Bold"/>
              </a:rPr>
              <a:t>Meccanismo di Attacco</a:t>
            </a:r>
          </a:p>
          <a:p>
            <a:pPr algn="l" marL="431801" indent="-215900" lvl="1">
              <a:lnSpc>
                <a:spcPts val="2760"/>
              </a:lnSpc>
              <a:buFont typeface="Arial"/>
              <a:buChar char="•"/>
            </a:pPr>
            <a:r>
              <a:rPr lang="en-US" sz="2000">
                <a:solidFill>
                  <a:srgbClr val="FFFFFF"/>
                </a:solidFill>
                <a:latin typeface="Almarai"/>
                <a:ea typeface="Almarai"/>
                <a:cs typeface="Almarai"/>
                <a:sym typeface="Almarai"/>
              </a:rPr>
              <a:t>L'avversario inietta chunk malevoli nell'indice FAISS o altera i feedback (D12) tramite account multipli. Il contenuto avvelenato viene promosso stabilmente in memoria (D4) e recuperato dal Deep-Brain nei turni successivi, generando risposte non sicure con impatto persistente e cross-sessione.</a:t>
            </a:r>
          </a:p>
          <a:p>
            <a:pPr algn="l">
              <a:lnSpc>
                <a:spcPts val="2760"/>
              </a:lnSpc>
            </a:pPr>
          </a:p>
          <a:p>
            <a:pPr algn="l">
              <a:lnSpc>
                <a:spcPts val="2760"/>
              </a:lnSpc>
            </a:pPr>
            <a:r>
              <a:rPr lang="en-US" sz="2000" b="true">
                <a:solidFill>
                  <a:srgbClr val="FFFFFF"/>
                </a:solidFill>
                <a:latin typeface="Almarai Bold"/>
                <a:ea typeface="Almarai Bold"/>
                <a:cs typeface="Almarai Bold"/>
                <a:sym typeface="Almarai Bold"/>
              </a:rPr>
              <a:t>Proprietà violate</a:t>
            </a:r>
          </a:p>
          <a:p>
            <a:pPr algn="l" marL="431801" indent="-215900" lvl="1">
              <a:lnSpc>
                <a:spcPts val="2760"/>
              </a:lnSpc>
              <a:buFont typeface="Arial"/>
              <a:buChar char="•"/>
            </a:pPr>
            <a:r>
              <a:rPr lang="en-US" sz="2000">
                <a:solidFill>
                  <a:srgbClr val="FFFFFF"/>
                </a:solidFill>
                <a:latin typeface="Almarai"/>
                <a:ea typeface="Almarai"/>
                <a:cs typeface="Almarai"/>
                <a:sym typeface="Almarai"/>
              </a:rPr>
              <a:t>I, C, Ac, R</a:t>
            </a:r>
          </a:p>
          <a:p>
            <a:pPr algn="l">
              <a:lnSpc>
                <a:spcPts val="2760"/>
              </a:lnSpc>
            </a:pPr>
          </a:p>
          <a:p>
            <a:pPr algn="l">
              <a:lnSpc>
                <a:spcPts val="2760"/>
              </a:lnSpc>
            </a:pPr>
            <a:r>
              <a:rPr lang="en-US" sz="2000" b="true">
                <a:solidFill>
                  <a:srgbClr val="FFFFFF"/>
                </a:solidFill>
                <a:latin typeface="Almarai Bold"/>
                <a:ea typeface="Almarai Bold"/>
                <a:cs typeface="Almarai Bold"/>
                <a:sym typeface="Almarai Bold"/>
              </a:rPr>
              <a:t>Contromisure</a:t>
            </a:r>
          </a:p>
          <a:p>
            <a:pPr algn="l" marL="431801" indent="-215900" lvl="1">
              <a:lnSpc>
                <a:spcPts val="2760"/>
              </a:lnSpc>
              <a:buFont typeface="Arial"/>
              <a:buChar char="•"/>
            </a:pPr>
            <a:r>
              <a:rPr lang="en-US" sz="2000">
                <a:solidFill>
                  <a:srgbClr val="FFFFFF"/>
                </a:solidFill>
                <a:latin typeface="Almarai"/>
                <a:ea typeface="Almarai"/>
                <a:cs typeface="Almarai"/>
                <a:sym typeface="Almarai"/>
              </a:rPr>
              <a:t>P1: Deep-Brain (M2) e Retriever (M4) privi di permessi di scrittura diretta su KB e few-shot.</a:t>
            </a:r>
          </a:p>
          <a:p>
            <a:pPr algn="l" marL="431801" indent="-215900" lvl="1">
              <a:lnSpc>
                <a:spcPts val="2760"/>
              </a:lnSpc>
              <a:buFont typeface="Arial"/>
              <a:buChar char="•"/>
            </a:pPr>
            <a:r>
              <a:rPr lang="en-US" sz="2000">
                <a:solidFill>
                  <a:srgbClr val="FFFFFF"/>
                </a:solidFill>
                <a:latin typeface="Almarai"/>
                <a:ea typeface="Almarai"/>
                <a:cs typeface="Almarai"/>
                <a:sym typeface="Almarai"/>
              </a:rPr>
              <a:t>P2: Guardrail M11 con rate-limiting sui feedback e approvazione umana obbligatoria per temi ad alto impatto.</a:t>
            </a:r>
          </a:p>
          <a:p>
            <a:pPr algn="l" marL="431801" indent="-215900" lvl="1">
              <a:lnSpc>
                <a:spcPts val="2760"/>
              </a:lnSpc>
              <a:buFont typeface="Arial"/>
              <a:buChar char="•"/>
            </a:pPr>
            <a:r>
              <a:rPr lang="en-US" sz="2000">
                <a:solidFill>
                  <a:srgbClr val="FFFFFF"/>
                </a:solidFill>
                <a:latin typeface="Almarai"/>
                <a:ea typeface="Almarai"/>
                <a:cs typeface="Almarai"/>
                <a:sym typeface="Almarai"/>
              </a:rPr>
              <a:t>P3: Segregazione della memoria per sessione e accesso a FAISS rigorosamente read-only durante il serving.</a:t>
            </a:r>
          </a:p>
          <a:p>
            <a:pPr algn="l" marL="431801" indent="-215900" lvl="1">
              <a:lnSpc>
                <a:spcPts val="2760"/>
              </a:lnSpc>
              <a:buFont typeface="Arial"/>
              <a:buChar char="•"/>
            </a:pPr>
            <a:r>
              <a:rPr lang="en-US" sz="2000">
                <a:solidFill>
                  <a:srgbClr val="FFFFFF"/>
                </a:solidFill>
                <a:latin typeface="Almarai"/>
                <a:ea typeface="Almarai"/>
                <a:cs typeface="Almarai"/>
                <a:sym typeface="Almarai"/>
              </a:rPr>
              <a:t>P4 &amp; P6: Audit log versionato di ogni delta per consentire il rollback e monitoraggio statistico delle anomalie di ranking per il blocco preventivo degli indici.</a:t>
            </a:r>
          </a:p>
        </p:txBody>
      </p:sp>
      <p:sp>
        <p:nvSpPr>
          <p:cNvPr name="TextBox 13" id="13"/>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09</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SCENARI PRIORITARI</a:t>
            </a:r>
          </a:p>
        </p:txBody>
      </p:sp>
      <p:sp>
        <p:nvSpPr>
          <p:cNvPr name="TextBox 11" id="11"/>
          <p:cNvSpPr txBox="true"/>
          <p:nvPr/>
        </p:nvSpPr>
        <p:spPr>
          <a:xfrm rot="0">
            <a:off x="1768405" y="2819923"/>
            <a:ext cx="14837544"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Scenari Alti: SC3  - Identity &amp; Privilege Abuse (ASI03)</a:t>
            </a:r>
          </a:p>
        </p:txBody>
      </p:sp>
      <p:sp>
        <p:nvSpPr>
          <p:cNvPr name="TextBox 12" id="12"/>
          <p:cNvSpPr txBox="true"/>
          <p:nvPr/>
        </p:nvSpPr>
        <p:spPr>
          <a:xfrm rot="0">
            <a:off x="1768405" y="3686461"/>
            <a:ext cx="14953625" cy="6043556"/>
          </a:xfrm>
          <a:prstGeom prst="rect">
            <a:avLst/>
          </a:prstGeom>
        </p:spPr>
        <p:txBody>
          <a:bodyPr anchor="t" rtlCol="false" tIns="0" lIns="0" bIns="0" rIns="0">
            <a:spAutoFit/>
          </a:bodyPr>
          <a:lstStyle/>
          <a:p>
            <a:pPr algn="l">
              <a:lnSpc>
                <a:spcPts val="2759"/>
              </a:lnSpc>
            </a:pPr>
            <a:r>
              <a:rPr lang="en-US" sz="1999" b="true">
                <a:solidFill>
                  <a:srgbClr val="FFFFFF"/>
                </a:solidFill>
                <a:latin typeface="Almarai Bold"/>
                <a:ea typeface="Almarai Bold"/>
                <a:cs typeface="Almarai Bold"/>
                <a:sym typeface="Almarai Bold"/>
              </a:rPr>
              <a:t>Meccanismo di Attacco</a:t>
            </a:r>
          </a:p>
          <a:p>
            <a:pPr algn="l" marL="431797" indent="-215899" lvl="1">
              <a:lnSpc>
                <a:spcPts val="2759"/>
              </a:lnSpc>
              <a:buFont typeface="Arial"/>
              <a:buChar char="•"/>
            </a:pPr>
            <a:r>
              <a:rPr lang="en-US" sz="1999">
                <a:solidFill>
                  <a:srgbClr val="FFFFFF"/>
                </a:solidFill>
                <a:latin typeface="Almarai"/>
                <a:ea typeface="Almarai"/>
                <a:cs typeface="Almarai"/>
                <a:sym typeface="Almarai"/>
              </a:rPr>
              <a:t>L'avversario usa un componente a basso privilegio e token con scope eccessivo. L'Orchestratore (M9), agendo da confused deputy, esegue la chiamata senza validare sessione o job (D10), consentendo esfiltrazione dati e output video/audio illegittimi.</a:t>
            </a:r>
          </a:p>
          <a:p>
            <a:pPr algn="l">
              <a:lnSpc>
                <a:spcPts val="2759"/>
              </a:lnSpc>
            </a:pPr>
          </a:p>
          <a:p>
            <a:pPr algn="l">
              <a:lnSpc>
                <a:spcPts val="2759"/>
              </a:lnSpc>
            </a:pPr>
            <a:r>
              <a:rPr lang="en-US" sz="1999" b="true">
                <a:solidFill>
                  <a:srgbClr val="FFFFFF"/>
                </a:solidFill>
                <a:latin typeface="Almarai Bold"/>
                <a:ea typeface="Almarai Bold"/>
                <a:cs typeface="Almarai Bold"/>
                <a:sym typeface="Almarai Bold"/>
              </a:rPr>
              <a:t>Proprietà violate</a:t>
            </a:r>
          </a:p>
          <a:p>
            <a:pPr algn="l" marL="431797" indent="-215899" lvl="1">
              <a:lnSpc>
                <a:spcPts val="2759"/>
              </a:lnSpc>
              <a:buFont typeface="Arial"/>
              <a:buChar char="•"/>
            </a:pPr>
            <a:r>
              <a:rPr lang="en-US" sz="1999">
                <a:solidFill>
                  <a:srgbClr val="FFFFFF"/>
                </a:solidFill>
                <a:latin typeface="Almarai"/>
                <a:ea typeface="Almarai"/>
                <a:cs typeface="Almarai"/>
                <a:sym typeface="Almarai"/>
              </a:rPr>
              <a:t>Au, Az, C, Ac</a:t>
            </a:r>
          </a:p>
          <a:p>
            <a:pPr algn="l">
              <a:lnSpc>
                <a:spcPts val="2759"/>
              </a:lnSpc>
            </a:pPr>
          </a:p>
          <a:p>
            <a:pPr algn="l">
              <a:lnSpc>
                <a:spcPts val="2759"/>
              </a:lnSpc>
            </a:pPr>
            <a:r>
              <a:rPr lang="en-US" sz="1999" b="true">
                <a:solidFill>
                  <a:srgbClr val="FFFFFF"/>
                </a:solidFill>
                <a:latin typeface="Almarai Bold"/>
                <a:ea typeface="Almarai Bold"/>
                <a:cs typeface="Almarai Bold"/>
                <a:sym typeface="Almarai Bold"/>
              </a:rPr>
              <a:t>Contromisure</a:t>
            </a:r>
          </a:p>
          <a:p>
            <a:pPr algn="l" marL="431797" indent="-215899" lvl="1">
              <a:lnSpc>
                <a:spcPts val="2759"/>
              </a:lnSpc>
              <a:buFont typeface="Arial"/>
              <a:buChar char="•"/>
            </a:pPr>
            <a:r>
              <a:rPr lang="en-US" sz="1999">
                <a:solidFill>
                  <a:srgbClr val="FFFFFF"/>
                </a:solidFill>
                <a:latin typeface="Almarai"/>
                <a:ea typeface="Almarai"/>
                <a:cs typeface="Almarai"/>
                <a:sym typeface="Almarai"/>
              </a:rPr>
              <a:t>P1: Segregazione delle identità tecniche (D13); esclusa ereditarietà di privilegi dal Fast-Brain verso risorse o servizi downstream.</a:t>
            </a:r>
          </a:p>
          <a:p>
            <a:pPr algn="l" marL="431797" indent="-215899" lvl="1">
              <a:lnSpc>
                <a:spcPts val="2759"/>
              </a:lnSpc>
              <a:buFont typeface="Arial"/>
              <a:buChar char="•"/>
            </a:pPr>
            <a:r>
              <a:rPr lang="en-US" sz="1999">
                <a:solidFill>
                  <a:srgbClr val="FFFFFF"/>
                </a:solidFill>
                <a:latin typeface="Almarai"/>
                <a:ea typeface="Almarai"/>
                <a:cs typeface="Almarai"/>
                <a:sym typeface="Almarai"/>
              </a:rPr>
              <a:t>P2: Validazione deterministica obbligatoria su sessione, job ID (D10) e azione.</a:t>
            </a:r>
          </a:p>
          <a:p>
            <a:pPr algn="l" marL="431797" indent="-215899" lvl="1">
              <a:lnSpc>
                <a:spcPts val="2759"/>
              </a:lnSpc>
              <a:buFont typeface="Arial"/>
              <a:buChar char="•"/>
            </a:pPr>
            <a:r>
              <a:rPr lang="en-US" sz="1999">
                <a:solidFill>
                  <a:srgbClr val="FFFFFF"/>
                </a:solidFill>
                <a:latin typeface="Almarai"/>
                <a:ea typeface="Almarai"/>
                <a:cs typeface="Almarai"/>
                <a:sym typeface="Almarai"/>
              </a:rPr>
              <a:t>P3: Workload identity isolate, token short-lived e accesso a D8 vincolato al singolo job.</a:t>
            </a:r>
          </a:p>
          <a:p>
            <a:pPr algn="l" marL="431797" indent="-215899" lvl="1">
              <a:lnSpc>
                <a:spcPts val="2759"/>
              </a:lnSpc>
              <a:buFont typeface="Arial"/>
              <a:buChar char="•"/>
            </a:pPr>
            <a:r>
              <a:rPr lang="en-US" sz="1999">
                <a:solidFill>
                  <a:srgbClr val="FFFFFF"/>
                </a:solidFill>
                <a:latin typeface="Almarai"/>
                <a:ea typeface="Almarai"/>
                <a:cs typeface="Almarai"/>
                <a:sym typeface="Almarai"/>
              </a:rPr>
              <a:t>P4, P6 &amp; P7: Tracciamento immutabile della catena di delega, revoca immediata dei token su anomalie comportamentali (P6) e revisione periodica della matrice di autorizzazione (P7)</a:t>
            </a:r>
          </a:p>
        </p:txBody>
      </p:sp>
      <p:sp>
        <p:nvSpPr>
          <p:cNvPr name="TextBox 13" id="13"/>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09</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SCENARI PRIORITARI</a:t>
            </a:r>
          </a:p>
        </p:txBody>
      </p:sp>
      <p:sp>
        <p:nvSpPr>
          <p:cNvPr name="TextBox 11" id="11"/>
          <p:cNvSpPr txBox="true"/>
          <p:nvPr/>
        </p:nvSpPr>
        <p:spPr>
          <a:xfrm rot="0">
            <a:off x="1768405" y="2819923"/>
            <a:ext cx="14837544"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Scenari Alti: SC7  - Insecure Inter-Agent Communication</a:t>
            </a:r>
          </a:p>
        </p:txBody>
      </p:sp>
      <p:sp>
        <p:nvSpPr>
          <p:cNvPr name="TextBox 12" id="12"/>
          <p:cNvSpPr txBox="true"/>
          <p:nvPr/>
        </p:nvSpPr>
        <p:spPr>
          <a:xfrm rot="0">
            <a:off x="1768405" y="3686461"/>
            <a:ext cx="14555022" cy="5158740"/>
          </a:xfrm>
          <a:prstGeom prst="rect">
            <a:avLst/>
          </a:prstGeom>
        </p:spPr>
        <p:txBody>
          <a:bodyPr anchor="t" rtlCol="false" tIns="0" lIns="0" bIns="0" rIns="0">
            <a:spAutoFit/>
          </a:bodyPr>
          <a:lstStyle/>
          <a:p>
            <a:pPr algn="l">
              <a:lnSpc>
                <a:spcPts val="2760"/>
              </a:lnSpc>
            </a:pPr>
            <a:r>
              <a:rPr lang="en-US" sz="2000" b="true">
                <a:solidFill>
                  <a:srgbClr val="FFFFFF"/>
                </a:solidFill>
                <a:latin typeface="Almarai Bold"/>
                <a:ea typeface="Almarai Bold"/>
                <a:cs typeface="Almarai Bold"/>
                <a:sym typeface="Almarai Bold"/>
              </a:rPr>
              <a:t>Meccanismo di Attacco</a:t>
            </a:r>
          </a:p>
          <a:p>
            <a:pPr algn="l" marL="431801" indent="-215900" lvl="1">
              <a:lnSpc>
                <a:spcPts val="2760"/>
              </a:lnSpc>
              <a:buFont typeface="Arial"/>
              <a:buChar char="•"/>
            </a:pPr>
            <a:r>
              <a:rPr lang="en-US" sz="2000">
                <a:solidFill>
                  <a:srgbClr val="FFFFFF"/>
                </a:solidFill>
                <a:latin typeface="Almarai"/>
                <a:ea typeface="Almarai"/>
                <a:cs typeface="Almarai"/>
                <a:sym typeface="Almarai"/>
              </a:rPr>
              <a:t>L'avversario intercetta e altera o ripete segnali interni di coordinamento (D10). M9 e M10 validano la sola sintassi omettendo verifiche di freshness e session binding, inducendo lo Swap Manager a scambiare stream video tra job diversi, con conseguente esposizione cross-sessione o glitch visivi all'utente.</a:t>
            </a:r>
          </a:p>
          <a:p>
            <a:pPr algn="l">
              <a:lnSpc>
                <a:spcPts val="2760"/>
              </a:lnSpc>
            </a:pPr>
          </a:p>
          <a:p>
            <a:pPr algn="l">
              <a:lnSpc>
                <a:spcPts val="2760"/>
              </a:lnSpc>
            </a:pPr>
            <a:r>
              <a:rPr lang="en-US" sz="2000" b="true">
                <a:solidFill>
                  <a:srgbClr val="FFFFFF"/>
                </a:solidFill>
                <a:latin typeface="Almarai Bold"/>
                <a:ea typeface="Almarai Bold"/>
                <a:cs typeface="Almarai Bold"/>
                <a:sym typeface="Almarai Bold"/>
              </a:rPr>
              <a:t>Proprietà violate</a:t>
            </a:r>
          </a:p>
          <a:p>
            <a:pPr algn="l" marL="431801" indent="-215900" lvl="1">
              <a:lnSpc>
                <a:spcPts val="2760"/>
              </a:lnSpc>
              <a:buFont typeface="Arial"/>
              <a:buChar char="•"/>
            </a:pPr>
            <a:r>
              <a:rPr lang="en-US" sz="2000">
                <a:solidFill>
                  <a:srgbClr val="FFFFFF"/>
                </a:solidFill>
                <a:latin typeface="Almarai"/>
                <a:ea typeface="Almarai"/>
                <a:cs typeface="Almarai"/>
                <a:sym typeface="Almarai"/>
              </a:rPr>
              <a:t>Au, I, Ac, C, A</a:t>
            </a:r>
          </a:p>
          <a:p>
            <a:pPr algn="l">
              <a:lnSpc>
                <a:spcPts val="2760"/>
              </a:lnSpc>
            </a:pPr>
          </a:p>
          <a:p>
            <a:pPr algn="l">
              <a:lnSpc>
                <a:spcPts val="2760"/>
              </a:lnSpc>
            </a:pPr>
            <a:r>
              <a:rPr lang="en-US" sz="2000" b="true">
                <a:solidFill>
                  <a:srgbClr val="FFFFFF"/>
                </a:solidFill>
                <a:latin typeface="Almarai Bold"/>
                <a:ea typeface="Almarai Bold"/>
                <a:cs typeface="Almarai Bold"/>
                <a:sym typeface="Almarai Bold"/>
              </a:rPr>
              <a:t>Contromisure</a:t>
            </a:r>
          </a:p>
          <a:p>
            <a:pPr algn="l" marL="431801" indent="-215900" lvl="1">
              <a:lnSpc>
                <a:spcPts val="2760"/>
              </a:lnSpc>
              <a:buFont typeface="Arial"/>
              <a:buChar char="•"/>
            </a:pPr>
            <a:r>
              <a:rPr lang="en-US" sz="2000">
                <a:solidFill>
                  <a:srgbClr val="FFFFFF"/>
                </a:solidFill>
                <a:latin typeface="Almarai"/>
                <a:ea typeface="Almarai"/>
                <a:cs typeface="Almarai"/>
                <a:sym typeface="Almarai"/>
              </a:rPr>
              <a:t>P1: Topic e code isolati; solo i worker video autorizzati pubblicano segnali di swap.</a:t>
            </a:r>
          </a:p>
          <a:p>
            <a:pPr algn="l" marL="431801" indent="-215900" lvl="1">
              <a:lnSpc>
                <a:spcPts val="2760"/>
              </a:lnSpc>
              <a:buFont typeface="Arial"/>
              <a:buChar char="•"/>
            </a:pPr>
            <a:r>
              <a:rPr lang="en-US" sz="2000">
                <a:solidFill>
                  <a:srgbClr val="FFFFFF"/>
                </a:solidFill>
                <a:latin typeface="Almarai"/>
                <a:ea typeface="Almarai"/>
                <a:cs typeface="Almarai"/>
                <a:sym typeface="Almarai"/>
              </a:rPr>
              <a:t>P2: Validazione deterministica (M11) di macchina a stati, monotonicità dei sequence number, finestre di freshness e vincolo rigido sessione/job.</a:t>
            </a:r>
          </a:p>
          <a:p>
            <a:pPr algn="l" marL="431801" indent="-215900" lvl="1">
              <a:lnSpc>
                <a:spcPts val="2760"/>
              </a:lnSpc>
              <a:buFont typeface="Arial"/>
              <a:buChar char="•"/>
            </a:pPr>
            <a:r>
              <a:rPr lang="en-US" sz="2000">
                <a:solidFill>
                  <a:srgbClr val="FFFFFF"/>
                </a:solidFill>
                <a:latin typeface="Almarai"/>
                <a:ea typeface="Almarai"/>
                <a:cs typeface="Almarai"/>
                <a:sym typeface="Almarai"/>
              </a:rPr>
              <a:t>P3: Isolamento del piano di controllo tramite mTLS e payload firmati crittograficamente con token per-job.</a:t>
            </a:r>
          </a:p>
          <a:p>
            <a:pPr algn="l" marL="431801" indent="-215900" lvl="1">
              <a:lnSpc>
                <a:spcPts val="2760"/>
              </a:lnSpc>
              <a:buFont typeface="Arial"/>
              <a:buChar char="•"/>
            </a:pPr>
            <a:r>
              <a:rPr lang="en-US" sz="2000">
                <a:solidFill>
                  <a:srgbClr val="FFFFFF"/>
                </a:solidFill>
                <a:latin typeface="Almarai"/>
                <a:ea typeface="Almarai"/>
                <a:cs typeface="Almarai"/>
                <a:sym typeface="Almarai"/>
              </a:rPr>
              <a:t>P4, P6 &amp; P7: Tracciamento immutabile delle transizioni di stato (P4), circuit breaker fail-safe su anomalie di sincronizzazione (P6) e test periodici di iniezione messaggi fuori sequenza (P7).</a:t>
            </a:r>
          </a:p>
        </p:txBody>
      </p:sp>
      <p:sp>
        <p:nvSpPr>
          <p:cNvPr name="TextBox 13" id="13"/>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09</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9504683"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SCENARI PRIORITARI</a:t>
            </a:r>
          </a:p>
        </p:txBody>
      </p:sp>
      <p:sp>
        <p:nvSpPr>
          <p:cNvPr name="TextBox 11" id="11"/>
          <p:cNvSpPr txBox="true"/>
          <p:nvPr/>
        </p:nvSpPr>
        <p:spPr>
          <a:xfrm rot="0">
            <a:off x="1768405" y="2819923"/>
            <a:ext cx="14837544"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Scenari Alti: SC9  -  Human-Agent Trust Exploitation</a:t>
            </a:r>
          </a:p>
        </p:txBody>
      </p:sp>
      <p:sp>
        <p:nvSpPr>
          <p:cNvPr name="TextBox 12" id="12"/>
          <p:cNvSpPr txBox="true"/>
          <p:nvPr/>
        </p:nvSpPr>
        <p:spPr>
          <a:xfrm rot="0">
            <a:off x="1768405" y="3686461"/>
            <a:ext cx="14555022" cy="6043556"/>
          </a:xfrm>
          <a:prstGeom prst="rect">
            <a:avLst/>
          </a:prstGeom>
        </p:spPr>
        <p:txBody>
          <a:bodyPr anchor="t" rtlCol="false" tIns="0" lIns="0" bIns="0" rIns="0">
            <a:spAutoFit/>
          </a:bodyPr>
          <a:lstStyle/>
          <a:p>
            <a:pPr algn="l">
              <a:lnSpc>
                <a:spcPts val="2759"/>
              </a:lnSpc>
            </a:pPr>
            <a:r>
              <a:rPr lang="en-US" sz="1999" b="true">
                <a:solidFill>
                  <a:srgbClr val="FFFFFF"/>
                </a:solidFill>
                <a:latin typeface="Almarai Bold"/>
                <a:ea typeface="Almarai Bold"/>
                <a:cs typeface="Almarai Bold"/>
                <a:sym typeface="Almarai Bold"/>
              </a:rPr>
              <a:t>Meccanismo di Attacco</a:t>
            </a:r>
          </a:p>
          <a:p>
            <a:pPr algn="l" marL="431797" indent="-215899" lvl="1">
              <a:lnSpc>
                <a:spcPts val="2759"/>
              </a:lnSpc>
              <a:buFont typeface="Arial"/>
              <a:buChar char="•"/>
            </a:pPr>
            <a:r>
              <a:rPr lang="en-US" sz="1999">
                <a:solidFill>
                  <a:srgbClr val="FFFFFF"/>
                </a:solidFill>
                <a:latin typeface="Almarai"/>
                <a:ea typeface="Almarai"/>
                <a:cs typeface="Almarai"/>
                <a:sym typeface="Almarai"/>
              </a:rPr>
              <a:t>A seguito di una deviazione a monte, il Deep-Brain emette output pericolosi con il tono materno dell'avatar. Il realismo di voce e video (D8, M6–M7) disarma le difese cognitive dell'utente, inducendolo a cedere dati sensibili o ad attuare consigli sanitari dannosi.</a:t>
            </a:r>
          </a:p>
          <a:p>
            <a:pPr algn="l">
              <a:lnSpc>
                <a:spcPts val="2759"/>
              </a:lnSpc>
            </a:pPr>
          </a:p>
          <a:p>
            <a:pPr algn="l">
              <a:lnSpc>
                <a:spcPts val="2759"/>
              </a:lnSpc>
            </a:pPr>
            <a:r>
              <a:rPr lang="en-US" sz="1999" b="true">
                <a:solidFill>
                  <a:srgbClr val="FFFFFF"/>
                </a:solidFill>
                <a:latin typeface="Almarai Bold"/>
                <a:ea typeface="Almarai Bold"/>
                <a:cs typeface="Almarai Bold"/>
                <a:sym typeface="Almarai Bold"/>
              </a:rPr>
              <a:t>Proprietà violate</a:t>
            </a:r>
          </a:p>
          <a:p>
            <a:pPr algn="l" marL="431797" indent="-215899" lvl="1">
              <a:lnSpc>
                <a:spcPts val="2759"/>
              </a:lnSpc>
              <a:buFont typeface="Arial"/>
              <a:buChar char="•"/>
            </a:pPr>
            <a:r>
              <a:rPr lang="en-US" sz="1999">
                <a:solidFill>
                  <a:srgbClr val="FFFFFF"/>
                </a:solidFill>
                <a:latin typeface="Almarai"/>
                <a:ea typeface="Almarai"/>
                <a:cs typeface="Almarai"/>
                <a:sym typeface="Almarai"/>
              </a:rPr>
              <a:t>I, C, Au, Ac</a:t>
            </a:r>
          </a:p>
          <a:p>
            <a:pPr algn="l">
              <a:lnSpc>
                <a:spcPts val="2759"/>
              </a:lnSpc>
            </a:pPr>
          </a:p>
          <a:p>
            <a:pPr algn="l">
              <a:lnSpc>
                <a:spcPts val="2759"/>
              </a:lnSpc>
            </a:pPr>
            <a:r>
              <a:rPr lang="en-US" sz="1999" b="true">
                <a:solidFill>
                  <a:srgbClr val="FFFFFF"/>
                </a:solidFill>
                <a:latin typeface="Almarai Bold"/>
                <a:ea typeface="Almarai Bold"/>
                <a:cs typeface="Almarai Bold"/>
                <a:sym typeface="Almarai Bold"/>
              </a:rPr>
              <a:t>Contromisure</a:t>
            </a:r>
          </a:p>
          <a:p>
            <a:pPr algn="l" marL="431797" indent="-215899" lvl="1">
              <a:lnSpc>
                <a:spcPts val="2759"/>
              </a:lnSpc>
              <a:buFont typeface="Arial"/>
              <a:buChar char="•"/>
            </a:pPr>
            <a:r>
              <a:rPr lang="en-US" sz="1999">
                <a:solidFill>
                  <a:srgbClr val="FFFFFF"/>
                </a:solidFill>
                <a:latin typeface="Almarai"/>
                <a:ea typeface="Almarai"/>
                <a:cs typeface="Almarai"/>
                <a:sym typeface="Almarai"/>
              </a:rPr>
              <a:t>P1: Divieto di richiedere dati personali; Deep-Brain vincolato al dominio prefissato senza alterazione dei tratti identitari (D7).</a:t>
            </a:r>
          </a:p>
          <a:p>
            <a:pPr algn="l" marL="431797" indent="-215899" lvl="1">
              <a:lnSpc>
                <a:spcPts val="2759"/>
              </a:lnSpc>
              <a:buFont typeface="Arial"/>
              <a:buChar char="•"/>
            </a:pPr>
            <a:r>
              <a:rPr lang="en-US" sz="1999">
                <a:solidFill>
                  <a:srgbClr val="FFFFFF"/>
                </a:solidFill>
                <a:latin typeface="Almarai"/>
                <a:ea typeface="Almarai"/>
                <a:cs typeface="Almarai"/>
                <a:sym typeface="Almarai"/>
              </a:rPr>
              <a:t>P2: Guardrail M11 semantico pre-sintesi contro richieste indebite e disclaimer visivi su salute/AI.</a:t>
            </a:r>
          </a:p>
          <a:p>
            <a:pPr algn="l" marL="431797" indent="-215899" lvl="1">
              <a:lnSpc>
                <a:spcPts val="2759"/>
              </a:lnSpc>
              <a:buFont typeface="Arial"/>
              <a:buChar char="•"/>
            </a:pPr>
            <a:r>
              <a:rPr lang="en-US" sz="1999">
                <a:solidFill>
                  <a:srgbClr val="FFFFFF"/>
                </a:solidFill>
                <a:latin typeface="Almarai"/>
                <a:ea typeface="Almarai"/>
                <a:cs typeface="Almarai"/>
                <a:sym typeface="Almarai"/>
              </a:rPr>
              <a:t>P3: Asset biometrici (D8) e moduli di rendering accessibili solo tramite token crittografici dedicati.</a:t>
            </a:r>
          </a:p>
          <a:p>
            <a:pPr algn="l" marL="431797" indent="-215899" lvl="1">
              <a:lnSpc>
                <a:spcPts val="2759"/>
              </a:lnSpc>
              <a:buFont typeface="Arial"/>
              <a:buChar char="•"/>
            </a:pPr>
            <a:r>
              <a:rPr lang="en-US" sz="1999">
                <a:solidFill>
                  <a:srgbClr val="FFFFFF"/>
                </a:solidFill>
                <a:latin typeface="Almarai"/>
                <a:ea typeface="Almarai"/>
                <a:cs typeface="Almarai"/>
                <a:sym typeface="Almarai"/>
              </a:rPr>
              <a:t>P4, P6 &amp; P7: Audit immutabile dei flussi I/O (P4), blocco runtime su anomalie di tono/registro (P6) e red teaming socio-tecnico ciclico (P7).</a:t>
            </a:r>
          </a:p>
        </p:txBody>
      </p:sp>
      <p:sp>
        <p:nvSpPr>
          <p:cNvPr name="TextBox 13" id="13"/>
          <p:cNvSpPr txBox="true"/>
          <p:nvPr/>
        </p:nvSpPr>
        <p:spPr>
          <a:xfrm rot="0">
            <a:off x="1028700" y="1480657"/>
            <a:ext cx="1456246" cy="1015216"/>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09</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Freeform 10" id="10"/>
          <p:cNvSpPr/>
          <p:nvPr/>
        </p:nvSpPr>
        <p:spPr>
          <a:xfrm flipH="false" flipV="false" rot="0">
            <a:off x="7088760" y="2400639"/>
            <a:ext cx="10800023" cy="6087118"/>
          </a:xfrm>
          <a:custGeom>
            <a:avLst/>
            <a:gdLst/>
            <a:ahLst/>
            <a:cxnLst/>
            <a:rect r="r" b="b" t="t" l="l"/>
            <a:pathLst>
              <a:path h="6087118" w="10800023">
                <a:moveTo>
                  <a:pt x="0" y="0"/>
                </a:moveTo>
                <a:lnTo>
                  <a:pt x="10800023" y="0"/>
                </a:lnTo>
                <a:lnTo>
                  <a:pt x="10800023" y="6087118"/>
                </a:lnTo>
                <a:lnTo>
                  <a:pt x="0" y="6087118"/>
                </a:lnTo>
                <a:lnTo>
                  <a:pt x="0" y="0"/>
                </a:lnTo>
                <a:close/>
              </a:path>
            </a:pathLst>
          </a:custGeom>
          <a:blipFill>
            <a:blip r:embed="rId4"/>
            <a:stretch>
              <a:fillRect l="0" t="0" r="0" b="0"/>
            </a:stretch>
          </a:blipFill>
        </p:spPr>
      </p:sp>
      <p:sp>
        <p:nvSpPr>
          <p:cNvPr name="TextBox 11" id="11"/>
          <p:cNvSpPr txBox="true"/>
          <p:nvPr/>
        </p:nvSpPr>
        <p:spPr>
          <a:xfrm rot="0">
            <a:off x="2766869" y="1467525"/>
            <a:ext cx="11618461" cy="786765"/>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SECURE ARCHITECTURE PROPOSTA</a:t>
            </a:r>
          </a:p>
        </p:txBody>
      </p:sp>
      <p:sp>
        <p:nvSpPr>
          <p:cNvPr name="TextBox 12" id="12"/>
          <p:cNvSpPr txBox="true"/>
          <p:nvPr/>
        </p:nvSpPr>
        <p:spPr>
          <a:xfrm rot="0">
            <a:off x="1028700" y="1480657"/>
            <a:ext cx="1456246" cy="850434"/>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10</a:t>
            </a:r>
          </a:p>
        </p:txBody>
      </p:sp>
      <p:sp>
        <p:nvSpPr>
          <p:cNvPr name="TextBox 13" id="13"/>
          <p:cNvSpPr txBox="true"/>
          <p:nvPr/>
        </p:nvSpPr>
        <p:spPr>
          <a:xfrm rot="0">
            <a:off x="762460" y="2635597"/>
            <a:ext cx="6326300" cy="5852160"/>
          </a:xfrm>
          <a:prstGeom prst="rect">
            <a:avLst/>
          </a:prstGeom>
        </p:spPr>
        <p:txBody>
          <a:bodyPr anchor="t" rtlCol="false" tIns="0" lIns="0" bIns="0" rIns="0">
            <a:spAutoFit/>
          </a:bodyPr>
          <a:lstStyle/>
          <a:p>
            <a:pPr algn="l">
              <a:lnSpc>
                <a:spcPts val="2760"/>
              </a:lnSpc>
            </a:pPr>
            <a:r>
              <a:rPr lang="en-US" sz="2000" b="true">
                <a:solidFill>
                  <a:srgbClr val="FFFFFF"/>
                </a:solidFill>
                <a:latin typeface="Almarai Bold"/>
                <a:ea typeface="Almarai Bold"/>
                <a:cs typeface="Almarai Bold"/>
                <a:sym typeface="Almarai Bold"/>
              </a:rPr>
              <a:t>Security enforcement at trust boundaries</a:t>
            </a:r>
          </a:p>
          <a:p>
            <a:pPr algn="l" marL="431801" indent="-215900" lvl="1">
              <a:lnSpc>
                <a:spcPts val="2760"/>
              </a:lnSpc>
              <a:buFont typeface="Arial"/>
              <a:buChar char="•"/>
            </a:pPr>
            <a:r>
              <a:rPr lang="en-US" sz="2000">
                <a:solidFill>
                  <a:srgbClr val="FFFFFF"/>
                </a:solidFill>
                <a:latin typeface="Almarai"/>
                <a:ea typeface="Almarai"/>
                <a:cs typeface="Almarai"/>
                <a:sym typeface="Almarai"/>
              </a:rPr>
              <a:t>M11 valida input e output agentici prima che possano produrre effetti downstream.</a:t>
            </a:r>
          </a:p>
          <a:p>
            <a:pPr algn="l">
              <a:lnSpc>
                <a:spcPts val="2760"/>
              </a:lnSpc>
            </a:pPr>
          </a:p>
          <a:p>
            <a:pPr algn="l">
              <a:lnSpc>
                <a:spcPts val="2760"/>
              </a:lnSpc>
            </a:pPr>
            <a:r>
              <a:rPr lang="en-US" sz="2000" b="true">
                <a:solidFill>
                  <a:srgbClr val="FFFFFF"/>
                </a:solidFill>
                <a:latin typeface="Almarai Bold"/>
                <a:ea typeface="Almarai Bold"/>
                <a:cs typeface="Almarai Bold"/>
                <a:sym typeface="Almarai Bold"/>
              </a:rPr>
              <a:t>Piano di controllo affidabile</a:t>
            </a:r>
          </a:p>
          <a:p>
            <a:pPr algn="l" marL="431801" indent="-215900" lvl="1">
              <a:lnSpc>
                <a:spcPts val="2760"/>
              </a:lnSpc>
              <a:buFont typeface="Arial"/>
              <a:buChar char="•"/>
            </a:pPr>
            <a:r>
              <a:rPr lang="en-US" sz="2000">
                <a:solidFill>
                  <a:srgbClr val="FFFFFF"/>
                </a:solidFill>
                <a:latin typeface="Almarai"/>
                <a:ea typeface="Almarai"/>
                <a:cs typeface="Almarai"/>
                <a:sym typeface="Almarai"/>
              </a:rPr>
              <a:t>Session ID, Job ID, sequence number e timestamp sono gestiti dall’Orchestratore, non dal modello.</a:t>
            </a:r>
          </a:p>
          <a:p>
            <a:pPr algn="l">
              <a:lnSpc>
                <a:spcPts val="2760"/>
              </a:lnSpc>
            </a:pPr>
          </a:p>
          <a:p>
            <a:pPr algn="l">
              <a:lnSpc>
                <a:spcPts val="2760"/>
              </a:lnSpc>
            </a:pPr>
            <a:r>
              <a:rPr lang="en-US" sz="2000" b="true">
                <a:solidFill>
                  <a:srgbClr val="FFFFFF"/>
                </a:solidFill>
                <a:latin typeface="Almarai Bold"/>
                <a:ea typeface="Almarai Bold"/>
                <a:cs typeface="Almarai Bold"/>
                <a:sym typeface="Almarai Bold"/>
              </a:rPr>
              <a:t>Isolamento delle risorse critiche</a:t>
            </a:r>
          </a:p>
          <a:p>
            <a:pPr algn="l" marL="431801" indent="-215900" lvl="1">
              <a:lnSpc>
                <a:spcPts val="2760"/>
              </a:lnSpc>
              <a:buFont typeface="Arial"/>
              <a:buChar char="•"/>
            </a:pPr>
            <a:r>
              <a:rPr lang="en-US" sz="2000">
                <a:solidFill>
                  <a:srgbClr val="FFFFFF"/>
                </a:solidFill>
                <a:latin typeface="Almarai"/>
                <a:ea typeface="Almarai"/>
                <a:cs typeface="Almarai"/>
                <a:sym typeface="Almarai"/>
              </a:rPr>
              <a:t>Knowledge Base read-only durante il serving; gli aggiornamenti persistenti seguono un percorso separato con validazione, versioning e HITL.</a:t>
            </a:r>
          </a:p>
          <a:p>
            <a:pPr algn="l">
              <a:lnSpc>
                <a:spcPts val="2760"/>
              </a:lnSpc>
            </a:pPr>
          </a:p>
          <a:p>
            <a:pPr algn="l">
              <a:lnSpc>
                <a:spcPts val="2760"/>
              </a:lnSpc>
            </a:pPr>
            <a:r>
              <a:rPr lang="en-US" sz="2000" b="true">
                <a:solidFill>
                  <a:srgbClr val="FFFFFF"/>
                </a:solidFill>
                <a:latin typeface="Almarai Bold"/>
                <a:ea typeface="Almarai Bold"/>
                <a:cs typeface="Almarai Bold"/>
                <a:sym typeface="Almarai Bold"/>
              </a:rPr>
              <a:t>Azioni downstream autenticate</a:t>
            </a:r>
          </a:p>
          <a:p>
            <a:pPr algn="l" marL="431801" indent="-215900" lvl="1">
              <a:lnSpc>
                <a:spcPts val="2760"/>
              </a:lnSpc>
              <a:buFont typeface="Arial"/>
              <a:buChar char="•"/>
            </a:pPr>
            <a:r>
              <a:rPr lang="en-US" sz="2000">
                <a:solidFill>
                  <a:srgbClr val="FFFFFF"/>
                </a:solidFill>
                <a:latin typeface="Almarai"/>
                <a:ea typeface="Almarai"/>
                <a:cs typeface="Almarai"/>
                <a:sym typeface="Almarai"/>
              </a:rPr>
              <a:t>Workload identity, mTLS e autorizzazione per azione proteggono servizi multimediali e transizioni dello Swap Manager.</a:t>
            </a:r>
          </a:p>
        </p:txBody>
      </p:sp>
      <p:sp>
        <p:nvSpPr>
          <p:cNvPr name="TextBox 14" id="14"/>
          <p:cNvSpPr txBox="true"/>
          <p:nvPr/>
        </p:nvSpPr>
        <p:spPr>
          <a:xfrm rot="0">
            <a:off x="762460" y="8784966"/>
            <a:ext cx="12873879" cy="685800"/>
          </a:xfrm>
          <a:prstGeom prst="rect">
            <a:avLst/>
          </a:prstGeom>
        </p:spPr>
        <p:txBody>
          <a:bodyPr anchor="t" rtlCol="false" tIns="0" lIns="0" bIns="0" rIns="0">
            <a:spAutoFit/>
          </a:bodyPr>
          <a:lstStyle/>
          <a:p>
            <a:pPr algn="just">
              <a:lnSpc>
                <a:spcPts val="2760"/>
              </a:lnSpc>
              <a:spcBef>
                <a:spcPct val="0"/>
              </a:spcBef>
            </a:pPr>
            <a:r>
              <a:rPr lang="en-US" b="true" sz="2000">
                <a:solidFill>
                  <a:srgbClr val="17E3B2"/>
                </a:solidFill>
                <a:latin typeface="Almarai Bold"/>
                <a:ea typeface="Almarai Bold"/>
                <a:cs typeface="Almarai Bold"/>
                <a:sym typeface="Almarai Bold"/>
              </a:rPr>
              <a:t>PIANO DI GENERAZIONE ≠ PIANO DI ENFORCEMENT</a:t>
            </a:r>
          </a:p>
          <a:p>
            <a:pPr algn="just">
              <a:lnSpc>
                <a:spcPts val="2760"/>
              </a:lnSpc>
              <a:spcBef>
                <a:spcPct val="0"/>
              </a:spcBef>
            </a:pPr>
            <a:r>
              <a:rPr lang="en-US" sz="2000">
                <a:solidFill>
                  <a:srgbClr val="FFFFFF"/>
                </a:solidFill>
                <a:latin typeface="Almarai"/>
                <a:ea typeface="Almarai"/>
                <a:cs typeface="Almarai"/>
                <a:sym typeface="Almarai"/>
              </a:rPr>
              <a:t>Gli agenti generano contenuti; stato, privilegi e transizioni restano sotto controllo deterministico esterno al modello.</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14536549" cy="786765"/>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FAIL-SAFE E TRADE-OFF SICUREZZA–LATENZA</a:t>
            </a:r>
          </a:p>
        </p:txBody>
      </p:sp>
      <p:sp>
        <p:nvSpPr>
          <p:cNvPr name="TextBox 11" id="11"/>
          <p:cNvSpPr txBox="true"/>
          <p:nvPr/>
        </p:nvSpPr>
        <p:spPr>
          <a:xfrm rot="0">
            <a:off x="1028700" y="1480657"/>
            <a:ext cx="1456246" cy="850434"/>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10</a:t>
            </a:r>
          </a:p>
        </p:txBody>
      </p:sp>
      <p:grpSp>
        <p:nvGrpSpPr>
          <p:cNvPr name="Group 12" id="12"/>
          <p:cNvGrpSpPr/>
          <p:nvPr/>
        </p:nvGrpSpPr>
        <p:grpSpPr>
          <a:xfrm rot="0">
            <a:off x="781211" y="2624270"/>
            <a:ext cx="7616061" cy="7395222"/>
            <a:chOff x="0" y="0"/>
            <a:chExt cx="2005876" cy="1947713"/>
          </a:xfrm>
        </p:grpSpPr>
        <p:sp>
          <p:nvSpPr>
            <p:cNvPr name="Freeform 13" id="13"/>
            <p:cNvSpPr/>
            <p:nvPr/>
          </p:nvSpPr>
          <p:spPr>
            <a:xfrm flipH="false" flipV="false" rot="0">
              <a:off x="0" y="0"/>
              <a:ext cx="2005876" cy="1947713"/>
            </a:xfrm>
            <a:custGeom>
              <a:avLst/>
              <a:gdLst/>
              <a:ahLst/>
              <a:cxnLst/>
              <a:rect r="r" b="b" t="t" l="l"/>
              <a:pathLst>
                <a:path h="1947713" w="2005876">
                  <a:moveTo>
                    <a:pt x="51843" y="0"/>
                  </a:moveTo>
                  <a:lnTo>
                    <a:pt x="1954033" y="0"/>
                  </a:lnTo>
                  <a:cubicBezTo>
                    <a:pt x="1982665" y="0"/>
                    <a:pt x="2005876" y="23211"/>
                    <a:pt x="2005876" y="51843"/>
                  </a:cubicBezTo>
                  <a:lnTo>
                    <a:pt x="2005876" y="1895870"/>
                  </a:lnTo>
                  <a:cubicBezTo>
                    <a:pt x="2005876" y="1924502"/>
                    <a:pt x="1982665" y="1947713"/>
                    <a:pt x="1954033" y="1947713"/>
                  </a:cubicBezTo>
                  <a:lnTo>
                    <a:pt x="51843" y="1947713"/>
                  </a:lnTo>
                  <a:cubicBezTo>
                    <a:pt x="23211" y="1947713"/>
                    <a:pt x="0" y="1924502"/>
                    <a:pt x="0" y="1895870"/>
                  </a:cubicBezTo>
                  <a:lnTo>
                    <a:pt x="0" y="51843"/>
                  </a:lnTo>
                  <a:cubicBezTo>
                    <a:pt x="0" y="23211"/>
                    <a:pt x="23211" y="0"/>
                    <a:pt x="51843" y="0"/>
                  </a:cubicBezTo>
                  <a:close/>
                </a:path>
              </a:pathLst>
            </a:custGeom>
            <a:solidFill>
              <a:srgbClr val="145DA0"/>
            </a:solidFill>
            <a:ln w="38100" cap="rnd">
              <a:solidFill>
                <a:srgbClr val="FBFCFD"/>
              </a:solidFill>
              <a:prstDash val="solid"/>
              <a:round/>
            </a:ln>
          </p:spPr>
        </p:sp>
        <p:sp>
          <p:nvSpPr>
            <p:cNvPr name="TextBox 14" id="14"/>
            <p:cNvSpPr txBox="true"/>
            <p:nvPr/>
          </p:nvSpPr>
          <p:spPr>
            <a:xfrm>
              <a:off x="0" y="-38100"/>
              <a:ext cx="2005876" cy="1985813"/>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8693580" y="2624270"/>
            <a:ext cx="7616061" cy="7395222"/>
            <a:chOff x="0" y="0"/>
            <a:chExt cx="2005876" cy="1947713"/>
          </a:xfrm>
        </p:grpSpPr>
        <p:sp>
          <p:nvSpPr>
            <p:cNvPr name="Freeform 16" id="16"/>
            <p:cNvSpPr/>
            <p:nvPr/>
          </p:nvSpPr>
          <p:spPr>
            <a:xfrm flipH="false" flipV="false" rot="0">
              <a:off x="0" y="0"/>
              <a:ext cx="2005876" cy="1947713"/>
            </a:xfrm>
            <a:custGeom>
              <a:avLst/>
              <a:gdLst/>
              <a:ahLst/>
              <a:cxnLst/>
              <a:rect r="r" b="b" t="t" l="l"/>
              <a:pathLst>
                <a:path h="1947713" w="2005876">
                  <a:moveTo>
                    <a:pt x="51843" y="0"/>
                  </a:moveTo>
                  <a:lnTo>
                    <a:pt x="1954033" y="0"/>
                  </a:lnTo>
                  <a:cubicBezTo>
                    <a:pt x="1982665" y="0"/>
                    <a:pt x="2005876" y="23211"/>
                    <a:pt x="2005876" y="51843"/>
                  </a:cubicBezTo>
                  <a:lnTo>
                    <a:pt x="2005876" y="1895870"/>
                  </a:lnTo>
                  <a:cubicBezTo>
                    <a:pt x="2005876" y="1924502"/>
                    <a:pt x="1982665" y="1947713"/>
                    <a:pt x="1954033" y="1947713"/>
                  </a:cubicBezTo>
                  <a:lnTo>
                    <a:pt x="51843" y="1947713"/>
                  </a:lnTo>
                  <a:cubicBezTo>
                    <a:pt x="23211" y="1947713"/>
                    <a:pt x="0" y="1924502"/>
                    <a:pt x="0" y="1895870"/>
                  </a:cubicBezTo>
                  <a:lnTo>
                    <a:pt x="0" y="51843"/>
                  </a:lnTo>
                  <a:cubicBezTo>
                    <a:pt x="0" y="23211"/>
                    <a:pt x="23211" y="0"/>
                    <a:pt x="51843" y="0"/>
                  </a:cubicBezTo>
                  <a:close/>
                </a:path>
              </a:pathLst>
            </a:custGeom>
            <a:solidFill>
              <a:srgbClr val="145DA0"/>
            </a:solidFill>
            <a:ln w="38100" cap="rnd">
              <a:solidFill>
                <a:srgbClr val="FBFCFD"/>
              </a:solidFill>
              <a:prstDash val="solid"/>
              <a:round/>
            </a:ln>
          </p:spPr>
        </p:sp>
        <p:sp>
          <p:nvSpPr>
            <p:cNvPr name="TextBox 17" id="17"/>
            <p:cNvSpPr txBox="true"/>
            <p:nvPr/>
          </p:nvSpPr>
          <p:spPr>
            <a:xfrm>
              <a:off x="0" y="-38100"/>
              <a:ext cx="2005876" cy="1985813"/>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794963" y="2870113"/>
            <a:ext cx="5588556" cy="474345"/>
          </a:xfrm>
          <a:prstGeom prst="rect">
            <a:avLst/>
          </a:prstGeom>
        </p:spPr>
        <p:txBody>
          <a:bodyPr anchor="t" rtlCol="false" tIns="0" lIns="0" bIns="0" rIns="0">
            <a:spAutoFit/>
          </a:bodyPr>
          <a:lstStyle/>
          <a:p>
            <a:pPr algn="ctr">
              <a:lnSpc>
                <a:spcPts val="3600"/>
              </a:lnSpc>
              <a:spcBef>
                <a:spcPct val="0"/>
              </a:spcBef>
            </a:pPr>
            <a:r>
              <a:rPr lang="en-US" b="true" sz="3000">
                <a:solidFill>
                  <a:srgbClr val="17E3B2"/>
                </a:solidFill>
                <a:latin typeface="Almarai Bold"/>
                <a:ea typeface="Almarai Bold"/>
                <a:cs typeface="Almarai Bold"/>
                <a:sym typeface="Almarai Bold"/>
              </a:rPr>
              <a:t>COMPORTAMENTO FAIL-SAFE</a:t>
            </a:r>
          </a:p>
        </p:txBody>
      </p:sp>
      <p:sp>
        <p:nvSpPr>
          <p:cNvPr name="TextBox 19" id="19"/>
          <p:cNvSpPr txBox="true"/>
          <p:nvPr/>
        </p:nvSpPr>
        <p:spPr>
          <a:xfrm rot="0">
            <a:off x="1348425" y="8912052"/>
            <a:ext cx="6528715" cy="742950"/>
          </a:xfrm>
          <a:prstGeom prst="rect">
            <a:avLst/>
          </a:prstGeom>
        </p:spPr>
        <p:txBody>
          <a:bodyPr anchor="t" rtlCol="false" tIns="0" lIns="0" bIns="0" rIns="0">
            <a:spAutoFit/>
          </a:bodyPr>
          <a:lstStyle/>
          <a:p>
            <a:pPr algn="ctr">
              <a:lnSpc>
                <a:spcPts val="2999"/>
              </a:lnSpc>
              <a:spcBef>
                <a:spcPct val="0"/>
              </a:spcBef>
            </a:pPr>
            <a:r>
              <a:rPr lang="en-US" sz="2499">
                <a:solidFill>
                  <a:srgbClr val="17E3B2"/>
                </a:solidFill>
                <a:latin typeface="Almarai"/>
                <a:ea typeface="Almarai"/>
                <a:cs typeface="Almarai"/>
                <a:sym typeface="Almarai"/>
              </a:rPr>
              <a:t>La qualità del servizio può degradare.</a:t>
            </a:r>
          </a:p>
          <a:p>
            <a:pPr algn="ctr">
              <a:lnSpc>
                <a:spcPts val="2999"/>
              </a:lnSpc>
              <a:spcBef>
                <a:spcPct val="0"/>
              </a:spcBef>
            </a:pPr>
            <a:r>
              <a:rPr lang="en-US" sz="2499">
                <a:solidFill>
                  <a:srgbClr val="17E3B2"/>
                </a:solidFill>
                <a:latin typeface="Almarai"/>
                <a:ea typeface="Almarai"/>
                <a:cs typeface="Almarai"/>
                <a:sym typeface="Almarai"/>
              </a:rPr>
              <a:t> La sicurezza non viene bypassata.</a:t>
            </a:r>
          </a:p>
        </p:txBody>
      </p:sp>
      <p:sp>
        <p:nvSpPr>
          <p:cNvPr name="TextBox 20" id="20"/>
          <p:cNvSpPr txBox="true"/>
          <p:nvPr/>
        </p:nvSpPr>
        <p:spPr>
          <a:xfrm rot="0">
            <a:off x="1143453" y="3563533"/>
            <a:ext cx="6891576" cy="369570"/>
          </a:xfrm>
          <a:prstGeom prst="rect">
            <a:avLst/>
          </a:prstGeom>
        </p:spPr>
        <p:txBody>
          <a:bodyPr anchor="t" rtlCol="false" tIns="0" lIns="0" bIns="0" rIns="0">
            <a:spAutoFit/>
          </a:bodyPr>
          <a:lstStyle/>
          <a:p>
            <a:pPr algn="ctr">
              <a:lnSpc>
                <a:spcPts val="2759"/>
              </a:lnSpc>
              <a:spcBef>
                <a:spcPct val="0"/>
              </a:spcBef>
            </a:pPr>
            <a:r>
              <a:rPr lang="en-US" b="true" sz="2299">
                <a:solidFill>
                  <a:srgbClr val="FFFFFF"/>
                </a:solidFill>
                <a:latin typeface="Almarai Bold"/>
                <a:ea typeface="Almarai Bold"/>
                <a:cs typeface="Almarai Bold"/>
                <a:sym typeface="Almarai Bold"/>
              </a:rPr>
              <a:t>Una verifica fallita non equivale a un'autorizzazione</a:t>
            </a:r>
          </a:p>
        </p:txBody>
      </p:sp>
      <p:sp>
        <p:nvSpPr>
          <p:cNvPr name="TextBox 21" id="21"/>
          <p:cNvSpPr txBox="true"/>
          <p:nvPr/>
        </p:nvSpPr>
        <p:spPr>
          <a:xfrm rot="0">
            <a:off x="9377589" y="2870113"/>
            <a:ext cx="6248043" cy="474345"/>
          </a:xfrm>
          <a:prstGeom prst="rect">
            <a:avLst/>
          </a:prstGeom>
        </p:spPr>
        <p:txBody>
          <a:bodyPr anchor="t" rtlCol="false" tIns="0" lIns="0" bIns="0" rIns="0">
            <a:spAutoFit/>
          </a:bodyPr>
          <a:lstStyle/>
          <a:p>
            <a:pPr algn="ctr">
              <a:lnSpc>
                <a:spcPts val="3600"/>
              </a:lnSpc>
              <a:spcBef>
                <a:spcPct val="0"/>
              </a:spcBef>
            </a:pPr>
            <a:r>
              <a:rPr lang="en-US" b="true" sz="3000">
                <a:solidFill>
                  <a:srgbClr val="17E3B2"/>
                </a:solidFill>
                <a:latin typeface="Almarai Bold"/>
                <a:ea typeface="Almarai Bold"/>
                <a:cs typeface="Almarai Bold"/>
                <a:sym typeface="Almarai Bold"/>
              </a:rPr>
              <a:t>TRADE-OFF SICUREZZA-LATENZA</a:t>
            </a:r>
          </a:p>
        </p:txBody>
      </p:sp>
      <p:grpSp>
        <p:nvGrpSpPr>
          <p:cNvPr name="Group 22" id="22"/>
          <p:cNvGrpSpPr/>
          <p:nvPr/>
        </p:nvGrpSpPr>
        <p:grpSpPr>
          <a:xfrm rot="0">
            <a:off x="1348425" y="4171228"/>
            <a:ext cx="6481632" cy="1301369"/>
            <a:chOff x="0" y="0"/>
            <a:chExt cx="1707097" cy="342747"/>
          </a:xfrm>
        </p:grpSpPr>
        <p:sp>
          <p:nvSpPr>
            <p:cNvPr name="Freeform 23" id="23"/>
            <p:cNvSpPr/>
            <p:nvPr/>
          </p:nvSpPr>
          <p:spPr>
            <a:xfrm flipH="false" flipV="false" rot="0">
              <a:off x="0" y="0"/>
              <a:ext cx="1707097" cy="342747"/>
            </a:xfrm>
            <a:custGeom>
              <a:avLst/>
              <a:gdLst/>
              <a:ahLst/>
              <a:cxnLst/>
              <a:rect r="r" b="b" t="t" l="l"/>
              <a:pathLst>
                <a:path h="342747" w="1707097">
                  <a:moveTo>
                    <a:pt x="60916" y="0"/>
                  </a:moveTo>
                  <a:lnTo>
                    <a:pt x="1646180" y="0"/>
                  </a:lnTo>
                  <a:cubicBezTo>
                    <a:pt x="1679823" y="0"/>
                    <a:pt x="1707097" y="27273"/>
                    <a:pt x="1707097" y="60916"/>
                  </a:cubicBezTo>
                  <a:lnTo>
                    <a:pt x="1707097" y="281831"/>
                  </a:lnTo>
                  <a:cubicBezTo>
                    <a:pt x="1707097" y="315474"/>
                    <a:pt x="1679823" y="342747"/>
                    <a:pt x="1646180" y="342747"/>
                  </a:cubicBezTo>
                  <a:lnTo>
                    <a:pt x="60916" y="342747"/>
                  </a:lnTo>
                  <a:cubicBezTo>
                    <a:pt x="27273" y="342747"/>
                    <a:pt x="0" y="315474"/>
                    <a:pt x="0" y="281831"/>
                  </a:cubicBezTo>
                  <a:lnTo>
                    <a:pt x="0" y="60916"/>
                  </a:lnTo>
                  <a:cubicBezTo>
                    <a:pt x="0" y="27273"/>
                    <a:pt x="27273" y="0"/>
                    <a:pt x="60916" y="0"/>
                  </a:cubicBezTo>
                  <a:close/>
                </a:path>
              </a:pathLst>
            </a:custGeom>
            <a:solidFill>
              <a:srgbClr val="031E40"/>
            </a:solidFill>
            <a:ln w="38100" cap="rnd">
              <a:solidFill>
                <a:srgbClr val="FFFFFF"/>
              </a:solidFill>
              <a:prstDash val="solid"/>
              <a:round/>
            </a:ln>
          </p:spPr>
        </p:sp>
        <p:sp>
          <p:nvSpPr>
            <p:cNvPr name="TextBox 24" id="24"/>
            <p:cNvSpPr txBox="true"/>
            <p:nvPr/>
          </p:nvSpPr>
          <p:spPr>
            <a:xfrm>
              <a:off x="0" y="-47625"/>
              <a:ext cx="1707097" cy="390372"/>
            </a:xfrm>
            <a:prstGeom prst="rect">
              <a:avLst/>
            </a:prstGeom>
          </p:spPr>
          <p:txBody>
            <a:bodyPr anchor="ctr" rtlCol="false" tIns="50800" lIns="50800" bIns="50800" rIns="50800"/>
            <a:lstStyle/>
            <a:p>
              <a:pPr algn="ctr">
                <a:lnSpc>
                  <a:spcPts val="2800"/>
                </a:lnSpc>
              </a:pPr>
              <a:r>
                <a:rPr lang="en-US" sz="2000" b="true">
                  <a:solidFill>
                    <a:srgbClr val="FFFFFF"/>
                  </a:solidFill>
                  <a:latin typeface="Almarai Bold"/>
                  <a:ea typeface="Almarai Bold"/>
                  <a:cs typeface="Almarai Bold"/>
                  <a:sym typeface="Almarai Bold"/>
                </a:rPr>
                <a:t>FAST PATH</a:t>
              </a:r>
            </a:p>
            <a:p>
              <a:pPr algn="ctr">
                <a:lnSpc>
                  <a:spcPts val="2800"/>
                </a:lnSpc>
              </a:pPr>
              <a:r>
                <a:rPr lang="en-US" sz="2000">
                  <a:solidFill>
                    <a:srgbClr val="FF5757"/>
                  </a:solidFill>
                  <a:latin typeface="Almarai"/>
                  <a:ea typeface="Almarai"/>
                  <a:cs typeface="Almarai"/>
                  <a:sym typeface="Almarai"/>
                </a:rPr>
                <a:t> Output non valido / timeout</a:t>
              </a:r>
            </a:p>
            <a:p>
              <a:pPr algn="ctr">
                <a:lnSpc>
                  <a:spcPts val="2800"/>
                </a:lnSpc>
                <a:spcBef>
                  <a:spcPct val="0"/>
                </a:spcBef>
              </a:pPr>
              <a:r>
                <a:rPr lang="en-US" sz="2000">
                  <a:solidFill>
                    <a:srgbClr val="FFFFFF"/>
                  </a:solidFill>
                  <a:latin typeface="Almarai"/>
                  <a:ea typeface="Almarai"/>
                  <a:cs typeface="Almarai"/>
                  <a:sym typeface="Almarai"/>
                </a:rPr>
                <a:t> → Filler statico approvato</a:t>
              </a:r>
            </a:p>
          </p:txBody>
        </p:sp>
      </p:grpSp>
      <p:grpSp>
        <p:nvGrpSpPr>
          <p:cNvPr name="Group 25" id="25"/>
          <p:cNvGrpSpPr/>
          <p:nvPr/>
        </p:nvGrpSpPr>
        <p:grpSpPr>
          <a:xfrm rot="0">
            <a:off x="1348425" y="5710722"/>
            <a:ext cx="6481632" cy="1301369"/>
            <a:chOff x="0" y="0"/>
            <a:chExt cx="1707097" cy="342747"/>
          </a:xfrm>
        </p:grpSpPr>
        <p:sp>
          <p:nvSpPr>
            <p:cNvPr name="Freeform 26" id="26"/>
            <p:cNvSpPr/>
            <p:nvPr/>
          </p:nvSpPr>
          <p:spPr>
            <a:xfrm flipH="false" flipV="false" rot="0">
              <a:off x="0" y="0"/>
              <a:ext cx="1707097" cy="342747"/>
            </a:xfrm>
            <a:custGeom>
              <a:avLst/>
              <a:gdLst/>
              <a:ahLst/>
              <a:cxnLst/>
              <a:rect r="r" b="b" t="t" l="l"/>
              <a:pathLst>
                <a:path h="342747" w="1707097">
                  <a:moveTo>
                    <a:pt x="60916" y="0"/>
                  </a:moveTo>
                  <a:lnTo>
                    <a:pt x="1646180" y="0"/>
                  </a:lnTo>
                  <a:cubicBezTo>
                    <a:pt x="1679823" y="0"/>
                    <a:pt x="1707097" y="27273"/>
                    <a:pt x="1707097" y="60916"/>
                  </a:cubicBezTo>
                  <a:lnTo>
                    <a:pt x="1707097" y="281831"/>
                  </a:lnTo>
                  <a:cubicBezTo>
                    <a:pt x="1707097" y="315474"/>
                    <a:pt x="1679823" y="342747"/>
                    <a:pt x="1646180" y="342747"/>
                  </a:cubicBezTo>
                  <a:lnTo>
                    <a:pt x="60916" y="342747"/>
                  </a:lnTo>
                  <a:cubicBezTo>
                    <a:pt x="27273" y="342747"/>
                    <a:pt x="0" y="315474"/>
                    <a:pt x="0" y="281831"/>
                  </a:cubicBezTo>
                  <a:lnTo>
                    <a:pt x="0" y="60916"/>
                  </a:lnTo>
                  <a:cubicBezTo>
                    <a:pt x="0" y="27273"/>
                    <a:pt x="27273" y="0"/>
                    <a:pt x="60916" y="0"/>
                  </a:cubicBezTo>
                  <a:close/>
                </a:path>
              </a:pathLst>
            </a:custGeom>
            <a:solidFill>
              <a:srgbClr val="031E40"/>
            </a:solidFill>
            <a:ln w="38100" cap="rnd">
              <a:solidFill>
                <a:srgbClr val="FFFFFF"/>
              </a:solidFill>
              <a:prstDash val="solid"/>
              <a:round/>
            </a:ln>
          </p:spPr>
        </p:sp>
        <p:sp>
          <p:nvSpPr>
            <p:cNvPr name="TextBox 27" id="27"/>
            <p:cNvSpPr txBox="true"/>
            <p:nvPr/>
          </p:nvSpPr>
          <p:spPr>
            <a:xfrm>
              <a:off x="0" y="-47625"/>
              <a:ext cx="1707097" cy="390372"/>
            </a:xfrm>
            <a:prstGeom prst="rect">
              <a:avLst/>
            </a:prstGeom>
          </p:spPr>
          <p:txBody>
            <a:bodyPr anchor="ctr" rtlCol="false" tIns="50800" lIns="50800" bIns="50800" rIns="50800"/>
            <a:lstStyle/>
            <a:p>
              <a:pPr algn="ctr">
                <a:lnSpc>
                  <a:spcPts val="2800"/>
                </a:lnSpc>
              </a:pPr>
              <a:r>
                <a:rPr lang="en-US" sz="2000" b="true">
                  <a:solidFill>
                    <a:srgbClr val="FFFFFF"/>
                  </a:solidFill>
                  <a:latin typeface="Almarai Bold"/>
                  <a:ea typeface="Almarai Bold"/>
                  <a:cs typeface="Almarai Bold"/>
                  <a:sym typeface="Almarai Bold"/>
                </a:rPr>
                <a:t>BACKGROUND PATH</a:t>
              </a:r>
            </a:p>
            <a:p>
              <a:pPr algn="ctr">
                <a:lnSpc>
                  <a:spcPts val="2800"/>
                </a:lnSpc>
              </a:pPr>
              <a:r>
                <a:rPr lang="en-US" sz="2000">
                  <a:solidFill>
                    <a:srgbClr val="FF5757"/>
                  </a:solidFill>
                  <a:latin typeface="Almarai"/>
                  <a:ea typeface="Almarai"/>
                  <a:cs typeface="Almarai"/>
                  <a:sym typeface="Almarai"/>
                </a:rPr>
                <a:t> Risposta non validata</a:t>
              </a:r>
            </a:p>
            <a:p>
              <a:pPr algn="ctr">
                <a:lnSpc>
                  <a:spcPts val="2800"/>
                </a:lnSpc>
                <a:spcBef>
                  <a:spcPct val="0"/>
                </a:spcBef>
              </a:pPr>
              <a:r>
                <a:rPr lang="en-US" b="true" sz="2000">
                  <a:solidFill>
                    <a:srgbClr val="FFFFFF"/>
                  </a:solidFill>
                  <a:latin typeface="Almarai Bold"/>
                  <a:ea typeface="Almarai Bold"/>
                  <a:cs typeface="Almarai Bold"/>
                  <a:sym typeface="Almarai Bold"/>
                </a:rPr>
                <a:t> </a:t>
              </a:r>
              <a:r>
                <a:rPr lang="en-US" sz="2000">
                  <a:solidFill>
                    <a:srgbClr val="FFFFFF"/>
                  </a:solidFill>
                  <a:latin typeface="Almarai"/>
                  <a:ea typeface="Almarai"/>
                  <a:cs typeface="Almarai"/>
                  <a:sym typeface="Almarai"/>
                </a:rPr>
                <a:t>→ Nessuna sintesi audio/video</a:t>
              </a:r>
            </a:p>
          </p:txBody>
        </p:sp>
      </p:grpSp>
      <p:grpSp>
        <p:nvGrpSpPr>
          <p:cNvPr name="Group 28" id="28"/>
          <p:cNvGrpSpPr/>
          <p:nvPr/>
        </p:nvGrpSpPr>
        <p:grpSpPr>
          <a:xfrm rot="0">
            <a:off x="1395508" y="7249337"/>
            <a:ext cx="6481632" cy="1286243"/>
            <a:chOff x="0" y="0"/>
            <a:chExt cx="1707097" cy="338764"/>
          </a:xfrm>
        </p:grpSpPr>
        <p:sp>
          <p:nvSpPr>
            <p:cNvPr name="Freeform 29" id="29"/>
            <p:cNvSpPr/>
            <p:nvPr/>
          </p:nvSpPr>
          <p:spPr>
            <a:xfrm flipH="false" flipV="false" rot="0">
              <a:off x="0" y="0"/>
              <a:ext cx="1707097" cy="338764"/>
            </a:xfrm>
            <a:custGeom>
              <a:avLst/>
              <a:gdLst/>
              <a:ahLst/>
              <a:cxnLst/>
              <a:rect r="r" b="b" t="t" l="l"/>
              <a:pathLst>
                <a:path h="338764" w="1707097">
                  <a:moveTo>
                    <a:pt x="60916" y="0"/>
                  </a:moveTo>
                  <a:lnTo>
                    <a:pt x="1646180" y="0"/>
                  </a:lnTo>
                  <a:cubicBezTo>
                    <a:pt x="1679823" y="0"/>
                    <a:pt x="1707097" y="27273"/>
                    <a:pt x="1707097" y="60916"/>
                  </a:cubicBezTo>
                  <a:lnTo>
                    <a:pt x="1707097" y="277847"/>
                  </a:lnTo>
                  <a:cubicBezTo>
                    <a:pt x="1707097" y="311490"/>
                    <a:pt x="1679823" y="338764"/>
                    <a:pt x="1646180" y="338764"/>
                  </a:cubicBezTo>
                  <a:lnTo>
                    <a:pt x="60916" y="338764"/>
                  </a:lnTo>
                  <a:cubicBezTo>
                    <a:pt x="27273" y="338764"/>
                    <a:pt x="0" y="311490"/>
                    <a:pt x="0" y="277847"/>
                  </a:cubicBezTo>
                  <a:lnTo>
                    <a:pt x="0" y="60916"/>
                  </a:lnTo>
                  <a:cubicBezTo>
                    <a:pt x="0" y="27273"/>
                    <a:pt x="27273" y="0"/>
                    <a:pt x="60916" y="0"/>
                  </a:cubicBezTo>
                  <a:close/>
                </a:path>
              </a:pathLst>
            </a:custGeom>
            <a:solidFill>
              <a:srgbClr val="031E40"/>
            </a:solidFill>
            <a:ln w="38100" cap="rnd">
              <a:solidFill>
                <a:srgbClr val="FFFFFF"/>
              </a:solidFill>
              <a:prstDash val="solid"/>
              <a:round/>
            </a:ln>
          </p:spPr>
        </p:sp>
        <p:sp>
          <p:nvSpPr>
            <p:cNvPr name="TextBox 30" id="30"/>
            <p:cNvSpPr txBox="true"/>
            <p:nvPr/>
          </p:nvSpPr>
          <p:spPr>
            <a:xfrm>
              <a:off x="0" y="-47625"/>
              <a:ext cx="1707097" cy="386389"/>
            </a:xfrm>
            <a:prstGeom prst="rect">
              <a:avLst/>
            </a:prstGeom>
          </p:spPr>
          <p:txBody>
            <a:bodyPr anchor="ctr" rtlCol="false" tIns="50800" lIns="50800" bIns="50800" rIns="50800"/>
            <a:lstStyle/>
            <a:p>
              <a:pPr algn="ctr">
                <a:lnSpc>
                  <a:spcPts val="2800"/>
                </a:lnSpc>
              </a:pPr>
              <a:r>
                <a:rPr lang="en-US" sz="2000" b="true">
                  <a:solidFill>
                    <a:srgbClr val="FFFFFF"/>
                  </a:solidFill>
                  <a:latin typeface="Open Sans Bold"/>
                  <a:ea typeface="Open Sans Bold"/>
                  <a:cs typeface="Open Sans Bold"/>
                  <a:sym typeface="Open Sans Bold"/>
                </a:rPr>
                <a:t>CONTROL PLANE &amp; MEMORIA</a:t>
              </a:r>
            </a:p>
            <a:p>
              <a:pPr algn="ctr">
                <a:lnSpc>
                  <a:spcPts val="2800"/>
                </a:lnSpc>
              </a:pPr>
              <a:r>
                <a:rPr lang="en-US" sz="2000">
                  <a:solidFill>
                    <a:srgbClr val="FF5757"/>
                  </a:solidFill>
                  <a:latin typeface="Open Sans"/>
                  <a:ea typeface="Open Sans"/>
                  <a:cs typeface="Open Sans"/>
                  <a:sym typeface="Open Sans"/>
                </a:rPr>
                <a:t> Messaggio o aggiornamento non valido</a:t>
              </a:r>
            </a:p>
            <a:p>
              <a:pPr algn="ctr">
                <a:lnSpc>
                  <a:spcPts val="2800"/>
                </a:lnSpc>
                <a:spcBef>
                  <a:spcPct val="0"/>
                </a:spcBef>
              </a:pPr>
              <a:r>
                <a:rPr lang="en-US" sz="2000">
                  <a:solidFill>
                    <a:srgbClr val="FFFFFF"/>
                  </a:solidFill>
                  <a:latin typeface="Almarai"/>
                  <a:ea typeface="Almarai"/>
                  <a:cs typeface="Almarai"/>
                  <a:sym typeface="Almarai"/>
                </a:rPr>
                <a:t> → Nessuna transizione / nessuna promozione nella KB</a:t>
              </a:r>
            </a:p>
          </p:txBody>
        </p:sp>
      </p:grpSp>
      <p:grpSp>
        <p:nvGrpSpPr>
          <p:cNvPr name="Group 31" id="31"/>
          <p:cNvGrpSpPr/>
          <p:nvPr/>
        </p:nvGrpSpPr>
        <p:grpSpPr>
          <a:xfrm rot="0">
            <a:off x="9260795" y="3344458"/>
            <a:ext cx="6481632" cy="2227037"/>
            <a:chOff x="0" y="0"/>
            <a:chExt cx="1707097" cy="586545"/>
          </a:xfrm>
        </p:grpSpPr>
        <p:sp>
          <p:nvSpPr>
            <p:cNvPr name="Freeform 32" id="32"/>
            <p:cNvSpPr/>
            <p:nvPr/>
          </p:nvSpPr>
          <p:spPr>
            <a:xfrm flipH="false" flipV="false" rot="0">
              <a:off x="0" y="0"/>
              <a:ext cx="1707097" cy="586545"/>
            </a:xfrm>
            <a:custGeom>
              <a:avLst/>
              <a:gdLst/>
              <a:ahLst/>
              <a:cxnLst/>
              <a:rect r="r" b="b" t="t" l="l"/>
              <a:pathLst>
                <a:path h="586545" w="1707097">
                  <a:moveTo>
                    <a:pt x="60916" y="0"/>
                  </a:moveTo>
                  <a:lnTo>
                    <a:pt x="1646180" y="0"/>
                  </a:lnTo>
                  <a:cubicBezTo>
                    <a:pt x="1679823" y="0"/>
                    <a:pt x="1707097" y="27273"/>
                    <a:pt x="1707097" y="60916"/>
                  </a:cubicBezTo>
                  <a:lnTo>
                    <a:pt x="1707097" y="525628"/>
                  </a:lnTo>
                  <a:cubicBezTo>
                    <a:pt x="1707097" y="559272"/>
                    <a:pt x="1679823" y="586545"/>
                    <a:pt x="1646180" y="586545"/>
                  </a:cubicBezTo>
                  <a:lnTo>
                    <a:pt x="60916" y="586545"/>
                  </a:lnTo>
                  <a:cubicBezTo>
                    <a:pt x="27273" y="586545"/>
                    <a:pt x="0" y="559272"/>
                    <a:pt x="0" y="525628"/>
                  </a:cubicBezTo>
                  <a:lnTo>
                    <a:pt x="0" y="60916"/>
                  </a:lnTo>
                  <a:cubicBezTo>
                    <a:pt x="0" y="27273"/>
                    <a:pt x="27273" y="0"/>
                    <a:pt x="60916" y="0"/>
                  </a:cubicBezTo>
                  <a:close/>
                </a:path>
              </a:pathLst>
            </a:custGeom>
            <a:solidFill>
              <a:srgbClr val="031E40"/>
            </a:solidFill>
            <a:ln w="38100" cap="rnd">
              <a:solidFill>
                <a:srgbClr val="FFFFFF"/>
              </a:solidFill>
              <a:prstDash val="solid"/>
              <a:round/>
            </a:ln>
          </p:spPr>
        </p:sp>
        <p:sp>
          <p:nvSpPr>
            <p:cNvPr name="TextBox 33" id="33"/>
            <p:cNvSpPr txBox="true"/>
            <p:nvPr/>
          </p:nvSpPr>
          <p:spPr>
            <a:xfrm>
              <a:off x="0" y="-38100"/>
              <a:ext cx="1707097" cy="624645"/>
            </a:xfrm>
            <a:prstGeom prst="rect">
              <a:avLst/>
            </a:prstGeom>
          </p:spPr>
          <p:txBody>
            <a:bodyPr anchor="ctr" rtlCol="false" tIns="50800" lIns="50800" bIns="50800" rIns="50800"/>
            <a:lstStyle/>
            <a:p>
              <a:pPr algn="ctr">
                <a:lnSpc>
                  <a:spcPts val="2659"/>
                </a:lnSpc>
              </a:pPr>
              <a:r>
                <a:rPr lang="en-US" sz="1899" b="true">
                  <a:solidFill>
                    <a:srgbClr val="FFFFFF"/>
                  </a:solidFill>
                  <a:latin typeface="Open Sans Bold"/>
                  <a:ea typeface="Open Sans Bold"/>
                  <a:cs typeface="Open Sans Bold"/>
                  <a:sym typeface="Open Sans Bold"/>
                </a:rPr>
                <a:t>FAST PATH — &lt; 800 ms</a:t>
              </a:r>
            </a:p>
            <a:p>
              <a:pPr algn="l">
                <a:lnSpc>
                  <a:spcPts val="2659"/>
                </a:lnSpc>
              </a:pPr>
              <a:r>
                <a:rPr lang="en-US" sz="1899">
                  <a:solidFill>
                    <a:srgbClr val="FFFFFF"/>
                  </a:solidFill>
                  <a:latin typeface="Open Sans"/>
                  <a:ea typeface="Open Sans"/>
                  <a:cs typeface="Open Sans"/>
                  <a:sym typeface="Open Sans"/>
                </a:rPr>
                <a:t>Con</a:t>
              </a:r>
              <a:r>
                <a:rPr lang="en-US" sz="1899">
                  <a:solidFill>
                    <a:srgbClr val="FFFFFF"/>
                  </a:solidFill>
                  <a:latin typeface="Open Sans"/>
                  <a:ea typeface="Open Sans"/>
                  <a:cs typeface="Open Sans"/>
                  <a:sym typeface="Open Sans"/>
                </a:rPr>
                <a:t>trolli sincroni e leggeri</a:t>
              </a:r>
            </a:p>
            <a:p>
              <a:pPr algn="l" marL="410209" indent="-205105" lvl="1">
                <a:lnSpc>
                  <a:spcPts val="2659"/>
                </a:lnSpc>
                <a:buFont typeface="Arial"/>
                <a:buChar char="•"/>
              </a:pPr>
              <a:r>
                <a:rPr lang="en-US" sz="1899">
                  <a:solidFill>
                    <a:srgbClr val="FFFFFF"/>
                  </a:solidFill>
                  <a:latin typeface="Open Sans"/>
                  <a:ea typeface="Open Sans"/>
                  <a:cs typeface="Open Sans"/>
                  <a:sym typeface="Open Sans"/>
                </a:rPr>
                <a:t>Session / Job binding</a:t>
              </a:r>
            </a:p>
            <a:p>
              <a:pPr algn="l" marL="410209" indent="-205105" lvl="1">
                <a:lnSpc>
                  <a:spcPts val="2659"/>
                </a:lnSpc>
                <a:buFont typeface="Arial"/>
                <a:buChar char="•"/>
              </a:pPr>
              <a:r>
                <a:rPr lang="en-US" sz="1899">
                  <a:solidFill>
                    <a:srgbClr val="FFFFFF"/>
                  </a:solidFill>
                  <a:latin typeface="Open Sans"/>
                  <a:ea typeface="Open Sans"/>
                  <a:cs typeface="Open Sans"/>
                  <a:sym typeface="Open Sans"/>
                </a:rPr>
                <a:t>Validazione schema ed enum</a:t>
              </a:r>
            </a:p>
            <a:p>
              <a:pPr algn="l" marL="410209" indent="-205105" lvl="1">
                <a:lnSpc>
                  <a:spcPts val="2659"/>
                </a:lnSpc>
                <a:buFont typeface="Arial"/>
                <a:buChar char="•"/>
              </a:pPr>
              <a:r>
                <a:rPr lang="en-US" sz="1899">
                  <a:solidFill>
                    <a:srgbClr val="FFFFFF"/>
                  </a:solidFill>
                  <a:latin typeface="Open Sans"/>
                  <a:ea typeface="Open Sans"/>
                  <a:cs typeface="Open Sans"/>
                  <a:sym typeface="Open Sans"/>
                </a:rPr>
                <a:t>Sequence</a:t>
              </a:r>
              <a:r>
                <a:rPr lang="en-US" sz="1899">
                  <a:solidFill>
                    <a:srgbClr val="FFFFFF"/>
                  </a:solidFill>
                  <a:latin typeface="Open Sans"/>
                  <a:ea typeface="Open Sans"/>
                  <a:cs typeface="Open Sans"/>
                  <a:sym typeface="Open Sans"/>
                </a:rPr>
                <a:t> number e stato</a:t>
              </a:r>
            </a:p>
            <a:p>
              <a:pPr algn="l" marL="410209" indent="-205105" lvl="1">
                <a:lnSpc>
                  <a:spcPts val="2659"/>
                </a:lnSpc>
                <a:spcBef>
                  <a:spcPct val="0"/>
                </a:spcBef>
                <a:buFont typeface="Arial"/>
                <a:buChar char="•"/>
              </a:pPr>
              <a:r>
                <a:rPr lang="en-US" sz="1899">
                  <a:solidFill>
                    <a:srgbClr val="FFFFFF"/>
                  </a:solidFill>
                  <a:latin typeface="Open Sans"/>
                  <a:ea typeface="Open Sans"/>
                  <a:cs typeface="Open Sans"/>
                  <a:sym typeface="Open Sans"/>
                </a:rPr>
                <a:t>Controllo leggero della goal integrity</a:t>
              </a:r>
            </a:p>
          </p:txBody>
        </p:sp>
      </p:grpSp>
      <p:grpSp>
        <p:nvGrpSpPr>
          <p:cNvPr name="Group 34" id="34"/>
          <p:cNvGrpSpPr/>
          <p:nvPr/>
        </p:nvGrpSpPr>
        <p:grpSpPr>
          <a:xfrm rot="0">
            <a:off x="9260795" y="5571496"/>
            <a:ext cx="6481632" cy="1877644"/>
            <a:chOff x="0" y="0"/>
            <a:chExt cx="1707097" cy="494524"/>
          </a:xfrm>
        </p:grpSpPr>
        <p:sp>
          <p:nvSpPr>
            <p:cNvPr name="Freeform 35" id="35"/>
            <p:cNvSpPr/>
            <p:nvPr/>
          </p:nvSpPr>
          <p:spPr>
            <a:xfrm flipH="false" flipV="false" rot="0">
              <a:off x="0" y="0"/>
              <a:ext cx="1707097" cy="494524"/>
            </a:xfrm>
            <a:custGeom>
              <a:avLst/>
              <a:gdLst/>
              <a:ahLst/>
              <a:cxnLst/>
              <a:rect r="r" b="b" t="t" l="l"/>
              <a:pathLst>
                <a:path h="494524" w="1707097">
                  <a:moveTo>
                    <a:pt x="60916" y="0"/>
                  </a:moveTo>
                  <a:lnTo>
                    <a:pt x="1646180" y="0"/>
                  </a:lnTo>
                  <a:cubicBezTo>
                    <a:pt x="1679823" y="0"/>
                    <a:pt x="1707097" y="27273"/>
                    <a:pt x="1707097" y="60916"/>
                  </a:cubicBezTo>
                  <a:lnTo>
                    <a:pt x="1707097" y="433607"/>
                  </a:lnTo>
                  <a:cubicBezTo>
                    <a:pt x="1707097" y="467250"/>
                    <a:pt x="1679823" y="494524"/>
                    <a:pt x="1646180" y="494524"/>
                  </a:cubicBezTo>
                  <a:lnTo>
                    <a:pt x="60916" y="494524"/>
                  </a:lnTo>
                  <a:cubicBezTo>
                    <a:pt x="27273" y="494524"/>
                    <a:pt x="0" y="467250"/>
                    <a:pt x="0" y="433607"/>
                  </a:cubicBezTo>
                  <a:lnTo>
                    <a:pt x="0" y="60916"/>
                  </a:lnTo>
                  <a:cubicBezTo>
                    <a:pt x="0" y="27273"/>
                    <a:pt x="27273" y="0"/>
                    <a:pt x="60916" y="0"/>
                  </a:cubicBezTo>
                  <a:close/>
                </a:path>
              </a:pathLst>
            </a:custGeom>
            <a:solidFill>
              <a:srgbClr val="031E40"/>
            </a:solidFill>
            <a:ln w="38100" cap="rnd">
              <a:solidFill>
                <a:srgbClr val="FFFFFF"/>
              </a:solidFill>
              <a:prstDash val="solid"/>
              <a:round/>
            </a:ln>
          </p:spPr>
        </p:sp>
        <p:sp>
          <p:nvSpPr>
            <p:cNvPr name="TextBox 36" id="36"/>
            <p:cNvSpPr txBox="true"/>
            <p:nvPr/>
          </p:nvSpPr>
          <p:spPr>
            <a:xfrm>
              <a:off x="0" y="-38100"/>
              <a:ext cx="1707097" cy="532624"/>
            </a:xfrm>
            <a:prstGeom prst="rect">
              <a:avLst/>
            </a:prstGeom>
          </p:spPr>
          <p:txBody>
            <a:bodyPr anchor="ctr" rtlCol="false" tIns="50800" lIns="50800" bIns="50800" rIns="50800"/>
            <a:lstStyle/>
            <a:p>
              <a:pPr algn="ctr">
                <a:lnSpc>
                  <a:spcPts val="2659"/>
                </a:lnSpc>
              </a:pPr>
              <a:r>
                <a:rPr lang="en-US" sz="1899" b="true">
                  <a:solidFill>
                    <a:srgbClr val="FFFFFF"/>
                  </a:solidFill>
                  <a:latin typeface="Open Sans Bold"/>
                  <a:ea typeface="Open Sans Bold"/>
                  <a:cs typeface="Open Sans Bold"/>
                  <a:sym typeface="Open Sans Bold"/>
                </a:rPr>
                <a:t>BACKGROUND PATH</a:t>
              </a:r>
            </a:p>
            <a:p>
              <a:pPr algn="l">
                <a:lnSpc>
                  <a:spcPts val="2659"/>
                </a:lnSpc>
              </a:pPr>
              <a:r>
                <a:rPr lang="en-US" sz="1899">
                  <a:solidFill>
                    <a:srgbClr val="FFFFFF"/>
                  </a:solidFill>
                  <a:latin typeface="Open Sans"/>
                  <a:ea typeface="Open Sans"/>
                  <a:cs typeface="Open Sans"/>
                  <a:sym typeface="Open Sans"/>
                </a:rPr>
                <a:t>Con</a:t>
              </a:r>
              <a:r>
                <a:rPr lang="en-US" sz="1899">
                  <a:solidFill>
                    <a:srgbClr val="FFFFFF"/>
                  </a:solidFill>
                  <a:latin typeface="Open Sans"/>
                  <a:ea typeface="Open Sans"/>
                  <a:cs typeface="Open Sans"/>
                  <a:sym typeface="Open Sans"/>
                </a:rPr>
                <a:t>trolli più approfonditi</a:t>
              </a:r>
            </a:p>
            <a:p>
              <a:pPr algn="l" marL="410209" indent="-205105" lvl="1">
                <a:lnSpc>
                  <a:spcPts val="2659"/>
                </a:lnSpc>
                <a:buFont typeface="Arial"/>
                <a:buChar char="•"/>
              </a:pPr>
              <a:r>
                <a:rPr lang="en-US" sz="1899">
                  <a:solidFill>
                    <a:srgbClr val="FFFFFF"/>
                  </a:solidFill>
                  <a:latin typeface="Open Sans"/>
                  <a:ea typeface="Open Sans"/>
                  <a:cs typeface="Open Sans"/>
                  <a:sym typeface="Open Sans"/>
                </a:rPr>
                <a:t>Validazione del contesto RAG</a:t>
              </a:r>
            </a:p>
            <a:p>
              <a:pPr algn="l" marL="410209" indent="-205105" lvl="1">
                <a:lnSpc>
                  <a:spcPts val="2659"/>
                </a:lnSpc>
                <a:buFont typeface="Arial"/>
                <a:buChar char="•"/>
              </a:pPr>
              <a:r>
                <a:rPr lang="en-US" sz="1899">
                  <a:solidFill>
                    <a:srgbClr val="FFFFFF"/>
                  </a:solidFill>
                  <a:latin typeface="Open Sans"/>
                  <a:ea typeface="Open Sans"/>
                  <a:cs typeface="Open Sans"/>
                  <a:sym typeface="Open Sans"/>
                </a:rPr>
                <a:t>D</a:t>
              </a:r>
              <a:r>
                <a:rPr lang="en-US" sz="1899">
                  <a:solidFill>
                    <a:srgbClr val="FFFFFF"/>
                  </a:solidFill>
                  <a:latin typeface="Open Sans"/>
                  <a:ea typeface="Open Sans"/>
                  <a:cs typeface="Open Sans"/>
                  <a:sym typeface="Open Sans"/>
                </a:rPr>
                <a:t>eep</a:t>
              </a:r>
              <a:r>
                <a:rPr lang="en-US" sz="1899">
                  <a:solidFill>
                    <a:srgbClr val="FFFFFF"/>
                  </a:solidFill>
                  <a:latin typeface="Open Sans"/>
                  <a:ea typeface="Open Sans"/>
                  <a:cs typeface="Open Sans"/>
                  <a:sym typeface="Open Sans"/>
                </a:rPr>
                <a:t> Output Guard</a:t>
              </a:r>
            </a:p>
            <a:p>
              <a:pPr algn="l" marL="410209" indent="-205105" lvl="1">
                <a:lnSpc>
                  <a:spcPts val="2659"/>
                </a:lnSpc>
                <a:spcBef>
                  <a:spcPct val="0"/>
                </a:spcBef>
                <a:buFont typeface="Arial"/>
                <a:buChar char="•"/>
              </a:pPr>
              <a:r>
                <a:rPr lang="en-US" sz="1899">
                  <a:solidFill>
                    <a:srgbClr val="FFFFFF"/>
                  </a:solidFill>
                  <a:latin typeface="Open Sans"/>
                  <a:ea typeface="Open Sans"/>
                  <a:cs typeface="Open Sans"/>
                  <a:sym typeface="Open Sans"/>
                </a:rPr>
                <a:t>Controlli semantici</a:t>
              </a:r>
            </a:p>
          </p:txBody>
        </p:sp>
      </p:grpSp>
      <p:grpSp>
        <p:nvGrpSpPr>
          <p:cNvPr name="Group 37" id="37"/>
          <p:cNvGrpSpPr/>
          <p:nvPr/>
        </p:nvGrpSpPr>
        <p:grpSpPr>
          <a:xfrm rot="0">
            <a:off x="9260795" y="7449140"/>
            <a:ext cx="6481632" cy="1544269"/>
            <a:chOff x="0" y="0"/>
            <a:chExt cx="1707097" cy="406721"/>
          </a:xfrm>
        </p:grpSpPr>
        <p:sp>
          <p:nvSpPr>
            <p:cNvPr name="Freeform 38" id="38"/>
            <p:cNvSpPr/>
            <p:nvPr/>
          </p:nvSpPr>
          <p:spPr>
            <a:xfrm flipH="false" flipV="false" rot="0">
              <a:off x="0" y="0"/>
              <a:ext cx="1707097" cy="406721"/>
            </a:xfrm>
            <a:custGeom>
              <a:avLst/>
              <a:gdLst/>
              <a:ahLst/>
              <a:cxnLst/>
              <a:rect r="r" b="b" t="t" l="l"/>
              <a:pathLst>
                <a:path h="406721" w="1707097">
                  <a:moveTo>
                    <a:pt x="60916" y="0"/>
                  </a:moveTo>
                  <a:lnTo>
                    <a:pt x="1646180" y="0"/>
                  </a:lnTo>
                  <a:cubicBezTo>
                    <a:pt x="1679823" y="0"/>
                    <a:pt x="1707097" y="27273"/>
                    <a:pt x="1707097" y="60916"/>
                  </a:cubicBezTo>
                  <a:lnTo>
                    <a:pt x="1707097" y="345805"/>
                  </a:lnTo>
                  <a:cubicBezTo>
                    <a:pt x="1707097" y="379448"/>
                    <a:pt x="1679823" y="406721"/>
                    <a:pt x="1646180" y="406721"/>
                  </a:cubicBezTo>
                  <a:lnTo>
                    <a:pt x="60916" y="406721"/>
                  </a:lnTo>
                  <a:cubicBezTo>
                    <a:pt x="27273" y="406721"/>
                    <a:pt x="0" y="379448"/>
                    <a:pt x="0" y="345805"/>
                  </a:cubicBezTo>
                  <a:lnTo>
                    <a:pt x="0" y="60916"/>
                  </a:lnTo>
                  <a:cubicBezTo>
                    <a:pt x="0" y="27273"/>
                    <a:pt x="27273" y="0"/>
                    <a:pt x="60916" y="0"/>
                  </a:cubicBezTo>
                  <a:close/>
                </a:path>
              </a:pathLst>
            </a:custGeom>
            <a:solidFill>
              <a:srgbClr val="031E40"/>
            </a:solidFill>
            <a:ln w="38100" cap="rnd">
              <a:solidFill>
                <a:srgbClr val="FFFFFF"/>
              </a:solidFill>
              <a:prstDash val="solid"/>
              <a:round/>
            </a:ln>
          </p:spPr>
        </p:sp>
        <p:sp>
          <p:nvSpPr>
            <p:cNvPr name="TextBox 39" id="39"/>
            <p:cNvSpPr txBox="true"/>
            <p:nvPr/>
          </p:nvSpPr>
          <p:spPr>
            <a:xfrm>
              <a:off x="0" y="-38100"/>
              <a:ext cx="1707097" cy="444821"/>
            </a:xfrm>
            <a:prstGeom prst="rect">
              <a:avLst/>
            </a:prstGeom>
          </p:spPr>
          <p:txBody>
            <a:bodyPr anchor="ctr" rtlCol="false" tIns="50800" lIns="50800" bIns="50800" rIns="50800"/>
            <a:lstStyle/>
            <a:p>
              <a:pPr algn="ctr">
                <a:lnSpc>
                  <a:spcPts val="2659"/>
                </a:lnSpc>
              </a:pPr>
              <a:r>
                <a:rPr lang="en-US" sz="1899" b="true">
                  <a:solidFill>
                    <a:srgbClr val="FFFFFF"/>
                  </a:solidFill>
                  <a:latin typeface="Open Sans Bold"/>
                  <a:ea typeface="Open Sans Bold"/>
                  <a:cs typeface="Open Sans Bold"/>
                  <a:sym typeface="Open Sans Bold"/>
                </a:rPr>
                <a:t>ASINCRONO / OFFLINE</a:t>
              </a:r>
            </a:p>
            <a:p>
              <a:pPr algn="just">
                <a:lnSpc>
                  <a:spcPts val="2659"/>
                </a:lnSpc>
              </a:pPr>
              <a:r>
                <a:rPr lang="en-US" sz="1899">
                  <a:solidFill>
                    <a:srgbClr val="FFFFFF"/>
                  </a:solidFill>
                  <a:latin typeface="Open Sans"/>
                  <a:ea typeface="Open Sans"/>
                  <a:cs typeface="Open Sans"/>
                  <a:sym typeface="Open Sans"/>
                </a:rPr>
                <a:t>Fuo</a:t>
              </a:r>
              <a:r>
                <a:rPr lang="en-US" sz="1899">
                  <a:solidFill>
                    <a:srgbClr val="FFFFFF"/>
                  </a:solidFill>
                  <a:latin typeface="Open Sans"/>
                  <a:ea typeface="Open Sans"/>
                  <a:cs typeface="Open Sans"/>
                  <a:sym typeface="Open Sans"/>
                </a:rPr>
                <a:t>ri dal percorso critico</a:t>
              </a:r>
            </a:p>
            <a:p>
              <a:pPr algn="just" marL="410209" indent="-205105" lvl="1">
                <a:lnSpc>
                  <a:spcPts val="2659"/>
                </a:lnSpc>
                <a:buFont typeface="Arial"/>
                <a:buChar char="•"/>
              </a:pPr>
              <a:r>
                <a:rPr lang="en-US" sz="1899">
                  <a:solidFill>
                    <a:srgbClr val="FFFFFF"/>
                  </a:solidFill>
                  <a:latin typeface="Open Sans"/>
                  <a:ea typeface="Open Sans"/>
                  <a:cs typeface="Open Sans"/>
                  <a:sym typeface="Open Sans"/>
                </a:rPr>
                <a:t>Audit e anomaly detection, HITL, SBOM / AIBOM</a:t>
              </a:r>
            </a:p>
            <a:p>
              <a:pPr algn="just" marL="410209" indent="-205105" lvl="1">
                <a:lnSpc>
                  <a:spcPts val="2659"/>
                </a:lnSpc>
                <a:spcBef>
                  <a:spcPct val="0"/>
                </a:spcBef>
                <a:buFont typeface="Arial"/>
                <a:buChar char="•"/>
              </a:pPr>
              <a:r>
                <a:rPr lang="en-US" sz="1899">
                  <a:solidFill>
                    <a:srgbClr val="FFFFFF"/>
                  </a:solidFill>
                  <a:latin typeface="Open Sans"/>
                  <a:ea typeface="Open Sans"/>
                  <a:cs typeface="Open Sans"/>
                  <a:sym typeface="Open Sans"/>
                </a:rPr>
                <a:t>Vulnerability scan</a:t>
              </a:r>
              <a:r>
                <a:rPr lang="en-US" sz="1899">
                  <a:solidFill>
                    <a:srgbClr val="FFFFFF"/>
                  </a:solidFill>
                  <a:latin typeface="Open Sans"/>
                  <a:ea typeface="Open Sans"/>
                  <a:cs typeface="Open Sans"/>
                  <a:sym typeface="Open Sans"/>
                </a:rPr>
                <a:t>ni</a:t>
              </a:r>
              <a:r>
                <a:rPr lang="en-US" sz="1899">
                  <a:solidFill>
                    <a:srgbClr val="FFFFFF"/>
                  </a:solidFill>
                  <a:latin typeface="Open Sans"/>
                  <a:ea typeface="Open Sans"/>
                  <a:cs typeface="Open Sans"/>
                  <a:sym typeface="Open Sans"/>
                </a:rPr>
                <a:t>ng, Red teaming</a:t>
              </a:r>
            </a:p>
          </p:txBody>
        </p:sp>
      </p:grpSp>
      <p:sp>
        <p:nvSpPr>
          <p:cNvPr name="TextBox 40" id="40"/>
          <p:cNvSpPr txBox="true"/>
          <p:nvPr/>
        </p:nvSpPr>
        <p:spPr>
          <a:xfrm rot="0">
            <a:off x="8894202" y="8945784"/>
            <a:ext cx="7214816" cy="860425"/>
          </a:xfrm>
          <a:prstGeom prst="rect">
            <a:avLst/>
          </a:prstGeom>
        </p:spPr>
        <p:txBody>
          <a:bodyPr anchor="t" rtlCol="false" tIns="0" lIns="0" bIns="0" rIns="0">
            <a:spAutoFit/>
          </a:bodyPr>
          <a:lstStyle/>
          <a:p>
            <a:pPr algn="ctr">
              <a:lnSpc>
                <a:spcPts val="3499"/>
              </a:lnSpc>
              <a:spcBef>
                <a:spcPct val="0"/>
              </a:spcBef>
            </a:pPr>
            <a:r>
              <a:rPr lang="en-US" sz="2499">
                <a:solidFill>
                  <a:srgbClr val="17E3B2"/>
                </a:solidFill>
                <a:latin typeface="Almarai"/>
                <a:ea typeface="Almarai"/>
                <a:cs typeface="Almarai"/>
                <a:sym typeface="Almarai"/>
              </a:rPr>
              <a:t>La latenza si ottimizza collocando correttamente i controlli, non eliminandoli.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76394" y="1467525"/>
            <a:ext cx="12704788"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VALIDAZIONE SPERIMENTALE</a:t>
            </a:r>
          </a:p>
        </p:txBody>
      </p:sp>
      <p:sp>
        <p:nvSpPr>
          <p:cNvPr name="TextBox 11" id="11"/>
          <p:cNvSpPr txBox="true"/>
          <p:nvPr/>
        </p:nvSpPr>
        <p:spPr>
          <a:xfrm rot="0">
            <a:off x="1768405" y="2819923"/>
            <a:ext cx="7555373"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Obiettivo</a:t>
            </a:r>
          </a:p>
        </p:txBody>
      </p:sp>
      <p:sp>
        <p:nvSpPr>
          <p:cNvPr name="TextBox 12" id="12"/>
          <p:cNvSpPr txBox="true"/>
          <p:nvPr/>
        </p:nvSpPr>
        <p:spPr>
          <a:xfrm rot="0">
            <a:off x="1768405" y="3686461"/>
            <a:ext cx="14555022" cy="799204"/>
          </a:xfrm>
          <a:prstGeom prst="rect">
            <a:avLst/>
          </a:prstGeom>
        </p:spPr>
        <p:txBody>
          <a:bodyPr anchor="t" rtlCol="false" tIns="0" lIns="0" bIns="0" rIns="0">
            <a:spAutoFit/>
          </a:bodyPr>
          <a:lstStyle/>
          <a:p>
            <a:pPr algn="l">
              <a:lnSpc>
                <a:spcPts val="2759"/>
              </a:lnSpc>
            </a:pPr>
            <a:r>
              <a:rPr lang="en-US" sz="1999">
                <a:solidFill>
                  <a:srgbClr val="FFFFFF"/>
                </a:solidFill>
                <a:latin typeface="Almarai"/>
                <a:ea typeface="Almarai"/>
                <a:cs typeface="Almarai"/>
                <a:sym typeface="Almarai"/>
              </a:rPr>
              <a:t>Verificare empiricamente se i controlli introdotti spezzino le catene d'attacco dei cinque scenari prioritari, evitando di assumere a priori l'efficacia delle mitigazioni progettate.</a:t>
            </a:r>
          </a:p>
        </p:txBody>
      </p:sp>
      <p:sp>
        <p:nvSpPr>
          <p:cNvPr name="TextBox 13" id="13"/>
          <p:cNvSpPr txBox="true"/>
          <p:nvPr/>
        </p:nvSpPr>
        <p:spPr>
          <a:xfrm rot="0">
            <a:off x="1028700" y="1480657"/>
            <a:ext cx="1456246" cy="850434"/>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11</a:t>
            </a:r>
          </a:p>
        </p:txBody>
      </p:sp>
      <p:sp>
        <p:nvSpPr>
          <p:cNvPr name="TextBox 14" id="14"/>
          <p:cNvSpPr txBox="true"/>
          <p:nvPr/>
        </p:nvSpPr>
        <p:spPr>
          <a:xfrm rot="0">
            <a:off x="1756823" y="4742840"/>
            <a:ext cx="7555373"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Metodologia</a:t>
            </a:r>
          </a:p>
        </p:txBody>
      </p:sp>
      <p:sp>
        <p:nvSpPr>
          <p:cNvPr name="TextBox 15" id="15"/>
          <p:cNvSpPr txBox="true"/>
          <p:nvPr/>
        </p:nvSpPr>
        <p:spPr>
          <a:xfrm rot="0">
            <a:off x="1756823" y="5609378"/>
            <a:ext cx="14555022" cy="1202615"/>
          </a:xfrm>
          <a:prstGeom prst="rect">
            <a:avLst/>
          </a:prstGeom>
        </p:spPr>
        <p:txBody>
          <a:bodyPr anchor="t" rtlCol="false" tIns="0" lIns="0" bIns="0" rIns="0">
            <a:spAutoFit/>
          </a:bodyPr>
          <a:lstStyle/>
          <a:p>
            <a:pPr algn="l">
              <a:lnSpc>
                <a:spcPts val="2759"/>
              </a:lnSpc>
            </a:pPr>
            <a:r>
              <a:rPr lang="en-US" sz="1999">
                <a:solidFill>
                  <a:srgbClr val="FFFFFF"/>
                </a:solidFill>
                <a:latin typeface="Almarai"/>
                <a:ea typeface="Almarai"/>
                <a:cs typeface="Almarai"/>
                <a:sym typeface="Almarai"/>
              </a:rPr>
              <a:t>Esecuzione dei test in un ambiente isolato e versionato (modelli, prompt, KB e policy). Si adotta una verifica diretta delle proprietà attese per i controlli deterministici e una valutazione comparativa tra la configurazione protetta e la baseline priva di difese per quelli probabilistici.</a:t>
            </a:r>
          </a:p>
        </p:txBody>
      </p:sp>
      <p:sp>
        <p:nvSpPr>
          <p:cNvPr name="TextBox 16" id="16"/>
          <p:cNvSpPr txBox="true"/>
          <p:nvPr/>
        </p:nvSpPr>
        <p:spPr>
          <a:xfrm rot="0">
            <a:off x="1756823" y="7069169"/>
            <a:ext cx="10084969"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Metriche e Criteri di Accettazione</a:t>
            </a:r>
          </a:p>
        </p:txBody>
      </p:sp>
      <p:sp>
        <p:nvSpPr>
          <p:cNvPr name="TextBox 17" id="17"/>
          <p:cNvSpPr txBox="true"/>
          <p:nvPr/>
        </p:nvSpPr>
        <p:spPr>
          <a:xfrm rot="0">
            <a:off x="1756823" y="7935707"/>
            <a:ext cx="14555022" cy="1202615"/>
          </a:xfrm>
          <a:prstGeom prst="rect">
            <a:avLst/>
          </a:prstGeom>
        </p:spPr>
        <p:txBody>
          <a:bodyPr anchor="t" rtlCol="false" tIns="0" lIns="0" bIns="0" rIns="0">
            <a:spAutoFit/>
          </a:bodyPr>
          <a:lstStyle/>
          <a:p>
            <a:pPr algn="l">
              <a:lnSpc>
                <a:spcPts val="2759"/>
              </a:lnSpc>
            </a:pPr>
            <a:r>
              <a:rPr lang="en-US" sz="1999">
                <a:solidFill>
                  <a:srgbClr val="FFFFFF"/>
                </a:solidFill>
                <a:latin typeface="Almarai"/>
                <a:ea typeface="Almarai"/>
                <a:cs typeface="Almarai"/>
                <a:sym typeface="Almarai"/>
              </a:rPr>
              <a:t>Vengono stabilite a priori soglie quantitative su metriche chiave quali Attack Success Rate, tasso di rilevamento, falsi positivi e sull'overhead di latenza introdotto nel Fast Path. Per i meccanismi deterministici si impone l'assenza totale di accessi, messaggi o transizioni non autorizzate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3953" y="1338262"/>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aphicFrame>
        <p:nvGraphicFramePr>
          <p:cNvPr name="Table 10" id="10"/>
          <p:cNvGraphicFramePr>
            <a:graphicFrameLocks noGrp="true"/>
          </p:cNvGraphicFramePr>
          <p:nvPr/>
        </p:nvGraphicFramePr>
        <p:xfrm>
          <a:off x="945207" y="3579374"/>
          <a:ext cx="16502733" cy="6286188"/>
        </p:xfrm>
        <a:graphic>
          <a:graphicData uri="http://schemas.openxmlformats.org/drawingml/2006/table">
            <a:tbl>
              <a:tblPr/>
              <a:tblGrid>
                <a:gridCol w="2168421"/>
                <a:gridCol w="5473058"/>
                <a:gridCol w="4225093"/>
                <a:gridCol w="4636161"/>
              </a:tblGrid>
              <a:tr h="837035">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Scenario</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Tipo di Test &amp; Procedura</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Metriche Chiave</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Criterio di Accettazione</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14618">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SC1: Goal Hijack</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Injection diretta/indiretta, chunk splitting e prompt in arabo/dialetto</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Attack Success Rate, Fallback Rate, Δt</a:t>
                      </a:r>
                      <a:r>
                        <a:rPr lang="en-US" sz="1700">
                          <a:solidFill>
                            <a:srgbClr val="FFFFFF"/>
                          </a:solidFill>
                          <a:latin typeface="Almarai"/>
                          <a:ea typeface="Almarai"/>
                          <a:cs typeface="Almarai"/>
                          <a:sym typeface="Almarai"/>
                        </a:rPr>
                        <a:t>gua</a:t>
                      </a:r>
                      <a:r>
                        <a:rPr lang="en-US" sz="1700">
                          <a:solidFill>
                            <a:srgbClr val="FFFFFF"/>
                          </a:solidFill>
                          <a:latin typeface="Almarai"/>
                          <a:ea typeface="Almarai"/>
                          <a:cs typeface="Almarai"/>
                          <a:sym typeface="Almarai"/>
                        </a:rPr>
                        <a:t>r</a:t>
                      </a:r>
                      <a:r>
                        <a:rPr lang="en-US" sz="1700">
                          <a:solidFill>
                            <a:srgbClr val="FFFFFF"/>
                          </a:solidFill>
                          <a:latin typeface="Almarai"/>
                          <a:ea typeface="Almarai"/>
                          <a:cs typeface="Almarai"/>
                          <a:sym typeface="Almarai"/>
                        </a:rPr>
                        <a:t>d</a:t>
                      </a:r>
                      <a:r>
                        <a:rPr lang="en-US" sz="1700">
                          <a:solidFill>
                            <a:srgbClr val="FFFFFF"/>
                          </a:solidFill>
                          <a:latin typeface="Almarai"/>
                          <a:ea typeface="Almarai"/>
                          <a:cs typeface="Almarai"/>
                          <a:sym typeface="Almarai"/>
                        </a:rPr>
                        <a:t>​</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Nessun output deviato downstream; overhead Fast Path misurato</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114618">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SC6: Poisoning</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Iniezione chunk avversariali in copia isolata FAISS e segnali feedback sintetici</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Poisoned-item acceptance rate, rank drift, detection rate</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Nessuna promozione su KB attiva e isolamento cross-sessione</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73305">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SC3: Privilege Abuse</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Negative testing: chiamate a D4/D8 con token errati o audience non autorizzate</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Unauthorized-action acceptance rate, policy denial rate</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Zero</a:t>
                      </a:r>
                      <a:r>
                        <a:rPr lang="en-US" sz="1700">
                          <a:solidFill>
                            <a:srgbClr val="FFFFFF"/>
                          </a:solidFill>
                          <a:latin typeface="Almarai"/>
                          <a:ea typeface="Almarai"/>
                          <a:cs typeface="Almarai"/>
                          <a:sym typeface="Almarai"/>
                        </a:rPr>
                        <a:t> azioni non autorizzate ammesse; attribuzione certa a log</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73305">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SC7: Message Replay</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Manipolazione sequence number, replay timestamp e falsi Video Ready Signal</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Replay/tampered acceptance rate, cross-session rate</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Zero</a:t>
                      </a:r>
                      <a:r>
                        <a:rPr lang="en-US" sz="1700">
                          <a:solidFill>
                            <a:srgbClr val="FFFFFF"/>
                          </a:solidFill>
                          <a:latin typeface="Almarai"/>
                          <a:ea typeface="Almarai"/>
                          <a:cs typeface="Almarai"/>
                          <a:sym typeface="Almarai"/>
                        </a:rPr>
                        <a:t> modifiche indebite allo stato dello Swap Manager</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073305">
                <a:tc>
                  <a:txBody>
                    <a:bodyPr anchor="t" rtlCol="false"/>
                    <a:lstStyle/>
                    <a:p>
                      <a:pPr algn="ctr">
                        <a:lnSpc>
                          <a:spcPts val="2380"/>
                        </a:lnSpc>
                        <a:defRPr/>
                      </a:pPr>
                      <a:r>
                        <a:rPr lang="en-US" sz="1700" b="true">
                          <a:solidFill>
                            <a:srgbClr val="FFFFFF"/>
                          </a:solidFill>
                          <a:latin typeface="Almarai Bold"/>
                          <a:ea typeface="Almarai Bold"/>
                          <a:cs typeface="Almarai Bold"/>
                          <a:sym typeface="Almarai Bold"/>
                        </a:rPr>
                        <a:t>SC9: Trust Exploit</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Sollecitazione Deep-Brain verso prescrizioni sanitarie o raccolta dati sensibili</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Unsafe-output pass rate, detection rate pre-sintesi</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380"/>
                        </a:lnSpc>
                        <a:defRPr/>
                      </a:pPr>
                      <a:r>
                        <a:rPr lang="en-US" sz="1700">
                          <a:solidFill>
                            <a:srgbClr val="FFFFFF"/>
                          </a:solidFill>
                          <a:latin typeface="Almarai"/>
                          <a:ea typeface="Almarai"/>
                          <a:cs typeface="Almarai"/>
                          <a:sym typeface="Almarai"/>
                        </a:rPr>
                        <a:t>Blocco totale pre-sintesi vocale/video; disclaimer attivi</a:t>
                      </a:r>
                      <a:endParaRPr lang="en-US" sz="1100"/>
                    </a:p>
                  </a:txBody>
                  <a:tcPr marL="123825" marR="123825" marT="123825" marB="12382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1" id="11"/>
          <p:cNvSpPr txBox="true"/>
          <p:nvPr/>
        </p:nvSpPr>
        <p:spPr>
          <a:xfrm rot="0">
            <a:off x="2767012" y="1467802"/>
            <a:ext cx="12704788"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VALIDAZIONE SPERIMENTALE</a:t>
            </a:r>
          </a:p>
        </p:txBody>
      </p:sp>
      <p:sp>
        <p:nvSpPr>
          <p:cNvPr name="TextBox 12" id="12"/>
          <p:cNvSpPr txBox="true"/>
          <p:nvPr/>
        </p:nvSpPr>
        <p:spPr>
          <a:xfrm rot="0">
            <a:off x="1320730" y="2661090"/>
            <a:ext cx="12890522" cy="724572"/>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Piano Sperimentale per i Cinque Scenari Prioritari</a:t>
            </a:r>
          </a:p>
        </p:txBody>
      </p:sp>
      <p:sp>
        <p:nvSpPr>
          <p:cNvPr name="TextBox 13" id="13"/>
          <p:cNvSpPr txBox="true"/>
          <p:nvPr/>
        </p:nvSpPr>
        <p:spPr>
          <a:xfrm rot="0">
            <a:off x="1028241" y="1480185"/>
            <a:ext cx="1456246" cy="850434"/>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11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aphicFrame>
        <p:nvGraphicFramePr>
          <p:cNvPr name="Object 10" id="10"/>
          <p:cNvGraphicFramePr/>
          <p:nvPr/>
        </p:nvGraphicFramePr>
        <p:xfrm>
          <a:off x="786287" y="2782568"/>
          <a:ext cx="11611144" cy="7951291"/>
        </p:xfrm>
        <a:graphic>
          <a:graphicData uri="http://schemas.openxmlformats.org/presentationml/2006/ole">
            <p:oleObj imgW="13931900" imgH="102743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1" id="11"/>
          <p:cNvSpPr txBox="true"/>
          <p:nvPr/>
        </p:nvSpPr>
        <p:spPr>
          <a:xfrm rot="0">
            <a:off x="2766869" y="1467525"/>
            <a:ext cx="14049124"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VALUTAZIONE DEL RISCHIO RESIDUO</a:t>
            </a:r>
          </a:p>
        </p:txBody>
      </p:sp>
      <p:sp>
        <p:nvSpPr>
          <p:cNvPr name="TextBox 12" id="12"/>
          <p:cNvSpPr txBox="true"/>
          <p:nvPr/>
        </p:nvSpPr>
        <p:spPr>
          <a:xfrm rot="0">
            <a:off x="1028700" y="1480657"/>
            <a:ext cx="1456246" cy="850434"/>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12</a:t>
            </a:r>
          </a:p>
        </p:txBody>
      </p:sp>
      <p:sp>
        <p:nvSpPr>
          <p:cNvPr name="TextBox 13" id="13"/>
          <p:cNvSpPr txBox="true"/>
          <p:nvPr/>
        </p:nvSpPr>
        <p:spPr>
          <a:xfrm rot="0">
            <a:off x="8700245" y="3084918"/>
            <a:ext cx="8115748" cy="4427982"/>
          </a:xfrm>
          <a:prstGeom prst="rect">
            <a:avLst/>
          </a:prstGeom>
        </p:spPr>
        <p:txBody>
          <a:bodyPr anchor="t" rtlCol="false" tIns="0" lIns="0" bIns="0" rIns="0">
            <a:spAutoFit/>
          </a:bodyPr>
          <a:lstStyle/>
          <a:p>
            <a:pPr algn="l">
              <a:lnSpc>
                <a:spcPts val="3174"/>
              </a:lnSpc>
              <a:spcBef>
                <a:spcPct val="0"/>
              </a:spcBef>
            </a:pPr>
            <a:r>
              <a:rPr lang="en-US" b="true" sz="2300">
                <a:solidFill>
                  <a:srgbClr val="17E3B2"/>
                </a:solidFill>
                <a:latin typeface="Almarai Bold"/>
                <a:ea typeface="Almarai Bold"/>
                <a:cs typeface="Almarai Bold"/>
                <a:sym typeface="Almarai Bold"/>
              </a:rPr>
              <a:t>↓ LIKELIHOOD</a:t>
            </a:r>
          </a:p>
          <a:p>
            <a:pPr algn="l">
              <a:lnSpc>
                <a:spcPts val="3174"/>
              </a:lnSpc>
              <a:spcBef>
                <a:spcPct val="0"/>
              </a:spcBef>
            </a:pPr>
            <a:r>
              <a:rPr lang="en-US" sz="2300">
                <a:solidFill>
                  <a:srgbClr val="FFFFFF"/>
                </a:solidFill>
                <a:latin typeface="Almarai"/>
                <a:ea typeface="Almarai"/>
                <a:cs typeface="Almarai"/>
                <a:sym typeface="Almarai"/>
              </a:rPr>
              <a:t>I controlli riducono la probabilità che l’attacco produca effetti downstream.</a:t>
            </a:r>
          </a:p>
          <a:p>
            <a:pPr algn="l">
              <a:lnSpc>
                <a:spcPts val="3174"/>
              </a:lnSpc>
              <a:spcBef>
                <a:spcPct val="0"/>
              </a:spcBef>
            </a:pPr>
          </a:p>
          <a:p>
            <a:pPr algn="l">
              <a:lnSpc>
                <a:spcPts val="3174"/>
              </a:lnSpc>
              <a:spcBef>
                <a:spcPct val="0"/>
              </a:spcBef>
            </a:pPr>
            <a:r>
              <a:rPr lang="en-US" b="true" sz="2300">
                <a:solidFill>
                  <a:srgbClr val="17E3B2"/>
                </a:solidFill>
                <a:latin typeface="Almarai Bold"/>
                <a:ea typeface="Almarai Bold"/>
                <a:cs typeface="Almarai Bold"/>
                <a:sym typeface="Almarai Bold"/>
              </a:rPr>
              <a:t>SEVERITY ANCORA ALTA</a:t>
            </a:r>
          </a:p>
          <a:p>
            <a:pPr algn="l">
              <a:lnSpc>
                <a:spcPts val="3174"/>
              </a:lnSpc>
              <a:spcBef>
                <a:spcPct val="0"/>
              </a:spcBef>
            </a:pPr>
            <a:r>
              <a:rPr lang="en-US" sz="2300">
                <a:solidFill>
                  <a:srgbClr val="FFFFFF"/>
                </a:solidFill>
                <a:latin typeface="Almarai"/>
                <a:ea typeface="Almarai"/>
                <a:cs typeface="Almarai"/>
                <a:sym typeface="Almarai"/>
              </a:rPr>
              <a:t>Se un controllo viene bypassato, l’impatto potenziale resta significativo.</a:t>
            </a:r>
          </a:p>
          <a:p>
            <a:pPr algn="l">
              <a:lnSpc>
                <a:spcPts val="3174"/>
              </a:lnSpc>
              <a:spcBef>
                <a:spcPct val="0"/>
              </a:spcBef>
            </a:pPr>
          </a:p>
          <a:p>
            <a:pPr algn="l">
              <a:lnSpc>
                <a:spcPts val="3174"/>
              </a:lnSpc>
              <a:spcBef>
                <a:spcPct val="0"/>
              </a:spcBef>
            </a:pPr>
            <a:r>
              <a:rPr lang="en-US" b="true" sz="2300">
                <a:solidFill>
                  <a:srgbClr val="17E3B2"/>
                </a:solidFill>
                <a:latin typeface="Almarai Bold"/>
                <a:ea typeface="Almarai Bold"/>
                <a:cs typeface="Almarai Bold"/>
                <a:sym typeface="Almarai Bold"/>
              </a:rPr>
              <a:t>SC1 RESTA IL RISCHIO PRINCIPALE</a:t>
            </a:r>
          </a:p>
          <a:p>
            <a:pPr algn="l">
              <a:lnSpc>
                <a:spcPts val="3174"/>
              </a:lnSpc>
              <a:spcBef>
                <a:spcPct val="0"/>
              </a:spcBef>
            </a:pPr>
            <a:r>
              <a:rPr lang="en-US" sz="2300">
                <a:solidFill>
                  <a:srgbClr val="FFFFFF"/>
                </a:solidFill>
                <a:latin typeface="Almarai"/>
                <a:ea typeface="Almarai"/>
                <a:cs typeface="Almarai"/>
                <a:sym typeface="Almarai"/>
              </a:rPr>
              <a:t>La difesa da input linguistici avversariali dipende anche da controlli semantici probabilistici.</a:t>
            </a:r>
          </a:p>
        </p:txBody>
      </p:sp>
      <p:sp>
        <p:nvSpPr>
          <p:cNvPr name="TextBox 14" id="14"/>
          <p:cNvSpPr txBox="true"/>
          <p:nvPr/>
        </p:nvSpPr>
        <p:spPr>
          <a:xfrm rot="0">
            <a:off x="3236073" y="8896882"/>
            <a:ext cx="11815854" cy="819912"/>
          </a:xfrm>
          <a:prstGeom prst="rect">
            <a:avLst/>
          </a:prstGeom>
        </p:spPr>
        <p:txBody>
          <a:bodyPr anchor="t" rtlCol="false" tIns="0" lIns="0" bIns="0" rIns="0">
            <a:spAutoFit/>
          </a:bodyPr>
          <a:lstStyle/>
          <a:p>
            <a:pPr algn="ctr">
              <a:lnSpc>
                <a:spcPts val="3174"/>
              </a:lnSpc>
              <a:spcBef>
                <a:spcPct val="0"/>
              </a:spcBef>
            </a:pPr>
            <a:r>
              <a:rPr lang="en-US" b="true" sz="2300">
                <a:solidFill>
                  <a:srgbClr val="FBFCFD"/>
                </a:solidFill>
                <a:latin typeface="Almarai Bold"/>
                <a:ea typeface="Almarai Bold"/>
                <a:cs typeface="Almarai Bold"/>
                <a:sym typeface="Almarai Bold"/>
              </a:rPr>
              <a:t>Valutazione preliminare, non risultato sperimentale</a:t>
            </a:r>
          </a:p>
          <a:p>
            <a:pPr algn="ctr">
              <a:lnSpc>
                <a:spcPts val="3174"/>
              </a:lnSpc>
              <a:spcBef>
                <a:spcPct val="0"/>
              </a:spcBef>
            </a:pPr>
            <a:r>
              <a:rPr lang="en-US" b="true" sz="2300">
                <a:solidFill>
                  <a:srgbClr val="FBFCFD"/>
                </a:solidFill>
                <a:latin typeface="Almarai Bold"/>
                <a:ea typeface="Almarai Bold"/>
                <a:cs typeface="Almarai Bold"/>
                <a:sym typeface="Almarai Bold"/>
              </a:rPr>
              <a:t> Il rischio residuo dovrà essere confermato o rivisto attraverso il piano di validazione.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14049124"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LIMITAZIONI</a:t>
            </a:r>
          </a:p>
        </p:txBody>
      </p:sp>
      <p:sp>
        <p:nvSpPr>
          <p:cNvPr name="TextBox 11" id="11"/>
          <p:cNvSpPr txBox="true"/>
          <p:nvPr/>
        </p:nvSpPr>
        <p:spPr>
          <a:xfrm rot="0">
            <a:off x="1028700" y="1480657"/>
            <a:ext cx="1456246" cy="850434"/>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13</a:t>
            </a:r>
          </a:p>
        </p:txBody>
      </p:sp>
      <p:grpSp>
        <p:nvGrpSpPr>
          <p:cNvPr name="Group 12" id="12"/>
          <p:cNvGrpSpPr/>
          <p:nvPr/>
        </p:nvGrpSpPr>
        <p:grpSpPr>
          <a:xfrm rot="0">
            <a:off x="1092243" y="2650635"/>
            <a:ext cx="4905063" cy="2492865"/>
            <a:chOff x="0" y="0"/>
            <a:chExt cx="1291868" cy="656557"/>
          </a:xfrm>
        </p:grpSpPr>
        <p:sp>
          <p:nvSpPr>
            <p:cNvPr name="Freeform 13" id="13"/>
            <p:cNvSpPr/>
            <p:nvPr/>
          </p:nvSpPr>
          <p:spPr>
            <a:xfrm flipH="false" flipV="false" rot="0">
              <a:off x="0" y="0"/>
              <a:ext cx="1291868" cy="656557"/>
            </a:xfrm>
            <a:custGeom>
              <a:avLst/>
              <a:gdLst/>
              <a:ahLst/>
              <a:cxnLst/>
              <a:rect r="r" b="b" t="t" l="l"/>
              <a:pathLst>
                <a:path h="656557" w="1291868">
                  <a:moveTo>
                    <a:pt x="80496" y="0"/>
                  </a:moveTo>
                  <a:lnTo>
                    <a:pt x="1211372" y="0"/>
                  </a:lnTo>
                  <a:cubicBezTo>
                    <a:pt x="1255829" y="0"/>
                    <a:pt x="1291868" y="36039"/>
                    <a:pt x="1291868" y="80496"/>
                  </a:cubicBezTo>
                  <a:lnTo>
                    <a:pt x="1291868" y="576061"/>
                  </a:lnTo>
                  <a:cubicBezTo>
                    <a:pt x="1291868" y="620518"/>
                    <a:pt x="1255829" y="656557"/>
                    <a:pt x="1211372" y="656557"/>
                  </a:cubicBezTo>
                  <a:lnTo>
                    <a:pt x="80496" y="656557"/>
                  </a:lnTo>
                  <a:cubicBezTo>
                    <a:pt x="36039" y="656557"/>
                    <a:pt x="0" y="620518"/>
                    <a:pt x="0" y="576061"/>
                  </a:cubicBezTo>
                  <a:lnTo>
                    <a:pt x="0" y="80496"/>
                  </a:lnTo>
                  <a:cubicBezTo>
                    <a:pt x="0" y="36039"/>
                    <a:pt x="36039" y="0"/>
                    <a:pt x="80496" y="0"/>
                  </a:cubicBezTo>
                  <a:close/>
                </a:path>
              </a:pathLst>
            </a:custGeom>
            <a:solidFill>
              <a:srgbClr val="145DA0"/>
            </a:solidFill>
            <a:ln w="38100" cap="rnd">
              <a:solidFill>
                <a:srgbClr val="FBFCFD"/>
              </a:solidFill>
              <a:prstDash val="solid"/>
              <a:round/>
            </a:ln>
          </p:spPr>
        </p:sp>
        <p:sp>
          <p:nvSpPr>
            <p:cNvPr name="TextBox 14" id="14"/>
            <p:cNvSpPr txBox="true"/>
            <p:nvPr/>
          </p:nvSpPr>
          <p:spPr>
            <a:xfrm>
              <a:off x="0" y="-66675"/>
              <a:ext cx="1291868" cy="723232"/>
            </a:xfrm>
            <a:prstGeom prst="rect">
              <a:avLst/>
            </a:prstGeom>
          </p:spPr>
          <p:txBody>
            <a:bodyPr anchor="ctr" rtlCol="false" tIns="50800" lIns="50800" bIns="50800" rIns="50800"/>
            <a:lstStyle/>
            <a:p>
              <a:pPr algn="ctr">
                <a:lnSpc>
                  <a:spcPts val="3219"/>
                </a:lnSpc>
              </a:pPr>
              <a:r>
                <a:rPr lang="en-US" sz="2299" b="true">
                  <a:solidFill>
                    <a:srgbClr val="17E3B2"/>
                  </a:solidFill>
                  <a:latin typeface="Almarai Bold"/>
                  <a:ea typeface="Almarai Bold"/>
                  <a:cs typeface="Almarai Bold"/>
                  <a:sym typeface="Almarai Bold"/>
                </a:rPr>
                <a:t>1.</a:t>
              </a:r>
            </a:p>
            <a:p>
              <a:pPr algn="ctr">
                <a:lnSpc>
                  <a:spcPts val="3219"/>
                </a:lnSpc>
              </a:pPr>
              <a:r>
                <a:rPr lang="en-US" sz="2299" b="true">
                  <a:solidFill>
                    <a:srgbClr val="17E3B2"/>
                  </a:solidFill>
                  <a:latin typeface="Almarai Bold"/>
                  <a:ea typeface="Almarai Bold"/>
                  <a:cs typeface="Almarai Bold"/>
                  <a:sym typeface="Almarai Bold"/>
                </a:rPr>
                <a:t>Assenza di risultati empirici</a:t>
              </a:r>
            </a:p>
            <a:p>
              <a:pPr algn="ctr">
                <a:lnSpc>
                  <a:spcPts val="3219"/>
                </a:lnSpc>
                <a:spcBef>
                  <a:spcPct val="0"/>
                </a:spcBef>
              </a:pPr>
              <a:r>
                <a:rPr lang="en-US" sz="2299">
                  <a:solidFill>
                    <a:srgbClr val="FFFFFF"/>
                  </a:solidFill>
                  <a:latin typeface="Almarai"/>
                  <a:ea typeface="Almarai"/>
                  <a:cs typeface="Almarai"/>
                  <a:sym typeface="Almarai"/>
                </a:rPr>
                <a:t> Efficacia e overhead ancora da misurare</a:t>
              </a:r>
            </a:p>
          </p:txBody>
        </p:sp>
      </p:grpSp>
      <p:grpSp>
        <p:nvGrpSpPr>
          <p:cNvPr name="Group 15" id="15"/>
          <p:cNvGrpSpPr/>
          <p:nvPr/>
        </p:nvGrpSpPr>
        <p:grpSpPr>
          <a:xfrm rot="0">
            <a:off x="6264005" y="2650635"/>
            <a:ext cx="4905063" cy="2492865"/>
            <a:chOff x="0" y="0"/>
            <a:chExt cx="1291868" cy="656557"/>
          </a:xfrm>
        </p:grpSpPr>
        <p:sp>
          <p:nvSpPr>
            <p:cNvPr name="Freeform 16" id="16"/>
            <p:cNvSpPr/>
            <p:nvPr/>
          </p:nvSpPr>
          <p:spPr>
            <a:xfrm flipH="false" flipV="false" rot="0">
              <a:off x="0" y="0"/>
              <a:ext cx="1291868" cy="656557"/>
            </a:xfrm>
            <a:custGeom>
              <a:avLst/>
              <a:gdLst/>
              <a:ahLst/>
              <a:cxnLst/>
              <a:rect r="r" b="b" t="t" l="l"/>
              <a:pathLst>
                <a:path h="656557" w="1291868">
                  <a:moveTo>
                    <a:pt x="80496" y="0"/>
                  </a:moveTo>
                  <a:lnTo>
                    <a:pt x="1211372" y="0"/>
                  </a:lnTo>
                  <a:cubicBezTo>
                    <a:pt x="1255829" y="0"/>
                    <a:pt x="1291868" y="36039"/>
                    <a:pt x="1291868" y="80496"/>
                  </a:cubicBezTo>
                  <a:lnTo>
                    <a:pt x="1291868" y="576061"/>
                  </a:lnTo>
                  <a:cubicBezTo>
                    <a:pt x="1291868" y="620518"/>
                    <a:pt x="1255829" y="656557"/>
                    <a:pt x="1211372" y="656557"/>
                  </a:cubicBezTo>
                  <a:lnTo>
                    <a:pt x="80496" y="656557"/>
                  </a:lnTo>
                  <a:cubicBezTo>
                    <a:pt x="36039" y="656557"/>
                    <a:pt x="0" y="620518"/>
                    <a:pt x="0" y="576061"/>
                  </a:cubicBezTo>
                  <a:lnTo>
                    <a:pt x="0" y="80496"/>
                  </a:lnTo>
                  <a:cubicBezTo>
                    <a:pt x="0" y="36039"/>
                    <a:pt x="36039" y="0"/>
                    <a:pt x="80496" y="0"/>
                  </a:cubicBezTo>
                  <a:close/>
                </a:path>
              </a:pathLst>
            </a:custGeom>
            <a:solidFill>
              <a:srgbClr val="145DA0"/>
            </a:solidFill>
            <a:ln w="38100" cap="rnd">
              <a:solidFill>
                <a:srgbClr val="FBFCFD"/>
              </a:solidFill>
              <a:prstDash val="solid"/>
              <a:round/>
            </a:ln>
          </p:spPr>
        </p:sp>
        <p:sp>
          <p:nvSpPr>
            <p:cNvPr name="TextBox 17" id="17"/>
            <p:cNvSpPr txBox="true"/>
            <p:nvPr/>
          </p:nvSpPr>
          <p:spPr>
            <a:xfrm>
              <a:off x="0" y="-66675"/>
              <a:ext cx="1291868" cy="723232"/>
            </a:xfrm>
            <a:prstGeom prst="rect">
              <a:avLst/>
            </a:prstGeom>
          </p:spPr>
          <p:txBody>
            <a:bodyPr anchor="ctr" rtlCol="false" tIns="50800" lIns="50800" bIns="50800" rIns="50800"/>
            <a:lstStyle/>
            <a:p>
              <a:pPr algn="ctr">
                <a:lnSpc>
                  <a:spcPts val="3220"/>
                </a:lnSpc>
              </a:pPr>
              <a:r>
                <a:rPr lang="en-US" sz="2300" b="true">
                  <a:solidFill>
                    <a:srgbClr val="17E3B2"/>
                  </a:solidFill>
                  <a:latin typeface="Almarai Bold"/>
                  <a:ea typeface="Almarai Bold"/>
                  <a:cs typeface="Almarai Bold"/>
                  <a:sym typeface="Almarai Bold"/>
                </a:rPr>
                <a:t>2.</a:t>
              </a:r>
            </a:p>
            <a:p>
              <a:pPr algn="ctr">
                <a:lnSpc>
                  <a:spcPts val="3220"/>
                </a:lnSpc>
              </a:pPr>
              <a:r>
                <a:rPr lang="en-US" sz="2300" b="true">
                  <a:solidFill>
                    <a:srgbClr val="17E3B2"/>
                  </a:solidFill>
                  <a:latin typeface="Almarai Bold"/>
                  <a:ea typeface="Almarai Bold"/>
                  <a:cs typeface="Almarai Bold"/>
                  <a:sym typeface="Almarai Bold"/>
                </a:rPr>
                <a:t>Valutazione qualitativa del rischio</a:t>
              </a:r>
            </a:p>
            <a:p>
              <a:pPr algn="ctr">
                <a:lnSpc>
                  <a:spcPts val="3220"/>
                </a:lnSpc>
                <a:spcBef>
                  <a:spcPct val="0"/>
                </a:spcBef>
              </a:pPr>
              <a:r>
                <a:rPr lang="en-US" sz="2300">
                  <a:solidFill>
                    <a:srgbClr val="FFFFFF"/>
                  </a:solidFill>
                  <a:latin typeface="Almarai"/>
                  <a:ea typeface="Almarai"/>
                  <a:cs typeface="Almarai"/>
                  <a:sym typeface="Almarai"/>
                </a:rPr>
                <a:t> Likelihood e Severity espresse tramite scala qualitativa, non quantitativa.</a:t>
              </a:r>
            </a:p>
          </p:txBody>
        </p:sp>
      </p:grpSp>
      <p:grpSp>
        <p:nvGrpSpPr>
          <p:cNvPr name="Group 18" id="18"/>
          <p:cNvGrpSpPr/>
          <p:nvPr/>
        </p:nvGrpSpPr>
        <p:grpSpPr>
          <a:xfrm rot="0">
            <a:off x="11434977" y="2650635"/>
            <a:ext cx="4905063" cy="2492865"/>
            <a:chOff x="0" y="0"/>
            <a:chExt cx="1291868" cy="656557"/>
          </a:xfrm>
        </p:grpSpPr>
        <p:sp>
          <p:nvSpPr>
            <p:cNvPr name="Freeform 19" id="19"/>
            <p:cNvSpPr/>
            <p:nvPr/>
          </p:nvSpPr>
          <p:spPr>
            <a:xfrm flipH="false" flipV="false" rot="0">
              <a:off x="0" y="0"/>
              <a:ext cx="1291868" cy="656557"/>
            </a:xfrm>
            <a:custGeom>
              <a:avLst/>
              <a:gdLst/>
              <a:ahLst/>
              <a:cxnLst/>
              <a:rect r="r" b="b" t="t" l="l"/>
              <a:pathLst>
                <a:path h="656557" w="1291868">
                  <a:moveTo>
                    <a:pt x="80496" y="0"/>
                  </a:moveTo>
                  <a:lnTo>
                    <a:pt x="1211372" y="0"/>
                  </a:lnTo>
                  <a:cubicBezTo>
                    <a:pt x="1255829" y="0"/>
                    <a:pt x="1291868" y="36039"/>
                    <a:pt x="1291868" y="80496"/>
                  </a:cubicBezTo>
                  <a:lnTo>
                    <a:pt x="1291868" y="576061"/>
                  </a:lnTo>
                  <a:cubicBezTo>
                    <a:pt x="1291868" y="620518"/>
                    <a:pt x="1255829" y="656557"/>
                    <a:pt x="1211372" y="656557"/>
                  </a:cubicBezTo>
                  <a:lnTo>
                    <a:pt x="80496" y="656557"/>
                  </a:lnTo>
                  <a:cubicBezTo>
                    <a:pt x="36039" y="656557"/>
                    <a:pt x="0" y="620518"/>
                    <a:pt x="0" y="576061"/>
                  </a:cubicBezTo>
                  <a:lnTo>
                    <a:pt x="0" y="80496"/>
                  </a:lnTo>
                  <a:cubicBezTo>
                    <a:pt x="0" y="36039"/>
                    <a:pt x="36039" y="0"/>
                    <a:pt x="80496" y="0"/>
                  </a:cubicBezTo>
                  <a:close/>
                </a:path>
              </a:pathLst>
            </a:custGeom>
            <a:solidFill>
              <a:srgbClr val="145DA0"/>
            </a:solidFill>
            <a:ln w="38100" cap="rnd">
              <a:solidFill>
                <a:srgbClr val="FBFCFD"/>
              </a:solidFill>
              <a:prstDash val="solid"/>
              <a:round/>
            </a:ln>
          </p:spPr>
        </p:sp>
        <p:sp>
          <p:nvSpPr>
            <p:cNvPr name="TextBox 20" id="20"/>
            <p:cNvSpPr txBox="true"/>
            <p:nvPr/>
          </p:nvSpPr>
          <p:spPr>
            <a:xfrm>
              <a:off x="0" y="-66675"/>
              <a:ext cx="1291868" cy="723232"/>
            </a:xfrm>
            <a:prstGeom prst="rect">
              <a:avLst/>
            </a:prstGeom>
          </p:spPr>
          <p:txBody>
            <a:bodyPr anchor="ctr" rtlCol="false" tIns="50800" lIns="50800" bIns="50800" rIns="50800"/>
            <a:lstStyle/>
            <a:p>
              <a:pPr algn="ctr">
                <a:lnSpc>
                  <a:spcPts val="3220"/>
                </a:lnSpc>
              </a:pPr>
              <a:r>
                <a:rPr lang="en-US" sz="2300" b="true">
                  <a:solidFill>
                    <a:srgbClr val="17E3B2"/>
                  </a:solidFill>
                  <a:latin typeface="Almarai Bold"/>
                  <a:ea typeface="Almarai Bold"/>
                  <a:cs typeface="Almarai Bold"/>
                  <a:sym typeface="Almarai Bold"/>
                </a:rPr>
                <a:t>3.</a:t>
              </a:r>
            </a:p>
            <a:p>
              <a:pPr algn="ctr">
                <a:lnSpc>
                  <a:spcPts val="3220"/>
                </a:lnSpc>
              </a:pPr>
              <a:r>
                <a:rPr lang="en-US" sz="2300" b="true">
                  <a:solidFill>
                    <a:srgbClr val="17E3B2"/>
                  </a:solidFill>
                  <a:latin typeface="Almarai Bold"/>
                  <a:ea typeface="Almarai Bold"/>
                  <a:cs typeface="Almarai Bold"/>
                  <a:sym typeface="Almarai Bold"/>
                </a:rPr>
                <a:t>Dipendenza dall’implementazione</a:t>
              </a:r>
            </a:p>
            <a:p>
              <a:pPr algn="ctr">
                <a:lnSpc>
                  <a:spcPts val="3220"/>
                </a:lnSpc>
                <a:spcBef>
                  <a:spcPct val="0"/>
                </a:spcBef>
              </a:pPr>
              <a:r>
                <a:rPr lang="en-US" b="true" sz="2300">
                  <a:solidFill>
                    <a:srgbClr val="17E3B2"/>
                  </a:solidFill>
                  <a:latin typeface="Almarai Bold"/>
                  <a:ea typeface="Almarai Bold"/>
                  <a:cs typeface="Almarai Bold"/>
                  <a:sym typeface="Almarai Bold"/>
                </a:rPr>
                <a:t> </a:t>
              </a:r>
              <a:r>
                <a:rPr lang="en-US" sz="2300">
                  <a:solidFill>
                    <a:srgbClr val="FFFFFF"/>
                  </a:solidFill>
                  <a:latin typeface="Almarai"/>
                  <a:ea typeface="Almarai"/>
                  <a:cs typeface="Almarai"/>
                  <a:sym typeface="Almarai"/>
                </a:rPr>
                <a:t>Dipende da provider, protocolli e configurazioni</a:t>
              </a:r>
            </a:p>
          </p:txBody>
        </p:sp>
      </p:grpSp>
      <p:grpSp>
        <p:nvGrpSpPr>
          <p:cNvPr name="Group 21" id="21"/>
          <p:cNvGrpSpPr/>
          <p:nvPr/>
        </p:nvGrpSpPr>
        <p:grpSpPr>
          <a:xfrm rot="0">
            <a:off x="6264005" y="5410200"/>
            <a:ext cx="4905063" cy="2492865"/>
            <a:chOff x="0" y="0"/>
            <a:chExt cx="1291868" cy="656557"/>
          </a:xfrm>
        </p:grpSpPr>
        <p:sp>
          <p:nvSpPr>
            <p:cNvPr name="Freeform 22" id="22"/>
            <p:cNvSpPr/>
            <p:nvPr/>
          </p:nvSpPr>
          <p:spPr>
            <a:xfrm flipH="false" flipV="false" rot="0">
              <a:off x="0" y="0"/>
              <a:ext cx="1291868" cy="656557"/>
            </a:xfrm>
            <a:custGeom>
              <a:avLst/>
              <a:gdLst/>
              <a:ahLst/>
              <a:cxnLst/>
              <a:rect r="r" b="b" t="t" l="l"/>
              <a:pathLst>
                <a:path h="656557" w="1291868">
                  <a:moveTo>
                    <a:pt x="80496" y="0"/>
                  </a:moveTo>
                  <a:lnTo>
                    <a:pt x="1211372" y="0"/>
                  </a:lnTo>
                  <a:cubicBezTo>
                    <a:pt x="1255829" y="0"/>
                    <a:pt x="1291868" y="36039"/>
                    <a:pt x="1291868" y="80496"/>
                  </a:cubicBezTo>
                  <a:lnTo>
                    <a:pt x="1291868" y="576061"/>
                  </a:lnTo>
                  <a:cubicBezTo>
                    <a:pt x="1291868" y="620518"/>
                    <a:pt x="1255829" y="656557"/>
                    <a:pt x="1211372" y="656557"/>
                  </a:cubicBezTo>
                  <a:lnTo>
                    <a:pt x="80496" y="656557"/>
                  </a:lnTo>
                  <a:cubicBezTo>
                    <a:pt x="36039" y="656557"/>
                    <a:pt x="0" y="620518"/>
                    <a:pt x="0" y="576061"/>
                  </a:cubicBezTo>
                  <a:lnTo>
                    <a:pt x="0" y="80496"/>
                  </a:lnTo>
                  <a:cubicBezTo>
                    <a:pt x="0" y="36039"/>
                    <a:pt x="36039" y="0"/>
                    <a:pt x="80496" y="0"/>
                  </a:cubicBezTo>
                  <a:close/>
                </a:path>
              </a:pathLst>
            </a:custGeom>
            <a:solidFill>
              <a:srgbClr val="145DA0"/>
            </a:solidFill>
            <a:ln w="38100" cap="rnd">
              <a:solidFill>
                <a:srgbClr val="FBFCFD"/>
              </a:solidFill>
              <a:prstDash val="solid"/>
              <a:round/>
            </a:ln>
          </p:spPr>
        </p:sp>
        <p:sp>
          <p:nvSpPr>
            <p:cNvPr name="TextBox 23" id="23"/>
            <p:cNvSpPr txBox="true"/>
            <p:nvPr/>
          </p:nvSpPr>
          <p:spPr>
            <a:xfrm>
              <a:off x="0" y="-66675"/>
              <a:ext cx="1291868" cy="723232"/>
            </a:xfrm>
            <a:prstGeom prst="rect">
              <a:avLst/>
            </a:prstGeom>
          </p:spPr>
          <p:txBody>
            <a:bodyPr anchor="ctr" rtlCol="false" tIns="50800" lIns="50800" bIns="50800" rIns="50800"/>
            <a:lstStyle/>
            <a:p>
              <a:pPr algn="ctr">
                <a:lnSpc>
                  <a:spcPts val="3220"/>
                </a:lnSpc>
              </a:pPr>
              <a:r>
                <a:rPr lang="en-US" sz="2300" b="true">
                  <a:solidFill>
                    <a:srgbClr val="17E3B2"/>
                  </a:solidFill>
                  <a:latin typeface="Almarai Bold"/>
                  <a:ea typeface="Almarai Bold"/>
                  <a:cs typeface="Almarai Bold"/>
                  <a:sym typeface="Almarai Bold"/>
                </a:rPr>
                <a:t>5.</a:t>
              </a:r>
            </a:p>
            <a:p>
              <a:pPr algn="ctr">
                <a:lnSpc>
                  <a:spcPts val="3220"/>
                </a:lnSpc>
              </a:pPr>
              <a:r>
                <a:rPr lang="en-US" sz="2300" b="true">
                  <a:solidFill>
                    <a:srgbClr val="17E3B2"/>
                  </a:solidFill>
                  <a:latin typeface="Almarai Bold"/>
                  <a:ea typeface="Almarai Bold"/>
                  <a:cs typeface="Almarai Bold"/>
                  <a:sym typeface="Almarai Bold"/>
                </a:rPr>
                <a:t>Componente socio-t</a:t>
              </a:r>
              <a:r>
                <a:rPr lang="en-US" sz="2300" b="true">
                  <a:solidFill>
                    <a:srgbClr val="17E3B2"/>
                  </a:solidFill>
                  <a:latin typeface="Almarai Bold"/>
                  <a:ea typeface="Almarai Bold"/>
                  <a:cs typeface="Almarai Bold"/>
                  <a:sym typeface="Almarai Bold"/>
                </a:rPr>
                <a:t>ecnica</a:t>
              </a:r>
            </a:p>
            <a:p>
              <a:pPr algn="ctr">
                <a:lnSpc>
                  <a:spcPts val="3220"/>
                </a:lnSpc>
                <a:spcBef>
                  <a:spcPct val="0"/>
                </a:spcBef>
              </a:pPr>
              <a:r>
                <a:rPr lang="en-US" sz="2300">
                  <a:solidFill>
                    <a:srgbClr val="FFFFFF"/>
                  </a:solidFill>
                  <a:latin typeface="Almarai"/>
                  <a:ea typeface="Almarai"/>
                  <a:cs typeface="Almarai"/>
                  <a:sym typeface="Almarai"/>
                </a:rPr>
                <a:t> SC9 richiede studi con utenti reali</a:t>
              </a:r>
            </a:p>
          </p:txBody>
        </p:sp>
      </p:grpSp>
      <p:grpSp>
        <p:nvGrpSpPr>
          <p:cNvPr name="Group 24" id="24"/>
          <p:cNvGrpSpPr/>
          <p:nvPr/>
        </p:nvGrpSpPr>
        <p:grpSpPr>
          <a:xfrm rot="0">
            <a:off x="11435768" y="5410200"/>
            <a:ext cx="4905063" cy="2547157"/>
            <a:chOff x="0" y="0"/>
            <a:chExt cx="1291868" cy="670856"/>
          </a:xfrm>
        </p:grpSpPr>
        <p:sp>
          <p:nvSpPr>
            <p:cNvPr name="Freeform 25" id="25"/>
            <p:cNvSpPr/>
            <p:nvPr/>
          </p:nvSpPr>
          <p:spPr>
            <a:xfrm flipH="false" flipV="false" rot="0">
              <a:off x="0" y="0"/>
              <a:ext cx="1291868" cy="670856"/>
            </a:xfrm>
            <a:custGeom>
              <a:avLst/>
              <a:gdLst/>
              <a:ahLst/>
              <a:cxnLst/>
              <a:rect r="r" b="b" t="t" l="l"/>
              <a:pathLst>
                <a:path h="670856" w="1291868">
                  <a:moveTo>
                    <a:pt x="80496" y="0"/>
                  </a:moveTo>
                  <a:lnTo>
                    <a:pt x="1211372" y="0"/>
                  </a:lnTo>
                  <a:cubicBezTo>
                    <a:pt x="1255829" y="0"/>
                    <a:pt x="1291868" y="36039"/>
                    <a:pt x="1291868" y="80496"/>
                  </a:cubicBezTo>
                  <a:lnTo>
                    <a:pt x="1291868" y="590360"/>
                  </a:lnTo>
                  <a:cubicBezTo>
                    <a:pt x="1291868" y="634817"/>
                    <a:pt x="1255829" y="670856"/>
                    <a:pt x="1211372" y="670856"/>
                  </a:cubicBezTo>
                  <a:lnTo>
                    <a:pt x="80496" y="670856"/>
                  </a:lnTo>
                  <a:cubicBezTo>
                    <a:pt x="36039" y="670856"/>
                    <a:pt x="0" y="634817"/>
                    <a:pt x="0" y="590360"/>
                  </a:cubicBezTo>
                  <a:lnTo>
                    <a:pt x="0" y="80496"/>
                  </a:lnTo>
                  <a:cubicBezTo>
                    <a:pt x="0" y="36039"/>
                    <a:pt x="36039" y="0"/>
                    <a:pt x="80496" y="0"/>
                  </a:cubicBezTo>
                  <a:close/>
                </a:path>
              </a:pathLst>
            </a:custGeom>
            <a:solidFill>
              <a:srgbClr val="145DA0"/>
            </a:solidFill>
            <a:ln w="38100" cap="rnd">
              <a:solidFill>
                <a:srgbClr val="FBFCFD"/>
              </a:solidFill>
              <a:prstDash val="solid"/>
              <a:round/>
            </a:ln>
          </p:spPr>
        </p:sp>
        <p:sp>
          <p:nvSpPr>
            <p:cNvPr name="TextBox 26" id="26"/>
            <p:cNvSpPr txBox="true"/>
            <p:nvPr/>
          </p:nvSpPr>
          <p:spPr>
            <a:xfrm>
              <a:off x="0" y="-47625"/>
              <a:ext cx="1291868" cy="718481"/>
            </a:xfrm>
            <a:prstGeom prst="rect">
              <a:avLst/>
            </a:prstGeom>
          </p:spPr>
          <p:txBody>
            <a:bodyPr anchor="ctr" rtlCol="false" tIns="50800" lIns="50800" bIns="50800" rIns="50800"/>
            <a:lstStyle/>
            <a:p>
              <a:pPr algn="ctr">
                <a:lnSpc>
                  <a:spcPts val="3220"/>
                </a:lnSpc>
              </a:pPr>
              <a:r>
                <a:rPr lang="en-US" sz="2300" b="true">
                  <a:solidFill>
                    <a:srgbClr val="17E3B2"/>
                  </a:solidFill>
                  <a:latin typeface="Open Sans Bold"/>
                  <a:ea typeface="Open Sans Bold"/>
                  <a:cs typeface="Open Sans Bold"/>
                  <a:sym typeface="Open Sans Bold"/>
                </a:rPr>
                <a:t>6.</a:t>
              </a:r>
            </a:p>
            <a:p>
              <a:pPr algn="ctr">
                <a:lnSpc>
                  <a:spcPts val="3220"/>
                </a:lnSpc>
              </a:pPr>
              <a:r>
                <a:rPr lang="en-US" sz="2300" b="true">
                  <a:solidFill>
                    <a:srgbClr val="17E3B2"/>
                  </a:solidFill>
                  <a:latin typeface="Open Sans Bold"/>
                  <a:ea typeface="Open Sans Bold"/>
                  <a:cs typeface="Open Sans Bold"/>
                  <a:sym typeface="Open Sans Bold"/>
                </a:rPr>
                <a:t>Supply chain e</a:t>
              </a:r>
              <a:r>
                <a:rPr lang="en-US" sz="2300" b="true">
                  <a:solidFill>
                    <a:srgbClr val="17E3B2"/>
                  </a:solidFill>
                  <a:latin typeface="Open Sans Bold"/>
                  <a:ea typeface="Open Sans Bold"/>
                  <a:cs typeface="Open Sans Bold"/>
                  <a:sym typeface="Open Sans Bold"/>
                </a:rPr>
                <a:t> servizi esterni</a:t>
              </a:r>
            </a:p>
            <a:p>
              <a:pPr algn="ctr">
                <a:lnSpc>
                  <a:spcPts val="3220"/>
                </a:lnSpc>
                <a:spcBef>
                  <a:spcPct val="0"/>
                </a:spcBef>
              </a:pPr>
              <a:r>
                <a:rPr lang="en-US" sz="2300">
                  <a:solidFill>
                    <a:srgbClr val="FFFFFF"/>
                  </a:solidFill>
                  <a:latin typeface="Open Sans"/>
                  <a:ea typeface="Open Sans"/>
                  <a:cs typeface="Open Sans"/>
                  <a:sym typeface="Open Sans"/>
                </a:rPr>
                <a:t>Il rischio dei provider rimane</a:t>
              </a:r>
              <a:r>
                <a:rPr lang="en-US" sz="2300">
                  <a:solidFill>
                    <a:srgbClr val="FFFFFF"/>
                  </a:solidFill>
                  <a:latin typeface="Open Sans"/>
                  <a:ea typeface="Open Sans"/>
                  <a:cs typeface="Open Sans"/>
                  <a:sym typeface="Open Sans"/>
                </a:rPr>
                <a:t> </a:t>
              </a:r>
            </a:p>
          </p:txBody>
        </p:sp>
      </p:grpSp>
      <p:grpSp>
        <p:nvGrpSpPr>
          <p:cNvPr name="Group 27" id="27"/>
          <p:cNvGrpSpPr/>
          <p:nvPr/>
        </p:nvGrpSpPr>
        <p:grpSpPr>
          <a:xfrm rot="0">
            <a:off x="1092243" y="5410200"/>
            <a:ext cx="4905063" cy="2492865"/>
            <a:chOff x="0" y="0"/>
            <a:chExt cx="1291868" cy="656557"/>
          </a:xfrm>
        </p:grpSpPr>
        <p:sp>
          <p:nvSpPr>
            <p:cNvPr name="Freeform 28" id="28"/>
            <p:cNvSpPr/>
            <p:nvPr/>
          </p:nvSpPr>
          <p:spPr>
            <a:xfrm flipH="false" flipV="false" rot="0">
              <a:off x="0" y="0"/>
              <a:ext cx="1291868" cy="656557"/>
            </a:xfrm>
            <a:custGeom>
              <a:avLst/>
              <a:gdLst/>
              <a:ahLst/>
              <a:cxnLst/>
              <a:rect r="r" b="b" t="t" l="l"/>
              <a:pathLst>
                <a:path h="656557" w="1291868">
                  <a:moveTo>
                    <a:pt x="80496" y="0"/>
                  </a:moveTo>
                  <a:lnTo>
                    <a:pt x="1211372" y="0"/>
                  </a:lnTo>
                  <a:cubicBezTo>
                    <a:pt x="1255829" y="0"/>
                    <a:pt x="1291868" y="36039"/>
                    <a:pt x="1291868" y="80496"/>
                  </a:cubicBezTo>
                  <a:lnTo>
                    <a:pt x="1291868" y="576061"/>
                  </a:lnTo>
                  <a:cubicBezTo>
                    <a:pt x="1291868" y="620518"/>
                    <a:pt x="1255829" y="656557"/>
                    <a:pt x="1211372" y="656557"/>
                  </a:cubicBezTo>
                  <a:lnTo>
                    <a:pt x="80496" y="656557"/>
                  </a:lnTo>
                  <a:cubicBezTo>
                    <a:pt x="36039" y="656557"/>
                    <a:pt x="0" y="620518"/>
                    <a:pt x="0" y="576061"/>
                  </a:cubicBezTo>
                  <a:lnTo>
                    <a:pt x="0" y="80496"/>
                  </a:lnTo>
                  <a:cubicBezTo>
                    <a:pt x="0" y="36039"/>
                    <a:pt x="36039" y="0"/>
                    <a:pt x="80496" y="0"/>
                  </a:cubicBezTo>
                  <a:close/>
                </a:path>
              </a:pathLst>
            </a:custGeom>
            <a:solidFill>
              <a:srgbClr val="145DA0"/>
            </a:solidFill>
            <a:ln w="38100" cap="rnd">
              <a:solidFill>
                <a:srgbClr val="FBFCFD"/>
              </a:solidFill>
              <a:prstDash val="solid"/>
              <a:round/>
            </a:ln>
          </p:spPr>
        </p:sp>
        <p:sp>
          <p:nvSpPr>
            <p:cNvPr name="TextBox 29" id="29"/>
            <p:cNvSpPr txBox="true"/>
            <p:nvPr/>
          </p:nvSpPr>
          <p:spPr>
            <a:xfrm>
              <a:off x="0" y="-66675"/>
              <a:ext cx="1291868" cy="723232"/>
            </a:xfrm>
            <a:prstGeom prst="rect">
              <a:avLst/>
            </a:prstGeom>
          </p:spPr>
          <p:txBody>
            <a:bodyPr anchor="ctr" rtlCol="false" tIns="50800" lIns="50800" bIns="50800" rIns="50800"/>
            <a:lstStyle/>
            <a:p>
              <a:pPr algn="ctr">
                <a:lnSpc>
                  <a:spcPts val="3219"/>
                </a:lnSpc>
              </a:pPr>
              <a:r>
                <a:rPr lang="en-US" sz="2299" b="true">
                  <a:solidFill>
                    <a:srgbClr val="17E3B2"/>
                  </a:solidFill>
                  <a:latin typeface="Almarai Bold"/>
                  <a:ea typeface="Almarai Bold"/>
                  <a:cs typeface="Almarai Bold"/>
                  <a:sym typeface="Almarai Bold"/>
                </a:rPr>
                <a:t>4.</a:t>
              </a:r>
            </a:p>
            <a:p>
              <a:pPr algn="ctr">
                <a:lnSpc>
                  <a:spcPts val="3219"/>
                </a:lnSpc>
              </a:pPr>
              <a:r>
                <a:rPr lang="en-US" sz="2299" b="true">
                  <a:solidFill>
                    <a:srgbClr val="17E3B2"/>
                  </a:solidFill>
                  <a:latin typeface="Almarai Bold"/>
                  <a:ea typeface="Almarai Bold"/>
                  <a:cs typeface="Almarai Bold"/>
                  <a:sym typeface="Almarai Bold"/>
                </a:rPr>
                <a:t>Robustezza dei controlli semantici</a:t>
              </a:r>
            </a:p>
            <a:p>
              <a:pPr algn="ctr">
                <a:lnSpc>
                  <a:spcPts val="3219"/>
                </a:lnSpc>
                <a:spcBef>
                  <a:spcPct val="0"/>
                </a:spcBef>
              </a:pPr>
              <a:r>
                <a:rPr lang="en-US" sz="2299">
                  <a:solidFill>
                    <a:srgbClr val="FFFFFF"/>
                  </a:solidFill>
                  <a:latin typeface="Almarai"/>
                  <a:ea typeface="Almarai"/>
                  <a:cs typeface="Almarai"/>
                  <a:sym typeface="Almarai"/>
                </a:rPr>
                <a:t> Attacchi possono evolvere in risposta a guardrail</a:t>
              </a:r>
            </a:p>
          </p:txBody>
        </p:sp>
      </p:grpSp>
      <p:sp>
        <p:nvSpPr>
          <p:cNvPr name="TextBox 30" id="30"/>
          <p:cNvSpPr txBox="true"/>
          <p:nvPr/>
        </p:nvSpPr>
        <p:spPr>
          <a:xfrm rot="0">
            <a:off x="1028700" y="8214532"/>
            <a:ext cx="15312131" cy="107251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Almarai Bold"/>
                <a:ea typeface="Almarai Bold"/>
                <a:cs typeface="Almarai Bold"/>
                <a:sym typeface="Almarai Bold"/>
              </a:rPr>
              <a:t>Il threat model non è statico: nuove capacità, tool o livelli di autonomia richiedono una nuova iterazione dell’analisi.</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6605949" y="8402070"/>
            <a:ext cx="841991" cy="841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grpSp>
        <p:nvGrpSpPr>
          <p:cNvPr name="Group 4" id="4"/>
          <p:cNvGrpSpPr/>
          <p:nvPr/>
        </p:nvGrpSpPr>
        <p:grpSpPr>
          <a:xfrm rot="0">
            <a:off x="-5173055" y="-2043171"/>
            <a:ext cx="5754080" cy="8220114"/>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6" id="6"/>
          <p:cNvGrpSpPr/>
          <p:nvPr/>
        </p:nvGrpSpPr>
        <p:grpSpPr>
          <a:xfrm rot="-10800000">
            <a:off x="16605949" y="1202778"/>
            <a:ext cx="5246522" cy="7495031"/>
            <a:chOff x="0" y="0"/>
            <a:chExt cx="4445000" cy="6350000"/>
          </a:xfrm>
        </p:grpSpPr>
        <p:sp>
          <p:nvSpPr>
            <p:cNvPr name="Freeform 7" id="7"/>
            <p:cNvSpPr/>
            <p:nvPr/>
          </p:nvSpPr>
          <p:spPr>
            <a:xfrm flipH="false" flipV="false" rot="0">
              <a:off x="0" y="0"/>
              <a:ext cx="4445000" cy="6350000"/>
            </a:xfrm>
            <a:custGeom>
              <a:avLst/>
              <a:gdLst/>
              <a:ahLst/>
              <a:cxnLst/>
              <a:rect r="r" b="b" t="t" l="l"/>
              <a:pathLst>
                <a:path h="6350000" w="4445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t="0" r="-201730" b="0"/>
              </a:stretch>
            </a:blipFill>
          </p:spPr>
        </p:sp>
      </p:grpSp>
      <p:grpSp>
        <p:nvGrpSpPr>
          <p:cNvPr name="Group 8" id="8"/>
          <p:cNvGrpSpPr/>
          <p:nvPr/>
        </p:nvGrpSpPr>
        <p:grpSpPr>
          <a:xfrm rot="5400000">
            <a:off x="1144411" y="1337805"/>
            <a:ext cx="1224824" cy="12248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t="0" r="-126211" b="0"/>
              </a:stretch>
            </a:blipFill>
          </p:spPr>
        </p:sp>
      </p:grpSp>
      <p:sp>
        <p:nvSpPr>
          <p:cNvPr name="TextBox 10" id="10"/>
          <p:cNvSpPr txBox="true"/>
          <p:nvPr/>
        </p:nvSpPr>
        <p:spPr>
          <a:xfrm rot="0">
            <a:off x="2766869" y="1467525"/>
            <a:ext cx="14049124" cy="917201"/>
          </a:xfrm>
          <a:prstGeom prst="rect">
            <a:avLst/>
          </a:prstGeom>
        </p:spPr>
        <p:txBody>
          <a:bodyPr anchor="t" rtlCol="false" tIns="0" lIns="0" bIns="0" rIns="0">
            <a:spAutoFit/>
          </a:bodyPr>
          <a:lstStyle/>
          <a:p>
            <a:pPr algn="l" marL="0" indent="0" lvl="0">
              <a:lnSpc>
                <a:spcPts val="6036"/>
              </a:lnSpc>
              <a:spcBef>
                <a:spcPct val="0"/>
              </a:spcBef>
            </a:pPr>
            <a:r>
              <a:rPr lang="en-US" b="true" sz="5030">
                <a:solidFill>
                  <a:srgbClr val="FFFFFF"/>
                </a:solidFill>
                <a:latin typeface="Almarai Bold"/>
                <a:ea typeface="Almarai Bold"/>
                <a:cs typeface="Almarai Bold"/>
                <a:sym typeface="Almarai Bold"/>
              </a:rPr>
              <a:t>CONCLUSIONI</a:t>
            </a:r>
          </a:p>
        </p:txBody>
      </p:sp>
      <p:sp>
        <p:nvSpPr>
          <p:cNvPr name="TextBox 11" id="11"/>
          <p:cNvSpPr txBox="true"/>
          <p:nvPr/>
        </p:nvSpPr>
        <p:spPr>
          <a:xfrm rot="0">
            <a:off x="1768405" y="2819923"/>
            <a:ext cx="14837544" cy="613410"/>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1. Threat modeling asset-centered</a:t>
            </a:r>
          </a:p>
        </p:txBody>
      </p:sp>
      <p:sp>
        <p:nvSpPr>
          <p:cNvPr name="TextBox 12" id="12"/>
          <p:cNvSpPr txBox="true"/>
          <p:nvPr/>
        </p:nvSpPr>
        <p:spPr>
          <a:xfrm rot="0">
            <a:off x="1768405" y="3536151"/>
            <a:ext cx="14555022" cy="342900"/>
          </a:xfrm>
          <a:prstGeom prst="rect">
            <a:avLst/>
          </a:prstGeom>
        </p:spPr>
        <p:txBody>
          <a:bodyPr anchor="t" rtlCol="false" tIns="0" lIns="0" bIns="0" rIns="0">
            <a:spAutoFit/>
          </a:bodyPr>
          <a:lstStyle/>
          <a:p>
            <a:pPr algn="l">
              <a:lnSpc>
                <a:spcPts val="2759"/>
              </a:lnSpc>
            </a:pPr>
            <a:r>
              <a:rPr lang="en-US" sz="1999">
                <a:solidFill>
                  <a:srgbClr val="FFFFFF"/>
                </a:solidFill>
                <a:latin typeface="Almarai"/>
                <a:ea typeface="Almarai"/>
                <a:cs typeface="Almarai"/>
                <a:sym typeface="Almarai"/>
              </a:rPr>
              <a:t>L’analisi integra</a:t>
            </a:r>
            <a:r>
              <a:rPr lang="en-US" b="true" sz="1999">
                <a:solidFill>
                  <a:srgbClr val="FFFFFF"/>
                </a:solidFill>
                <a:latin typeface="Almarai Bold"/>
                <a:ea typeface="Almarai Bold"/>
                <a:cs typeface="Almarai Bold"/>
                <a:sym typeface="Almarai Bold"/>
              </a:rPr>
              <a:t> STRIDE-AI, CIA³-R e OWASP Agentic</a:t>
            </a:r>
            <a:r>
              <a:rPr lang="en-US" sz="1999">
                <a:solidFill>
                  <a:srgbClr val="FFFFFF"/>
                </a:solidFill>
                <a:latin typeface="Almarai"/>
                <a:ea typeface="Almarai"/>
                <a:cs typeface="Almarai"/>
                <a:sym typeface="Almarai"/>
              </a:rPr>
              <a:t> per collegare asset, trust boundary e scenari di attacco.</a:t>
            </a:r>
          </a:p>
        </p:txBody>
      </p:sp>
      <p:sp>
        <p:nvSpPr>
          <p:cNvPr name="TextBox 13" id="13"/>
          <p:cNvSpPr txBox="true"/>
          <p:nvPr/>
        </p:nvSpPr>
        <p:spPr>
          <a:xfrm rot="0">
            <a:off x="1028700" y="1480657"/>
            <a:ext cx="1456246" cy="850434"/>
          </a:xfrm>
          <a:prstGeom prst="rect">
            <a:avLst/>
          </a:prstGeom>
        </p:spPr>
        <p:txBody>
          <a:bodyPr anchor="t" rtlCol="false" tIns="0" lIns="0" bIns="0" rIns="0">
            <a:spAutoFit/>
          </a:bodyPr>
          <a:lstStyle/>
          <a:p>
            <a:pPr algn="ctr">
              <a:lnSpc>
                <a:spcPts val="6817"/>
              </a:lnSpc>
            </a:pPr>
            <a:r>
              <a:rPr lang="en-US" sz="4940" b="true">
                <a:solidFill>
                  <a:srgbClr val="FFFFFF"/>
                </a:solidFill>
                <a:latin typeface="Almarai Bold"/>
                <a:ea typeface="Almarai Bold"/>
                <a:cs typeface="Almarai Bold"/>
                <a:sym typeface="Almarai Bold"/>
              </a:rPr>
              <a:t>14</a:t>
            </a:r>
          </a:p>
        </p:txBody>
      </p:sp>
      <p:sp>
        <p:nvSpPr>
          <p:cNvPr name="TextBox 14" id="14"/>
          <p:cNvSpPr txBox="true"/>
          <p:nvPr/>
        </p:nvSpPr>
        <p:spPr>
          <a:xfrm rot="0">
            <a:off x="1768405" y="4136227"/>
            <a:ext cx="14837544" cy="613410"/>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2. Rischi prioritari individuati</a:t>
            </a:r>
          </a:p>
        </p:txBody>
      </p:sp>
      <p:sp>
        <p:nvSpPr>
          <p:cNvPr name="TextBox 15" id="15"/>
          <p:cNvSpPr txBox="true"/>
          <p:nvPr/>
        </p:nvSpPr>
        <p:spPr>
          <a:xfrm rot="0">
            <a:off x="1768405" y="4854412"/>
            <a:ext cx="14555022" cy="1036320"/>
          </a:xfrm>
          <a:prstGeom prst="rect">
            <a:avLst/>
          </a:prstGeom>
        </p:spPr>
        <p:txBody>
          <a:bodyPr anchor="t" rtlCol="false" tIns="0" lIns="0" bIns="0" rIns="0">
            <a:spAutoFit/>
          </a:bodyPr>
          <a:lstStyle/>
          <a:p>
            <a:pPr algn="l">
              <a:lnSpc>
                <a:spcPts val="2759"/>
              </a:lnSpc>
            </a:pPr>
            <a:r>
              <a:rPr lang="en-US" sz="1999">
                <a:solidFill>
                  <a:srgbClr val="FFFFFF"/>
                </a:solidFill>
                <a:latin typeface="Almarai"/>
                <a:ea typeface="Almarai"/>
                <a:cs typeface="Almarai"/>
                <a:sym typeface="Almarai"/>
              </a:rPr>
              <a:t>Sono emersi 5 scenari principali:</a:t>
            </a:r>
          </a:p>
          <a:p>
            <a:pPr algn="l">
              <a:lnSpc>
                <a:spcPts val="2759"/>
              </a:lnSpc>
            </a:pPr>
            <a:r>
              <a:rPr lang="en-US" sz="1999" b="true">
                <a:solidFill>
                  <a:srgbClr val="FF5757"/>
                </a:solidFill>
                <a:latin typeface="Almarai Bold"/>
                <a:ea typeface="Almarai Bold"/>
                <a:cs typeface="Almarai Bold"/>
                <a:sym typeface="Almarai Bold"/>
              </a:rPr>
              <a:t>2 Critici</a:t>
            </a:r>
            <a:r>
              <a:rPr lang="en-US" sz="1999">
                <a:solidFill>
                  <a:srgbClr val="FFFFFF"/>
                </a:solidFill>
                <a:latin typeface="Almarai"/>
                <a:ea typeface="Almarai"/>
                <a:cs typeface="Almarai"/>
                <a:sym typeface="Almarai"/>
              </a:rPr>
              <a:t> — Goal Hijack e Memory Poisoning</a:t>
            </a:r>
          </a:p>
          <a:p>
            <a:pPr algn="l">
              <a:lnSpc>
                <a:spcPts val="2759"/>
              </a:lnSpc>
            </a:pPr>
            <a:r>
              <a:rPr lang="en-US" b="true" sz="1999">
                <a:solidFill>
                  <a:srgbClr val="FF751F"/>
                </a:solidFill>
                <a:latin typeface="Almarai Bold"/>
                <a:ea typeface="Almarai Bold"/>
                <a:cs typeface="Almarai Bold"/>
                <a:sym typeface="Almarai Bold"/>
              </a:rPr>
              <a:t>3 Alti </a:t>
            </a:r>
            <a:r>
              <a:rPr lang="en-US" sz="1999">
                <a:solidFill>
                  <a:srgbClr val="FFFFFF"/>
                </a:solidFill>
                <a:latin typeface="Almarai"/>
                <a:ea typeface="Almarai"/>
                <a:cs typeface="Almarai"/>
                <a:sym typeface="Almarai"/>
              </a:rPr>
              <a:t>— Privilege Abuse, Message Replay e Human-Agent Trust Exploitation.</a:t>
            </a:r>
          </a:p>
        </p:txBody>
      </p:sp>
      <p:sp>
        <p:nvSpPr>
          <p:cNvPr name="TextBox 16" id="16"/>
          <p:cNvSpPr txBox="true"/>
          <p:nvPr/>
        </p:nvSpPr>
        <p:spPr>
          <a:xfrm rot="0">
            <a:off x="1768405" y="6155527"/>
            <a:ext cx="14837544" cy="613410"/>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3. Secure architecture</a:t>
            </a:r>
          </a:p>
        </p:txBody>
      </p:sp>
      <p:sp>
        <p:nvSpPr>
          <p:cNvPr name="TextBox 17" id="17"/>
          <p:cNvSpPr txBox="true"/>
          <p:nvPr/>
        </p:nvSpPr>
        <p:spPr>
          <a:xfrm rot="0">
            <a:off x="1756823" y="6873712"/>
            <a:ext cx="14555022" cy="1028700"/>
          </a:xfrm>
          <a:prstGeom prst="rect">
            <a:avLst/>
          </a:prstGeom>
        </p:spPr>
        <p:txBody>
          <a:bodyPr anchor="t" rtlCol="false" tIns="0" lIns="0" bIns="0" rIns="0">
            <a:spAutoFit/>
          </a:bodyPr>
          <a:lstStyle/>
          <a:p>
            <a:pPr algn="l">
              <a:lnSpc>
                <a:spcPts val="2759"/>
              </a:lnSpc>
            </a:pPr>
            <a:r>
              <a:rPr lang="en-US" sz="1999">
                <a:solidFill>
                  <a:srgbClr val="FFFFFF"/>
                </a:solidFill>
                <a:latin typeface="Almarai"/>
                <a:ea typeface="Almarai"/>
                <a:cs typeface="Almarai"/>
                <a:sym typeface="Almarai"/>
              </a:rPr>
              <a:t>Le sette precauzioni vengono tradotte in controlli concreti:</a:t>
            </a:r>
          </a:p>
          <a:p>
            <a:pPr algn="l">
              <a:lnSpc>
                <a:spcPts val="2759"/>
              </a:lnSpc>
            </a:pPr>
            <a:r>
              <a:rPr lang="en-US" sz="1999" b="true">
                <a:solidFill>
                  <a:srgbClr val="FFFFFF"/>
                </a:solidFill>
                <a:latin typeface="Almarai Bold"/>
                <a:ea typeface="Almarai Bold"/>
                <a:cs typeface="Almarai Bold"/>
                <a:sym typeface="Almarai Bold"/>
              </a:rPr>
              <a:t>Least Agency · Validation · Identity · Authorization · Monitoring · Fail-Safe</a:t>
            </a:r>
          </a:p>
          <a:p>
            <a:pPr algn="l">
              <a:lnSpc>
                <a:spcPts val="2759"/>
              </a:lnSpc>
            </a:pPr>
            <a:r>
              <a:rPr lang="en-US" sz="1999">
                <a:solidFill>
                  <a:srgbClr val="FFFFFF"/>
                </a:solidFill>
                <a:latin typeface="Almarai"/>
                <a:ea typeface="Almarai"/>
                <a:cs typeface="Almarai"/>
                <a:sym typeface="Almarai"/>
              </a:rPr>
              <a:t>L’obiettivo è impedire che output probabilistici producano direttamente effetti su stato, privilegi o risorse downstream.</a:t>
            </a:r>
          </a:p>
        </p:txBody>
      </p:sp>
      <p:sp>
        <p:nvSpPr>
          <p:cNvPr name="TextBox 18" id="18"/>
          <p:cNvSpPr txBox="true"/>
          <p:nvPr/>
        </p:nvSpPr>
        <p:spPr>
          <a:xfrm rot="0">
            <a:off x="1725228" y="8159587"/>
            <a:ext cx="14837544" cy="613410"/>
          </a:xfrm>
          <a:prstGeom prst="rect">
            <a:avLst/>
          </a:prstGeom>
        </p:spPr>
        <p:txBody>
          <a:bodyPr anchor="t" rtlCol="false" tIns="0" lIns="0" bIns="0" rIns="0">
            <a:spAutoFit/>
          </a:bodyPr>
          <a:lstStyle/>
          <a:p>
            <a:pPr algn="l" marL="0" indent="0" lvl="0">
              <a:lnSpc>
                <a:spcPts val="4830"/>
              </a:lnSpc>
              <a:spcBef>
                <a:spcPct val="0"/>
              </a:spcBef>
            </a:pPr>
            <a:r>
              <a:rPr lang="en-US" b="true" sz="3500">
                <a:solidFill>
                  <a:srgbClr val="17E3B2"/>
                </a:solidFill>
                <a:latin typeface="Almarai Bold"/>
                <a:ea typeface="Almarai Bold"/>
                <a:cs typeface="Almarai Bold"/>
                <a:sym typeface="Almarai Bold"/>
              </a:rPr>
              <a:t>4. Sicurezza compatibile con il real-time</a:t>
            </a:r>
          </a:p>
        </p:txBody>
      </p:sp>
      <p:sp>
        <p:nvSpPr>
          <p:cNvPr name="TextBox 19" id="19"/>
          <p:cNvSpPr txBox="true"/>
          <p:nvPr/>
        </p:nvSpPr>
        <p:spPr>
          <a:xfrm rot="0">
            <a:off x="1734753" y="8877772"/>
            <a:ext cx="14555022" cy="678180"/>
          </a:xfrm>
          <a:prstGeom prst="rect">
            <a:avLst/>
          </a:prstGeom>
        </p:spPr>
        <p:txBody>
          <a:bodyPr anchor="t" rtlCol="false" tIns="0" lIns="0" bIns="0" rIns="0">
            <a:spAutoFit/>
          </a:bodyPr>
          <a:lstStyle/>
          <a:p>
            <a:pPr algn="l">
              <a:lnSpc>
                <a:spcPts val="2759"/>
              </a:lnSpc>
            </a:pPr>
            <a:r>
              <a:rPr lang="en-US" sz="1999">
                <a:solidFill>
                  <a:srgbClr val="FFFFFF"/>
                </a:solidFill>
                <a:latin typeface="Almarai"/>
                <a:ea typeface="Almarai"/>
                <a:cs typeface="Almarai"/>
                <a:sym typeface="Almarai"/>
              </a:rPr>
              <a:t>Il vincolo del Fast Path viene preservato attraverso il security control placement:</a:t>
            </a:r>
          </a:p>
          <a:p>
            <a:pPr algn="l">
              <a:lnSpc>
                <a:spcPts val="2759"/>
              </a:lnSpc>
            </a:pPr>
            <a:r>
              <a:rPr lang="en-US" sz="1999">
                <a:solidFill>
                  <a:srgbClr val="FFFFFF"/>
                </a:solidFill>
                <a:latin typeface="Almarai"/>
                <a:ea typeface="Almarai"/>
                <a:cs typeface="Almarai"/>
                <a:sym typeface="Almarai"/>
              </a:rPr>
              <a:t> cont</a:t>
            </a:r>
            <a:r>
              <a:rPr lang="en-US" sz="1999">
                <a:solidFill>
                  <a:srgbClr val="FFFFFF"/>
                </a:solidFill>
                <a:latin typeface="Almarai"/>
                <a:ea typeface="Almarai"/>
                <a:cs typeface="Almarai"/>
                <a:sym typeface="Almarai"/>
              </a:rPr>
              <a:t>roll</a:t>
            </a:r>
            <a:r>
              <a:rPr lang="en-US" sz="1999">
                <a:solidFill>
                  <a:srgbClr val="FFFFFF"/>
                </a:solidFill>
                <a:latin typeface="Almarai"/>
                <a:ea typeface="Almarai"/>
                <a:cs typeface="Almarai"/>
                <a:sym typeface="Almarai"/>
              </a:rPr>
              <a:t>i </a:t>
            </a:r>
            <a:r>
              <a:rPr lang="en-US" sz="1999">
                <a:solidFill>
                  <a:srgbClr val="FFFFFF"/>
                </a:solidFill>
                <a:latin typeface="Almarai"/>
                <a:ea typeface="Almarai"/>
                <a:cs typeface="Almarai"/>
                <a:sym typeface="Almarai"/>
              </a:rPr>
              <a:t>essenz</a:t>
            </a:r>
            <a:r>
              <a:rPr lang="en-US" sz="1999">
                <a:solidFill>
                  <a:srgbClr val="FFFFFF"/>
                </a:solidFill>
                <a:latin typeface="Almarai"/>
                <a:ea typeface="Almarai"/>
                <a:cs typeface="Almarai"/>
                <a:sym typeface="Almarai"/>
              </a:rPr>
              <a:t>ia</a:t>
            </a:r>
            <a:r>
              <a:rPr lang="en-US" sz="1999">
                <a:solidFill>
                  <a:srgbClr val="FFFFFF"/>
                </a:solidFill>
                <a:latin typeface="Almarai"/>
                <a:ea typeface="Almarai"/>
                <a:cs typeface="Almarai"/>
                <a:sym typeface="Almarai"/>
              </a:rPr>
              <a:t>l</a:t>
            </a:r>
            <a:r>
              <a:rPr lang="en-US" sz="1999">
                <a:solidFill>
                  <a:srgbClr val="FFFFFF"/>
                </a:solidFill>
                <a:latin typeface="Almarai"/>
                <a:ea typeface="Almarai"/>
                <a:cs typeface="Almarai"/>
                <a:sym typeface="Almarai"/>
              </a:rPr>
              <a:t>i </a:t>
            </a:r>
            <a:r>
              <a:rPr lang="en-US" sz="1999">
                <a:solidFill>
                  <a:srgbClr val="FFFFFF"/>
                </a:solidFill>
                <a:latin typeface="Almarai"/>
                <a:ea typeface="Almarai"/>
                <a:cs typeface="Almarai"/>
                <a:sym typeface="Almarai"/>
              </a:rPr>
              <a:t>s</a:t>
            </a:r>
            <a:r>
              <a:rPr lang="en-US" sz="1999">
                <a:solidFill>
                  <a:srgbClr val="FFFFFF"/>
                </a:solidFill>
                <a:latin typeface="Almarai"/>
                <a:ea typeface="Almarai"/>
                <a:cs typeface="Almarai"/>
                <a:sym typeface="Almarai"/>
              </a:rPr>
              <a:t>i</a:t>
            </a:r>
            <a:r>
              <a:rPr lang="en-US" sz="1999">
                <a:solidFill>
                  <a:srgbClr val="FFFFFF"/>
                </a:solidFill>
                <a:latin typeface="Almarai"/>
                <a:ea typeface="Almarai"/>
                <a:cs typeface="Almarai"/>
                <a:sym typeface="Almarai"/>
              </a:rPr>
              <a:t>nc</a:t>
            </a:r>
            <a:r>
              <a:rPr lang="en-US" sz="1999">
                <a:solidFill>
                  <a:srgbClr val="FFFFFF"/>
                </a:solidFill>
                <a:latin typeface="Almarai"/>
                <a:ea typeface="Almarai"/>
                <a:cs typeface="Almarai"/>
                <a:sym typeface="Almarai"/>
              </a:rPr>
              <a:t>r</a:t>
            </a:r>
            <a:r>
              <a:rPr lang="en-US" sz="1999">
                <a:solidFill>
                  <a:srgbClr val="FFFFFF"/>
                </a:solidFill>
                <a:latin typeface="Almarai"/>
                <a:ea typeface="Almarai"/>
                <a:cs typeface="Almarai"/>
                <a:sym typeface="Almarai"/>
              </a:rPr>
              <a:t>on</a:t>
            </a:r>
            <a:r>
              <a:rPr lang="en-US" sz="1999">
                <a:solidFill>
                  <a:srgbClr val="FFFFFF"/>
                </a:solidFill>
                <a:latin typeface="Almarai"/>
                <a:ea typeface="Almarai"/>
                <a:cs typeface="Almarai"/>
                <a:sym typeface="Almarai"/>
              </a:rPr>
              <a:t>i</a:t>
            </a:r>
            <a:r>
              <a:rPr lang="en-US" sz="1999">
                <a:solidFill>
                  <a:srgbClr val="FFFFFF"/>
                </a:solidFill>
                <a:latin typeface="Almarai"/>
                <a:ea typeface="Almarai"/>
                <a:cs typeface="Almarai"/>
                <a:sym typeface="Almarai"/>
              </a:rPr>
              <a:t>,</a:t>
            </a:r>
            <a:r>
              <a:rPr lang="en-US" sz="1999">
                <a:solidFill>
                  <a:srgbClr val="FFFFFF"/>
                </a:solidFill>
                <a:latin typeface="Almarai"/>
                <a:ea typeface="Almarai"/>
                <a:cs typeface="Almarai"/>
                <a:sym typeface="Almarai"/>
              </a:rPr>
              <a:t> </a:t>
            </a:r>
            <a:r>
              <a:rPr lang="en-US" sz="1999">
                <a:solidFill>
                  <a:srgbClr val="FFFFFF"/>
                </a:solidFill>
                <a:latin typeface="Almarai"/>
                <a:ea typeface="Almarai"/>
                <a:cs typeface="Almarai"/>
                <a:sym typeface="Almarai"/>
              </a:rPr>
              <a:t>ver</a:t>
            </a:r>
            <a:r>
              <a:rPr lang="en-US" sz="1999">
                <a:solidFill>
                  <a:srgbClr val="FFFFFF"/>
                </a:solidFill>
                <a:latin typeface="Almarai"/>
                <a:ea typeface="Almarai"/>
                <a:cs typeface="Almarai"/>
                <a:sym typeface="Almarai"/>
              </a:rPr>
              <a:t>if</a:t>
            </a:r>
            <a:r>
              <a:rPr lang="en-US" sz="1999">
                <a:solidFill>
                  <a:srgbClr val="FFFFFF"/>
                </a:solidFill>
                <a:latin typeface="Almarai"/>
                <a:ea typeface="Almarai"/>
                <a:cs typeface="Almarai"/>
                <a:sym typeface="Almarai"/>
              </a:rPr>
              <a:t>iche più onerose sul Background Path o fuori dal turno conversazionale.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7203511" y="-797489"/>
            <a:ext cx="7569105" cy="12542473"/>
            <a:chOff x="0" y="0"/>
            <a:chExt cx="6108573" cy="10122281"/>
          </a:xfrm>
        </p:grpSpPr>
        <p:sp>
          <p:nvSpPr>
            <p:cNvPr name="Freeform 3" id="3"/>
            <p:cNvSpPr/>
            <p:nvPr/>
          </p:nvSpPr>
          <p:spPr>
            <a:xfrm flipH="false" flipV="false" rot="0">
              <a:off x="0" y="0"/>
              <a:ext cx="6108573" cy="10122281"/>
            </a:xfrm>
            <a:custGeom>
              <a:avLst/>
              <a:gdLst/>
              <a:ahLst/>
              <a:cxnLst/>
              <a:rect r="r" b="b" t="t" l="l"/>
              <a:pathLst>
                <a:path h="10122281" w="6108573">
                  <a:moveTo>
                    <a:pt x="6108573" y="0"/>
                  </a:moveTo>
                  <a:lnTo>
                    <a:pt x="6108573" y="5253059"/>
                  </a:lnTo>
                  <a:cubicBezTo>
                    <a:pt x="6108573" y="7942347"/>
                    <a:pt x="4741164" y="10122281"/>
                    <a:pt x="3054350" y="10122281"/>
                  </a:cubicBezTo>
                  <a:cubicBezTo>
                    <a:pt x="1367536" y="10122281"/>
                    <a:pt x="0" y="7942347"/>
                    <a:pt x="0" y="5253262"/>
                  </a:cubicBezTo>
                  <a:lnTo>
                    <a:pt x="0" y="0"/>
                  </a:lnTo>
                  <a:lnTo>
                    <a:pt x="6108573" y="0"/>
                  </a:lnTo>
                  <a:close/>
                </a:path>
              </a:pathLst>
            </a:custGeom>
            <a:blipFill>
              <a:blip r:embed="rId2"/>
              <a:stretch>
                <a:fillRect l="-241993" t="0" r="-241993" b="0"/>
              </a:stretch>
            </a:blipFill>
          </p:spPr>
        </p:sp>
      </p:grpSp>
      <p:grpSp>
        <p:nvGrpSpPr>
          <p:cNvPr name="Group 4" id="4"/>
          <p:cNvGrpSpPr/>
          <p:nvPr/>
        </p:nvGrpSpPr>
        <p:grpSpPr>
          <a:xfrm rot="-5400000">
            <a:off x="3515384" y="-797489"/>
            <a:ext cx="7569105" cy="12542473"/>
            <a:chOff x="0" y="0"/>
            <a:chExt cx="6108573" cy="10122281"/>
          </a:xfrm>
        </p:grpSpPr>
        <p:sp>
          <p:nvSpPr>
            <p:cNvPr name="Freeform 5" id="5"/>
            <p:cNvSpPr/>
            <p:nvPr/>
          </p:nvSpPr>
          <p:spPr>
            <a:xfrm flipH="false" flipV="false" rot="0">
              <a:off x="0" y="0"/>
              <a:ext cx="6108573" cy="10122281"/>
            </a:xfrm>
            <a:custGeom>
              <a:avLst/>
              <a:gdLst/>
              <a:ahLst/>
              <a:cxnLst/>
              <a:rect r="r" b="b" t="t" l="l"/>
              <a:pathLst>
                <a:path h="10122281" w="6108573">
                  <a:moveTo>
                    <a:pt x="6108573" y="0"/>
                  </a:moveTo>
                  <a:lnTo>
                    <a:pt x="6108573" y="5253059"/>
                  </a:lnTo>
                  <a:cubicBezTo>
                    <a:pt x="6108573" y="7942347"/>
                    <a:pt x="4741164" y="10122281"/>
                    <a:pt x="3054350" y="10122281"/>
                  </a:cubicBezTo>
                  <a:cubicBezTo>
                    <a:pt x="1367536" y="10122281"/>
                    <a:pt x="0" y="7942347"/>
                    <a:pt x="0" y="5253262"/>
                  </a:cubicBezTo>
                  <a:lnTo>
                    <a:pt x="0" y="0"/>
                  </a:lnTo>
                  <a:lnTo>
                    <a:pt x="6108573" y="0"/>
                  </a:lnTo>
                  <a:close/>
                </a:path>
              </a:pathLst>
            </a:custGeom>
            <a:blipFill>
              <a:blip r:embed="rId2"/>
              <a:stretch>
                <a:fillRect l="-241993" t="0" r="-241993" b="0"/>
              </a:stretch>
            </a:blipFill>
          </p:spPr>
        </p:sp>
      </p:grpSp>
      <p:grpSp>
        <p:nvGrpSpPr>
          <p:cNvPr name="Group 6" id="6"/>
          <p:cNvGrpSpPr/>
          <p:nvPr/>
        </p:nvGrpSpPr>
        <p:grpSpPr>
          <a:xfrm rot="-5400000">
            <a:off x="4557683" y="-797489"/>
            <a:ext cx="7569105" cy="12542473"/>
            <a:chOff x="0" y="0"/>
            <a:chExt cx="6108573" cy="10122281"/>
          </a:xfrm>
        </p:grpSpPr>
        <p:sp>
          <p:nvSpPr>
            <p:cNvPr name="Freeform 7" id="7"/>
            <p:cNvSpPr/>
            <p:nvPr/>
          </p:nvSpPr>
          <p:spPr>
            <a:xfrm flipH="false" flipV="false" rot="0">
              <a:off x="0" y="0"/>
              <a:ext cx="6108573" cy="10122281"/>
            </a:xfrm>
            <a:custGeom>
              <a:avLst/>
              <a:gdLst/>
              <a:ahLst/>
              <a:cxnLst/>
              <a:rect r="r" b="b" t="t" l="l"/>
              <a:pathLst>
                <a:path h="10122281" w="6108573">
                  <a:moveTo>
                    <a:pt x="6108573" y="0"/>
                  </a:moveTo>
                  <a:lnTo>
                    <a:pt x="6108573" y="5253059"/>
                  </a:lnTo>
                  <a:cubicBezTo>
                    <a:pt x="6108573" y="7942347"/>
                    <a:pt x="4741164" y="10122281"/>
                    <a:pt x="3054350" y="10122281"/>
                  </a:cubicBezTo>
                  <a:cubicBezTo>
                    <a:pt x="1367536" y="10122281"/>
                    <a:pt x="0" y="7942347"/>
                    <a:pt x="0" y="5253262"/>
                  </a:cubicBezTo>
                  <a:lnTo>
                    <a:pt x="0" y="0"/>
                  </a:lnTo>
                  <a:lnTo>
                    <a:pt x="6108573" y="0"/>
                  </a:lnTo>
                  <a:close/>
                </a:path>
              </a:pathLst>
            </a:custGeom>
            <a:blipFill>
              <a:blip r:embed="rId2"/>
              <a:stretch>
                <a:fillRect l="-241993" t="0" r="-241993" b="0"/>
              </a:stretch>
            </a:blipFill>
          </p:spPr>
        </p:sp>
      </p:grpSp>
      <p:sp>
        <p:nvSpPr>
          <p:cNvPr name="TextBox 8" id="8"/>
          <p:cNvSpPr txBox="true"/>
          <p:nvPr/>
        </p:nvSpPr>
        <p:spPr>
          <a:xfrm rot="0">
            <a:off x="4473360" y="4927843"/>
            <a:ext cx="9341280" cy="815041"/>
          </a:xfrm>
          <a:prstGeom prst="rect">
            <a:avLst/>
          </a:prstGeom>
        </p:spPr>
        <p:txBody>
          <a:bodyPr anchor="t" rtlCol="false" tIns="0" lIns="0" bIns="0" rIns="0">
            <a:spAutoFit/>
          </a:bodyPr>
          <a:lstStyle/>
          <a:p>
            <a:pPr algn="l" marL="0" indent="0" lvl="0">
              <a:lnSpc>
                <a:spcPts val="5599"/>
              </a:lnSpc>
            </a:pPr>
            <a:r>
              <a:rPr lang="en-US" b="true" sz="3999" spc="243">
                <a:solidFill>
                  <a:srgbClr val="FBFCFD"/>
                </a:solidFill>
                <a:latin typeface="Almarai Bold"/>
                <a:ea typeface="Almarai Bold"/>
                <a:cs typeface="Almarai Bold"/>
                <a:sym typeface="Almarai Bold"/>
              </a:rPr>
              <a:t>GRAZIE PER L’ATTENZIONE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DAHVG8dj_7Y</dc:identifier>
  <dcterms:modified xsi:type="dcterms:W3CDTF">2011-08-01T06:04:30Z</dcterms:modified>
  <cp:revision>1</cp:revision>
  <dc:title>Progetto1.2</dc:title>
</cp:coreProperties>
</file>
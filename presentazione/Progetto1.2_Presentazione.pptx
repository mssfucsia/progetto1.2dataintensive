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77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58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Ellipse 4"/>
          <p:cNvSpPr/>
          <p:nvPr/>
        </p:nvSpPr>
        <p:spPr>
          <a:xfrm>
            <a:off x="8001000" y="2857500"/>
            <a:ext cx="4953000" cy="495300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Ellipse 5"/>
          <p:cNvSpPr/>
          <p:nvPr/>
        </p:nvSpPr>
        <p:spPr>
          <a:xfrm>
            <a:off x="8763000" y="3619500"/>
            <a:ext cx="3429000" cy="3429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Ellipse 6"/>
          <p:cNvSpPr/>
          <p:nvPr/>
        </p:nvSpPr>
        <p:spPr>
          <a:xfrm>
            <a:off x="9477375" y="4333875"/>
            <a:ext cx="2000250" cy="200025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9199316" y="5055870"/>
            <a:ext cx="2556367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900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&lt;800ms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8212" y="1497806"/>
            <a:ext cx="86600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spc="4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PROGETTO 1.2 · SICUREZZA DELLE ARCHITETTURE DATA INTENSIVE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2970" y="2007870"/>
            <a:ext cx="10419750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Threat Modeling di una Agentic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2970" y="2626995"/>
            <a:ext cx="10700585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Filler Pipeline per Digital Human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1545" y="3536632"/>
            <a:ext cx="953295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Dual-Brain in tempo reale · STRIDE-AI · CIA³-R · OWASP Agentic Top 10</a:t>
            </a:r>
          </a:p>
        </p:txBody>
      </p:sp>
      <p:sp>
        <p:nvSpPr>
          <p:cNvPr id="12" name="Line 12"/>
          <p:cNvSpPr/>
          <p:nvPr/>
        </p:nvSpPr>
        <p:spPr>
          <a:xfrm>
            <a:off x="952500" y="4476750"/>
            <a:ext cx="4000500" cy="9525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/>
          <a:ln w="19050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Box 13"/>
          <p:cNvSpPr txBox="1"/>
          <p:nvPr/>
        </p:nvSpPr>
        <p:spPr>
          <a:xfrm>
            <a:off x="933450" y="4743450"/>
            <a:ext cx="58888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Alessio Bonora · 84534A Marta Finazzi · 84401A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7260" y="5109210"/>
            <a:ext cx="55237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Prof. Ernesto Damiani — Università degli Studi di Milano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8212" y="6069806"/>
            <a:ext cx="15041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Settembre 2026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A684E143-CCCA-CD0B-0086-E41A26C56003}"/>
              </a:ext>
            </a:extLst>
          </p:cNvPr>
          <p:cNvSpPr/>
          <p:nvPr/>
        </p:nvSpPr>
        <p:spPr>
          <a:xfrm>
            <a:off x="938212" y="1775553"/>
            <a:ext cx="7209565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1055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953842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Dalla pipeline alla secure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5808" y="1624489"/>
            <a:ext cx="778171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Quattro fasi per collegare contesto, minacce, mitigazioni e validazione.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62000" y="2143125"/>
            <a:ext cx="10668000" cy="3810000"/>
            <a:chOff x="762000" y="2143125"/>
            <a:chExt cx="10668000" cy="3810000"/>
          </a:xfrm>
        </p:grpSpPr>
        <p:sp>
          <p:nvSpPr>
            <p:cNvPr id="6" name="Freeform 6"/>
            <p:cNvSpPr/>
            <p:nvPr/>
          </p:nvSpPr>
          <p:spPr>
            <a:xfrm>
              <a:off x="762000" y="2143125"/>
              <a:ext cx="5238750" cy="1809750"/>
            </a:xfrm>
            <a:custGeom>
              <a:avLst/>
              <a:gdLst/>
              <a:ahLst/>
              <a:cxnLst/>
              <a:rect l="l" t="t" r="r" b="b"/>
              <a:pathLst>
                <a:path w="5238750" h="1809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676400"/>
                  </a:lnTo>
                  <a:cubicBezTo>
                    <a:pt x="5238750" y="1750047"/>
                    <a:pt x="5179047" y="1809750"/>
                    <a:pt x="5105400" y="1809750"/>
                  </a:cubicBezTo>
                  <a:lnTo>
                    <a:pt x="133350" y="1809750"/>
                  </a:lnTo>
                  <a:cubicBezTo>
                    <a:pt x="59703" y="1809750"/>
                    <a:pt x="0" y="1750047"/>
                    <a:pt x="0" y="1676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22985" y="2361248"/>
              <a:ext cx="43567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00200" y="2409825"/>
              <a:ext cx="195534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Inquadramento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04962" y="2793206"/>
              <a:ext cx="23913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Contesto e caso di studio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04962" y="3040856"/>
              <a:ext cx="18898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Scope e metodologia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04962" y="3288506"/>
              <a:ext cx="23527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Descrizione della pipeline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6191250" y="2143125"/>
              <a:ext cx="5238750" cy="1809750"/>
            </a:xfrm>
            <a:custGeom>
              <a:avLst/>
              <a:gdLst/>
              <a:ahLst/>
              <a:cxnLst/>
              <a:rect l="l" t="t" r="r" b="b"/>
              <a:pathLst>
                <a:path w="5238750" h="1809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676400"/>
                  </a:lnTo>
                  <a:cubicBezTo>
                    <a:pt x="5238750" y="1750047"/>
                    <a:pt x="5179047" y="1809750"/>
                    <a:pt x="5105400" y="1809750"/>
                  </a:cubicBezTo>
                  <a:lnTo>
                    <a:pt x="133350" y="1809750"/>
                  </a:lnTo>
                  <a:cubicBezTo>
                    <a:pt x="59703" y="1809750"/>
                    <a:pt x="0" y="1750047"/>
                    <a:pt x="0" y="1676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52235" y="2361248"/>
              <a:ext cx="43567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29450" y="2409825"/>
              <a:ext cx="21173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Threat Modeling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34212" y="2793206"/>
              <a:ext cx="14655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Trust Boundary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34212" y="3040856"/>
              <a:ext cx="11376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Asset Model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34212" y="3288506"/>
              <a:ext cx="24395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Mappatura OWASP Agentic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762000" y="4143375"/>
              <a:ext cx="5238750" cy="1809750"/>
            </a:xfrm>
            <a:custGeom>
              <a:avLst/>
              <a:gdLst/>
              <a:ahLst/>
              <a:cxnLst/>
              <a:rect l="l" t="t" r="r" b="b"/>
              <a:pathLst>
                <a:path w="5238750" h="1809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676400"/>
                  </a:lnTo>
                  <a:cubicBezTo>
                    <a:pt x="5238750" y="1750047"/>
                    <a:pt x="5179047" y="1809750"/>
                    <a:pt x="5105400" y="1809750"/>
                  </a:cubicBezTo>
                  <a:lnTo>
                    <a:pt x="133350" y="1809750"/>
                  </a:lnTo>
                  <a:cubicBezTo>
                    <a:pt x="59703" y="1809750"/>
                    <a:pt x="0" y="1750047"/>
                    <a:pt x="0" y="1676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2985" y="4361498"/>
              <a:ext cx="43567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00200" y="4410075"/>
              <a:ext cx="23198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Analisi del rischio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04962" y="4793456"/>
              <a:ext cx="1754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Risk Prioritization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04962" y="5041106"/>
              <a:ext cx="16873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Sette Precauzioni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04962" y="5288756"/>
              <a:ext cx="16969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Scenari prioritari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191250" y="4143375"/>
              <a:ext cx="5238750" cy="1809750"/>
            </a:xfrm>
            <a:custGeom>
              <a:avLst/>
              <a:gdLst/>
              <a:ahLst/>
              <a:cxnLst/>
              <a:rect l="l" t="t" r="r" b="b"/>
              <a:pathLst>
                <a:path w="5238750" h="1809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676400"/>
                  </a:lnTo>
                  <a:cubicBezTo>
                    <a:pt x="5238750" y="1750047"/>
                    <a:pt x="5179047" y="1809750"/>
                    <a:pt x="5105400" y="1809750"/>
                  </a:cubicBezTo>
                  <a:lnTo>
                    <a:pt x="133350" y="1809750"/>
                  </a:lnTo>
                  <a:cubicBezTo>
                    <a:pt x="59703" y="1809750"/>
                    <a:pt x="0" y="1750047"/>
                    <a:pt x="0" y="1676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52235" y="4361498"/>
              <a:ext cx="43567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29450" y="4410075"/>
              <a:ext cx="29544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Mitigazione e chiusura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34212" y="4793456"/>
              <a:ext cx="28542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Secure Architecture proposta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34212" y="5041106"/>
              <a:ext cx="39440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Validazione sperimentale · Rischio residuo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34212" y="5288756"/>
              <a:ext cx="22852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Limitazioni e conclusioni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02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6ECE9576-D4B3-32EE-DA64-8EC8114C013A}"/>
              </a:ext>
            </a:extLst>
          </p:cNvPr>
          <p:cNvSpPr/>
          <p:nvPr/>
        </p:nvSpPr>
        <p:spPr>
          <a:xfrm>
            <a:off x="745808" y="970085"/>
            <a:ext cx="6362915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10971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CONTESTO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1007714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Il problema: la latenza uccide il realismo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855" y="1664018"/>
            <a:ext cx="95934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Pipeline tradizionale per digital human embodied: STT → LLM → TTS → Lip-Sync → WebRTC</a:t>
            </a:r>
          </a:p>
        </p:txBody>
      </p:sp>
      <p:sp>
        <p:nvSpPr>
          <p:cNvPr id="6" name="Freeform 6"/>
          <p:cNvSpPr/>
          <p:nvPr/>
        </p:nvSpPr>
        <p:spPr>
          <a:xfrm>
            <a:off x="762000" y="2286000"/>
            <a:ext cx="5143500" cy="2095500"/>
          </a:xfrm>
          <a:custGeom>
            <a:avLst/>
            <a:gdLst/>
            <a:ahLst/>
            <a:cxnLst/>
            <a:rect l="l" t="t" r="r" b="b"/>
            <a:pathLst>
              <a:path w="5143500" h="2095500">
                <a:moveTo>
                  <a:pt x="133350" y="0"/>
                </a:moveTo>
                <a:lnTo>
                  <a:pt x="5010150" y="0"/>
                </a:lnTo>
                <a:cubicBezTo>
                  <a:pt x="5083797" y="0"/>
                  <a:pt x="5143500" y="59703"/>
                  <a:pt x="5143500" y="133350"/>
                </a:cubicBezTo>
                <a:lnTo>
                  <a:pt x="5143500" y="1962150"/>
                </a:lnTo>
                <a:cubicBezTo>
                  <a:pt x="5143500" y="2035797"/>
                  <a:pt x="5083797" y="2095500"/>
                  <a:pt x="5010150" y="2095500"/>
                </a:cubicBezTo>
                <a:lnTo>
                  <a:pt x="133350" y="2095500"/>
                </a:lnTo>
                <a:cubicBezTo>
                  <a:pt x="59703" y="2095500"/>
                  <a:pt x="0" y="2035797"/>
                  <a:pt x="0" y="1962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033462" y="2736056"/>
            <a:ext cx="34907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spc="200" dirty="0">
                <a:solidFill>
                  <a:srgbClr val="C4362E"/>
                </a:solidFill>
                <a:latin typeface="Segoe UI"/>
                <a:ea typeface="Microsoft YaHei"/>
                <a:cs typeface="Segoe UI"/>
              </a:rPr>
              <a:t>LATENZA PIPELINE SEQUENZIALE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7265" y="3115628"/>
            <a:ext cx="3687863" cy="112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550" b="1" dirty="0">
                <a:solidFill>
                  <a:srgbClr val="C4362E"/>
                </a:solidFill>
                <a:latin typeface="Segoe UI"/>
                <a:ea typeface="Microsoft YaHei"/>
                <a:cs typeface="Segoe UI"/>
              </a:rPr>
              <a:t>2–4 min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1558" y="3977164"/>
            <a:ext cx="38687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nei casi di rendering video complessi</a:t>
            </a:r>
          </a:p>
        </p:txBody>
      </p:sp>
      <p:sp>
        <p:nvSpPr>
          <p:cNvPr id="10" name="Freeform 10"/>
          <p:cNvSpPr/>
          <p:nvPr/>
        </p:nvSpPr>
        <p:spPr>
          <a:xfrm>
            <a:off x="6286500" y="2286000"/>
            <a:ext cx="5143500" cy="2095500"/>
          </a:xfrm>
          <a:custGeom>
            <a:avLst/>
            <a:gdLst/>
            <a:ahLst/>
            <a:cxnLst/>
            <a:rect l="l" t="t" r="r" b="b"/>
            <a:pathLst>
              <a:path w="5143500" h="2095500">
                <a:moveTo>
                  <a:pt x="133350" y="0"/>
                </a:moveTo>
                <a:lnTo>
                  <a:pt x="5010150" y="0"/>
                </a:lnTo>
                <a:cubicBezTo>
                  <a:pt x="5083797" y="0"/>
                  <a:pt x="5143500" y="59703"/>
                  <a:pt x="5143500" y="133350"/>
                </a:cubicBezTo>
                <a:lnTo>
                  <a:pt x="5143500" y="1962150"/>
                </a:lnTo>
                <a:cubicBezTo>
                  <a:pt x="5143500" y="2035797"/>
                  <a:pt x="5083797" y="2095500"/>
                  <a:pt x="5010150" y="2095500"/>
                </a:cubicBezTo>
                <a:lnTo>
                  <a:pt x="133350" y="2095500"/>
                </a:lnTo>
                <a:cubicBezTo>
                  <a:pt x="59703" y="2095500"/>
                  <a:pt x="0" y="2035797"/>
                  <a:pt x="0" y="1962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19050">
            <a:solidFill>
              <a:srgbClr val="B8771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Box 11"/>
          <p:cNvSpPr txBox="1"/>
          <p:nvPr/>
        </p:nvSpPr>
        <p:spPr>
          <a:xfrm>
            <a:off x="6557962" y="2736056"/>
            <a:ext cx="37833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spc="2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REQUISITO INTERAZIONE NATURALE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01765" y="3115628"/>
            <a:ext cx="4237382" cy="112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5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&lt; 800 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56058" y="3977164"/>
            <a:ext cx="379228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latenza percepita di prima risposta</a:t>
            </a:r>
          </a:p>
        </p:txBody>
      </p:sp>
      <p:sp>
        <p:nvSpPr>
          <p:cNvPr id="14" name="Freeform 14"/>
          <p:cNvSpPr/>
          <p:nvPr/>
        </p:nvSpPr>
        <p:spPr>
          <a:xfrm>
            <a:off x="762000" y="4857750"/>
            <a:ext cx="10668000" cy="1143000"/>
          </a:xfrm>
          <a:custGeom>
            <a:avLst/>
            <a:gdLst/>
            <a:ahLst/>
            <a:cxnLst/>
            <a:rect l="l" t="t" r="r" b="b"/>
            <a:pathLst>
              <a:path w="10668000" h="1143000">
                <a:moveTo>
                  <a:pt x="133350" y="0"/>
                </a:moveTo>
                <a:lnTo>
                  <a:pt x="10534650" y="0"/>
                </a:lnTo>
                <a:cubicBezTo>
                  <a:pt x="10608297" y="0"/>
                  <a:pt x="10668000" y="59703"/>
                  <a:pt x="10668000" y="133350"/>
                </a:cubicBezTo>
                <a:lnTo>
                  <a:pt x="10668000" y="1009650"/>
                </a:lnTo>
                <a:cubicBezTo>
                  <a:pt x="10668000" y="1083297"/>
                  <a:pt x="10608297" y="1143000"/>
                  <a:pt x="10534650" y="1143000"/>
                </a:cubicBezTo>
                <a:lnTo>
                  <a:pt x="133350" y="1143000"/>
                </a:lnTo>
                <a:cubicBezTo>
                  <a:pt x="59703" y="1143000"/>
                  <a:pt x="0" y="1083297"/>
                  <a:pt x="0" y="1009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Box 15"/>
          <p:cNvSpPr txBox="1"/>
          <p:nvPr/>
        </p:nvSpPr>
        <p:spPr>
          <a:xfrm>
            <a:off x="1028700" y="5172075"/>
            <a:ext cx="61138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Risposta architetturale: approccio Dual-Brain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1557" y="5539264"/>
            <a:ext cx="110080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Un Fast-Brain maschera l'attesa con filler immediati mentre un Deep-Brain elabora la risposta completa in background.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03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8CB1D621-E767-DFC2-F4F0-B925EFC48AE1}"/>
              </a:ext>
            </a:extLst>
          </p:cNvPr>
          <p:cNvSpPr/>
          <p:nvPr/>
        </p:nvSpPr>
        <p:spPr>
          <a:xfrm>
            <a:off x="725806" y="998981"/>
            <a:ext cx="6786039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656749"/>
            <a:ext cx="31623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DESCRIZIONE DELLA PIPELINE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899160"/>
            <a:ext cx="573118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Architettura Dual-Brain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552" y="1476375"/>
            <a:ext cx="7161848" cy="40005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762000" y="5715000"/>
            <a:ext cx="10668000" cy="814388"/>
            <a:chOff x="762000" y="5715000"/>
            <a:chExt cx="10668000" cy="814388"/>
          </a:xfrm>
        </p:grpSpPr>
        <p:sp>
          <p:nvSpPr>
            <p:cNvPr id="6" name="Freeform 6"/>
            <p:cNvSpPr/>
            <p:nvPr/>
          </p:nvSpPr>
          <p:spPr>
            <a:xfrm>
              <a:off x="762000" y="5715000"/>
              <a:ext cx="3524250" cy="809625"/>
            </a:xfrm>
            <a:custGeom>
              <a:avLst/>
              <a:gdLst/>
              <a:ahLst/>
              <a:cxnLst/>
              <a:rect l="l" t="t" r="r" b="b"/>
              <a:pathLst>
                <a:path w="3524250" h="809625">
                  <a:moveTo>
                    <a:pt x="95250" y="0"/>
                  </a:moveTo>
                  <a:lnTo>
                    <a:pt x="3429000" y="0"/>
                  </a:lnTo>
                  <a:cubicBezTo>
                    <a:pt x="3481605" y="0"/>
                    <a:pt x="3524250" y="42645"/>
                    <a:pt x="3524250" y="95250"/>
                  </a:cubicBezTo>
                  <a:lnTo>
                    <a:pt x="3524250" y="714375"/>
                  </a:lnTo>
                  <a:cubicBezTo>
                    <a:pt x="3524250" y="766980"/>
                    <a:pt x="3481605" y="809625"/>
                    <a:pt x="3429000" y="809625"/>
                  </a:cubicBezTo>
                  <a:lnTo>
                    <a:pt x="95250" y="809625"/>
                  </a:lnTo>
                  <a:cubicBezTo>
                    <a:pt x="42645" y="809625"/>
                    <a:pt x="0" y="766980"/>
                    <a:pt x="0" y="714375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39165" y="5906452"/>
              <a:ext cx="24367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Instant Path (Fast-Brain)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39165" y="6135052"/>
              <a:ext cx="33480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Filler verbali e gesti pre-renderizzati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9165" y="6316028"/>
              <a:ext cx="25829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in &lt; 800 ms su token parziali.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429125" y="5715000"/>
              <a:ext cx="3524250" cy="809625"/>
            </a:xfrm>
            <a:custGeom>
              <a:avLst/>
              <a:gdLst/>
              <a:ahLst/>
              <a:cxnLst/>
              <a:rect l="l" t="t" r="r" b="b"/>
              <a:pathLst>
                <a:path w="3524250" h="809625">
                  <a:moveTo>
                    <a:pt x="95250" y="0"/>
                  </a:moveTo>
                  <a:lnTo>
                    <a:pt x="3429000" y="0"/>
                  </a:lnTo>
                  <a:cubicBezTo>
                    <a:pt x="3481605" y="0"/>
                    <a:pt x="3524250" y="42645"/>
                    <a:pt x="3524250" y="95250"/>
                  </a:cubicBezTo>
                  <a:lnTo>
                    <a:pt x="3524250" y="714375"/>
                  </a:lnTo>
                  <a:cubicBezTo>
                    <a:pt x="3524250" y="766980"/>
                    <a:pt x="3481605" y="809625"/>
                    <a:pt x="3429000" y="809625"/>
                  </a:cubicBezTo>
                  <a:lnTo>
                    <a:pt x="95250" y="809625"/>
                  </a:lnTo>
                  <a:cubicBezTo>
                    <a:pt x="42645" y="809625"/>
                    <a:pt x="0" y="766980"/>
                    <a:pt x="0" y="714375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06290" y="5906452"/>
              <a:ext cx="27958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Background Path (Deep-Brain)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06290" y="6135052"/>
              <a:ext cx="32040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Risposta completa (2–4 min) con RAG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06290" y="6316028"/>
              <a:ext cx="3366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su FAISS e rendering cinematografico.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096250" y="5715000"/>
              <a:ext cx="3333750" cy="809625"/>
            </a:xfrm>
            <a:custGeom>
              <a:avLst/>
              <a:gdLst/>
              <a:ahLst/>
              <a:cxnLst/>
              <a:rect l="l" t="t" r="r" b="b"/>
              <a:pathLst>
                <a:path w="3333750" h="809625">
                  <a:moveTo>
                    <a:pt x="95250" y="0"/>
                  </a:moveTo>
                  <a:lnTo>
                    <a:pt x="3238500" y="0"/>
                  </a:lnTo>
                  <a:cubicBezTo>
                    <a:pt x="3291105" y="0"/>
                    <a:pt x="3333750" y="42645"/>
                    <a:pt x="3333750" y="95250"/>
                  </a:cubicBezTo>
                  <a:lnTo>
                    <a:pt x="3333750" y="714375"/>
                  </a:lnTo>
                  <a:cubicBezTo>
                    <a:pt x="3333750" y="766980"/>
                    <a:pt x="3291105" y="809625"/>
                    <a:pt x="3238500" y="809625"/>
                  </a:cubicBezTo>
                  <a:lnTo>
                    <a:pt x="95250" y="809625"/>
                  </a:lnTo>
                  <a:cubicBezTo>
                    <a:pt x="42645" y="809625"/>
                    <a:pt x="0" y="766980"/>
                    <a:pt x="0" y="714375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73415" y="5906452"/>
              <a:ext cx="13025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Swap Manager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73415" y="6135052"/>
              <a:ext cx="29070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Macchina a stati deterministica: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73415" y="6316028"/>
              <a:ext cx="23669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seamless cut senza glitch.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411855" y="6507480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04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6C3B3702-2F59-C7AE-CF2C-F9D8C272D975}"/>
              </a:ext>
            </a:extLst>
          </p:cNvPr>
          <p:cNvSpPr/>
          <p:nvPr/>
        </p:nvSpPr>
        <p:spPr>
          <a:xfrm>
            <a:off x="727711" y="841795"/>
            <a:ext cx="3780000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17131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CASO DI STUDIO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481823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Al-Hakima Umm Saif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855" y="1616392"/>
            <a:ext cx="87255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Figura tradizionale anziana delle comunità oasiche di Liwa, Emirati Arabi Uniti</a:t>
            </a:r>
          </a:p>
        </p:txBody>
      </p:sp>
      <p:sp>
        <p:nvSpPr>
          <p:cNvPr id="6" name="Freeform 6"/>
          <p:cNvSpPr/>
          <p:nvPr/>
        </p:nvSpPr>
        <p:spPr>
          <a:xfrm>
            <a:off x="762000" y="2190750"/>
            <a:ext cx="3333750" cy="1714500"/>
          </a:xfrm>
          <a:custGeom>
            <a:avLst/>
            <a:gdLst/>
            <a:ahLst/>
            <a:cxnLst/>
            <a:rect l="l" t="t" r="r" b="b"/>
            <a:pathLst>
              <a:path w="3333750" h="1714500">
                <a:moveTo>
                  <a:pt x="133350" y="0"/>
                </a:moveTo>
                <a:lnTo>
                  <a:pt x="3200400" y="0"/>
                </a:lnTo>
                <a:cubicBezTo>
                  <a:pt x="3274047" y="0"/>
                  <a:pt x="3333750" y="59703"/>
                  <a:pt x="3333750" y="133350"/>
                </a:cubicBezTo>
                <a:lnTo>
                  <a:pt x="3333750" y="1581150"/>
                </a:lnTo>
                <a:cubicBezTo>
                  <a:pt x="3333750" y="1654797"/>
                  <a:pt x="3274047" y="1714500"/>
                  <a:pt x="3200400" y="1714500"/>
                </a:cubicBezTo>
                <a:lnTo>
                  <a:pt x="133350" y="1714500"/>
                </a:lnTo>
                <a:cubicBezTo>
                  <a:pt x="59703" y="1714500"/>
                  <a:pt x="0" y="1654797"/>
                  <a:pt x="0" y="1581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031558" y="2481739"/>
            <a:ext cx="130626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Personalità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2510" y="2823210"/>
            <a:ext cx="35280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Materna, empatica, rassicurante.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2510" y="3089910"/>
            <a:ext cx="28079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Dialetto emiratino, formule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2510" y="3318510"/>
            <a:ext cx="32503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religiose, proverbi tradizionali.</a:t>
            </a:r>
          </a:p>
        </p:txBody>
      </p:sp>
      <p:sp>
        <p:nvSpPr>
          <p:cNvPr id="11" name="Freeform 11"/>
          <p:cNvSpPr/>
          <p:nvPr/>
        </p:nvSpPr>
        <p:spPr>
          <a:xfrm>
            <a:off x="4429125" y="2190750"/>
            <a:ext cx="3333750" cy="1714500"/>
          </a:xfrm>
          <a:custGeom>
            <a:avLst/>
            <a:gdLst/>
            <a:ahLst/>
            <a:cxnLst/>
            <a:rect l="l" t="t" r="r" b="b"/>
            <a:pathLst>
              <a:path w="3333750" h="1714500">
                <a:moveTo>
                  <a:pt x="133350" y="0"/>
                </a:moveTo>
                <a:lnTo>
                  <a:pt x="3200400" y="0"/>
                </a:lnTo>
                <a:cubicBezTo>
                  <a:pt x="3274047" y="0"/>
                  <a:pt x="3333750" y="59703"/>
                  <a:pt x="3333750" y="133350"/>
                </a:cubicBezTo>
                <a:lnTo>
                  <a:pt x="3333750" y="1581150"/>
                </a:lnTo>
                <a:cubicBezTo>
                  <a:pt x="3333750" y="1654797"/>
                  <a:pt x="3274047" y="1714500"/>
                  <a:pt x="3200400" y="1714500"/>
                </a:cubicBezTo>
                <a:lnTo>
                  <a:pt x="133350" y="1714500"/>
                </a:lnTo>
                <a:cubicBezTo>
                  <a:pt x="59703" y="1714500"/>
                  <a:pt x="0" y="1654797"/>
                  <a:pt x="0" y="1581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Box 12"/>
          <p:cNvSpPr txBox="1"/>
          <p:nvPr/>
        </p:nvSpPr>
        <p:spPr>
          <a:xfrm>
            <a:off x="4698682" y="2481739"/>
            <a:ext cx="6062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Ruolo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99635" y="2823210"/>
            <a:ext cx="29519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Consigli di benessere e rimedi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99635" y="3070860"/>
            <a:ext cx="20981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erboristici popolari.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99635" y="3356610"/>
            <a:ext cx="29108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Massimo realismo audiovisivo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99635" y="3585210"/>
            <a:ext cx="34971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(voce clonata + avatar embodied).</a:t>
            </a:r>
          </a:p>
        </p:txBody>
      </p:sp>
      <p:sp>
        <p:nvSpPr>
          <p:cNvPr id="17" name="Freeform 17"/>
          <p:cNvSpPr/>
          <p:nvPr/>
        </p:nvSpPr>
        <p:spPr>
          <a:xfrm>
            <a:off x="8096250" y="2190750"/>
            <a:ext cx="3333750" cy="1714500"/>
          </a:xfrm>
          <a:custGeom>
            <a:avLst/>
            <a:gdLst/>
            <a:ahLst/>
            <a:cxnLst/>
            <a:rect l="l" t="t" r="r" b="b"/>
            <a:pathLst>
              <a:path w="3333750" h="1714500">
                <a:moveTo>
                  <a:pt x="133350" y="0"/>
                </a:moveTo>
                <a:lnTo>
                  <a:pt x="3200400" y="0"/>
                </a:lnTo>
                <a:cubicBezTo>
                  <a:pt x="3274047" y="0"/>
                  <a:pt x="3333750" y="59703"/>
                  <a:pt x="3333750" y="133350"/>
                </a:cubicBezTo>
                <a:lnTo>
                  <a:pt x="3333750" y="1581150"/>
                </a:lnTo>
                <a:cubicBezTo>
                  <a:pt x="3333750" y="1654797"/>
                  <a:pt x="3274047" y="1714500"/>
                  <a:pt x="3200400" y="1714500"/>
                </a:cubicBezTo>
                <a:lnTo>
                  <a:pt x="133350" y="1714500"/>
                </a:lnTo>
                <a:cubicBezTo>
                  <a:pt x="59703" y="1714500"/>
                  <a:pt x="0" y="1654797"/>
                  <a:pt x="0" y="1581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19050">
            <a:solidFill>
              <a:srgbClr val="C4362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Box 18"/>
          <p:cNvSpPr txBox="1"/>
          <p:nvPr/>
        </p:nvSpPr>
        <p:spPr>
          <a:xfrm>
            <a:off x="8365808" y="2481739"/>
            <a:ext cx="175385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C4362E"/>
                </a:solidFill>
                <a:latin typeface="Segoe UI"/>
                <a:ea typeface="Microsoft YaHei"/>
                <a:cs typeface="Segoe UI"/>
              </a:rPr>
              <a:t>Fattore critico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66760" y="2823210"/>
            <a:ext cx="27668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Elevato potere persuasivo: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66760" y="3089910"/>
            <a:ext cx="32297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l'affidabilità percepita disarma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66760" y="3318510"/>
            <a:ext cx="31885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le difese cognitive dell'utente.</a:t>
            </a:r>
          </a:p>
        </p:txBody>
      </p:sp>
      <p:sp>
        <p:nvSpPr>
          <p:cNvPr id="22" name="Freeform 22"/>
          <p:cNvSpPr/>
          <p:nvPr/>
        </p:nvSpPr>
        <p:spPr>
          <a:xfrm>
            <a:off x="762000" y="4381500"/>
            <a:ext cx="10668000" cy="1428750"/>
          </a:xfrm>
          <a:custGeom>
            <a:avLst/>
            <a:gdLst/>
            <a:ahLst/>
            <a:cxnLst/>
            <a:rect l="l" t="t" r="r" b="b"/>
            <a:pathLst>
              <a:path w="10668000" h="1428750">
                <a:moveTo>
                  <a:pt x="133350" y="0"/>
                </a:moveTo>
                <a:lnTo>
                  <a:pt x="10534650" y="0"/>
                </a:lnTo>
                <a:cubicBezTo>
                  <a:pt x="10608297" y="0"/>
                  <a:pt x="10668000" y="59703"/>
                  <a:pt x="10668000" y="133350"/>
                </a:cubicBezTo>
                <a:lnTo>
                  <a:pt x="10668000" y="1295400"/>
                </a:lnTo>
                <a:cubicBezTo>
                  <a:pt x="10668000" y="1369047"/>
                  <a:pt x="10608297" y="1428750"/>
                  <a:pt x="10534650" y="1428750"/>
                </a:cubicBezTo>
                <a:lnTo>
                  <a:pt x="133350" y="1428750"/>
                </a:lnTo>
                <a:cubicBezTo>
                  <a:pt x="59703" y="1428750"/>
                  <a:pt x="0" y="1369047"/>
                  <a:pt x="0" y="1295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B8771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Box 23"/>
          <p:cNvSpPr txBox="1"/>
          <p:nvPr/>
        </p:nvSpPr>
        <p:spPr>
          <a:xfrm>
            <a:off x="1029652" y="4722971"/>
            <a:ext cx="444854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5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Perché conta per il threat modeling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2510" y="5109210"/>
            <a:ext cx="95253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Se un attaccante manipola l'avatar, la sua credibilità trasforma output deviati in prescrizioni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2510" y="5356860"/>
            <a:ext cx="93402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dannose: l'Human-Agent Trust diventa esso stesso una superficie d'attacco (OWASP ASI09).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05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AFD35AB9-B28F-2E47-39E2-C7ED1866D21C}"/>
              </a:ext>
            </a:extLst>
          </p:cNvPr>
          <p:cNvSpPr/>
          <p:nvPr/>
        </p:nvSpPr>
        <p:spPr>
          <a:xfrm>
            <a:off x="725806" y="1008530"/>
            <a:ext cx="3703320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25077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SCOPE E METODOLOGIA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925623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Approccio asset-centered, non FMEA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5807" y="1653064"/>
            <a:ext cx="1129379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Le minacce emergono dagli asset, dai flussi di coordinamento e dalle identità: non dai guasti di componente.</a:t>
            </a:r>
          </a:p>
        </p:txBody>
      </p:sp>
      <p:sp>
        <p:nvSpPr>
          <p:cNvPr id="6" name="Freeform 6"/>
          <p:cNvSpPr/>
          <p:nvPr/>
        </p:nvSpPr>
        <p:spPr>
          <a:xfrm>
            <a:off x="762000" y="2190750"/>
            <a:ext cx="3333750" cy="2190750"/>
          </a:xfrm>
          <a:custGeom>
            <a:avLst/>
            <a:gdLst/>
            <a:ahLst/>
            <a:cxnLst/>
            <a:rect l="l" t="t" r="r" b="b"/>
            <a:pathLst>
              <a:path w="3333750" h="2190750">
                <a:moveTo>
                  <a:pt x="133350" y="0"/>
                </a:moveTo>
                <a:lnTo>
                  <a:pt x="3200400" y="0"/>
                </a:lnTo>
                <a:cubicBezTo>
                  <a:pt x="3274047" y="0"/>
                  <a:pt x="3333750" y="59703"/>
                  <a:pt x="3333750" y="133350"/>
                </a:cubicBezTo>
                <a:lnTo>
                  <a:pt x="3333750" y="2057400"/>
                </a:lnTo>
                <a:cubicBezTo>
                  <a:pt x="3333750" y="2131047"/>
                  <a:pt x="3274047" y="2190750"/>
                  <a:pt x="3200400" y="2190750"/>
                </a:cubicBezTo>
                <a:lnTo>
                  <a:pt x="133350" y="2190750"/>
                </a:lnTo>
                <a:cubicBezTo>
                  <a:pt x="59703" y="2190750"/>
                  <a:pt x="0" y="2131047"/>
                  <a:pt x="0" y="2057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029652" y="2494121"/>
            <a:ext cx="117776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5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STRIDE-AI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3462" y="2850356"/>
            <a:ext cx="23335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Sei categorie di minaccia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3462" y="3098006"/>
            <a:ext cx="29700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adattate al contesto agentico: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3462" y="3383756"/>
            <a:ext cx="3278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spoofing, tampering, repudiation,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3462" y="3612356"/>
            <a:ext cx="27482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information disclosure, DoS,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3462" y="3840956"/>
            <a:ext cx="21309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elevation of privilege.</a:t>
            </a:r>
          </a:p>
        </p:txBody>
      </p:sp>
      <p:sp>
        <p:nvSpPr>
          <p:cNvPr id="13" name="Freeform 13"/>
          <p:cNvSpPr/>
          <p:nvPr/>
        </p:nvSpPr>
        <p:spPr>
          <a:xfrm>
            <a:off x="4429125" y="2190750"/>
            <a:ext cx="3333750" cy="2190750"/>
          </a:xfrm>
          <a:custGeom>
            <a:avLst/>
            <a:gdLst/>
            <a:ahLst/>
            <a:cxnLst/>
            <a:rect l="l" t="t" r="r" b="b"/>
            <a:pathLst>
              <a:path w="3333750" h="2190750">
                <a:moveTo>
                  <a:pt x="133350" y="0"/>
                </a:moveTo>
                <a:lnTo>
                  <a:pt x="3200400" y="0"/>
                </a:lnTo>
                <a:cubicBezTo>
                  <a:pt x="3274047" y="0"/>
                  <a:pt x="3333750" y="59703"/>
                  <a:pt x="3333750" y="133350"/>
                </a:cubicBezTo>
                <a:lnTo>
                  <a:pt x="3333750" y="2057400"/>
                </a:lnTo>
                <a:cubicBezTo>
                  <a:pt x="3333750" y="2131047"/>
                  <a:pt x="3274047" y="2190750"/>
                  <a:pt x="3200400" y="2190750"/>
                </a:cubicBezTo>
                <a:lnTo>
                  <a:pt x="133350" y="2190750"/>
                </a:lnTo>
                <a:cubicBezTo>
                  <a:pt x="59703" y="2190750"/>
                  <a:pt x="0" y="2131047"/>
                  <a:pt x="0" y="2057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Box 14"/>
          <p:cNvSpPr txBox="1"/>
          <p:nvPr/>
        </p:nvSpPr>
        <p:spPr>
          <a:xfrm>
            <a:off x="4696778" y="2494121"/>
            <a:ext cx="81861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5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CIA³-R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00588" y="2850356"/>
            <a:ext cx="28157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Sette proprietà di sicurezza: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00588" y="3136106"/>
            <a:ext cx="25553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Confidentiality, Integrity,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00588" y="3364706"/>
            <a:ext cx="27771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Availability + Authentication,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00588" y="3593306"/>
            <a:ext cx="29217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Authorization, Accountability,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00588" y="3821906"/>
            <a:ext cx="16294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Non-repudiation.</a:t>
            </a:r>
          </a:p>
        </p:txBody>
      </p:sp>
      <p:sp>
        <p:nvSpPr>
          <p:cNvPr id="20" name="Freeform 20"/>
          <p:cNvSpPr/>
          <p:nvPr/>
        </p:nvSpPr>
        <p:spPr>
          <a:xfrm>
            <a:off x="8096250" y="2190750"/>
            <a:ext cx="3333750" cy="2190750"/>
          </a:xfrm>
          <a:custGeom>
            <a:avLst/>
            <a:gdLst/>
            <a:ahLst/>
            <a:cxnLst/>
            <a:rect l="l" t="t" r="r" b="b"/>
            <a:pathLst>
              <a:path w="3333750" h="2190750">
                <a:moveTo>
                  <a:pt x="133350" y="0"/>
                </a:moveTo>
                <a:lnTo>
                  <a:pt x="3200400" y="0"/>
                </a:lnTo>
                <a:cubicBezTo>
                  <a:pt x="3274047" y="0"/>
                  <a:pt x="3333750" y="59703"/>
                  <a:pt x="3333750" y="133350"/>
                </a:cubicBezTo>
                <a:lnTo>
                  <a:pt x="3333750" y="2057400"/>
                </a:lnTo>
                <a:cubicBezTo>
                  <a:pt x="3333750" y="2131047"/>
                  <a:pt x="3274047" y="2190750"/>
                  <a:pt x="3200400" y="2190750"/>
                </a:cubicBezTo>
                <a:lnTo>
                  <a:pt x="133350" y="2190750"/>
                </a:lnTo>
                <a:cubicBezTo>
                  <a:pt x="59703" y="2190750"/>
                  <a:pt x="0" y="2131047"/>
                  <a:pt x="0" y="2057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Box 21"/>
          <p:cNvSpPr txBox="1"/>
          <p:nvPr/>
        </p:nvSpPr>
        <p:spPr>
          <a:xfrm>
            <a:off x="8363902" y="2494121"/>
            <a:ext cx="270412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5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OWASP Agentic Top 10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67712" y="2850356"/>
            <a:ext cx="27771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Edizione 2026 per applicazioni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67712" y="3098006"/>
            <a:ext cx="18898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ad agenti autonomi.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67712" y="3383756"/>
            <a:ext cx="25263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Mappatura ASI01–ASI10 con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67712" y="3612356"/>
            <a:ext cx="19766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grado di applicabilità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67712" y="3840956"/>
            <a:ext cx="2709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all'architettura Dual-Brain.</a:t>
            </a:r>
          </a:p>
        </p:txBody>
      </p:sp>
      <p:sp>
        <p:nvSpPr>
          <p:cNvPr id="27" name="Freeform 27"/>
          <p:cNvSpPr/>
          <p:nvPr/>
        </p:nvSpPr>
        <p:spPr>
          <a:xfrm>
            <a:off x="762000" y="4857750"/>
            <a:ext cx="10668000" cy="1047750"/>
          </a:xfrm>
          <a:custGeom>
            <a:avLst/>
            <a:gdLst/>
            <a:ahLst/>
            <a:cxnLst/>
            <a:rect l="l" t="t" r="r" b="b"/>
            <a:pathLst>
              <a:path w="10668000" h="1047750">
                <a:moveTo>
                  <a:pt x="133350" y="0"/>
                </a:moveTo>
                <a:lnTo>
                  <a:pt x="10534650" y="0"/>
                </a:lnTo>
                <a:cubicBezTo>
                  <a:pt x="10608297" y="0"/>
                  <a:pt x="10668000" y="59703"/>
                  <a:pt x="10668000" y="133350"/>
                </a:cubicBezTo>
                <a:lnTo>
                  <a:pt x="10668000" y="914400"/>
                </a:lnTo>
                <a:cubicBezTo>
                  <a:pt x="10668000" y="988047"/>
                  <a:pt x="10608297" y="1047750"/>
                  <a:pt x="105346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Box 28"/>
          <p:cNvSpPr txBox="1"/>
          <p:nvPr/>
        </p:nvSpPr>
        <p:spPr>
          <a:xfrm>
            <a:off x="1030605" y="5150168"/>
            <a:ext cx="38134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Baseline vs Secure Architecture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2510" y="5490210"/>
            <a:ext cx="110070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Il rischio è valutato sul sistema funzionale (rischio inerente); i controlli entrano solo nella valutazione del rischio residuo atteso.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06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59D7390-ED0B-59FD-056C-DA430675A508}"/>
              </a:ext>
            </a:extLst>
          </p:cNvPr>
          <p:cNvSpPr/>
          <p:nvPr/>
        </p:nvSpPr>
        <p:spPr>
          <a:xfrm>
            <a:off x="725805" y="1008531"/>
            <a:ext cx="6255097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18050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TRUST BOUNDARY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846098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Sei confini di fiducia nella pipeline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762000" y="1809750"/>
            <a:ext cx="10668000" cy="4048125"/>
            <a:chOff x="762000" y="1809750"/>
            <a:chExt cx="10668000" cy="4048125"/>
          </a:xfrm>
        </p:grpSpPr>
        <p:sp>
          <p:nvSpPr>
            <p:cNvPr id="5" name="Freeform 5"/>
            <p:cNvSpPr/>
            <p:nvPr/>
          </p:nvSpPr>
          <p:spPr>
            <a:xfrm>
              <a:off x="762000" y="1809750"/>
              <a:ext cx="3429000" cy="1905000"/>
            </a:xfrm>
            <a:custGeom>
              <a:avLst/>
              <a:gdLst/>
              <a:ahLst/>
              <a:cxnLst/>
              <a:rect l="l" t="t" r="r" b="b"/>
              <a:pathLst>
                <a:path w="3429000" h="1905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790700"/>
                  </a:lnTo>
                  <a:cubicBezTo>
                    <a:pt x="3429000" y="1853826"/>
                    <a:pt x="3377826" y="1905000"/>
                    <a:pt x="33147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1809750"/>
              <a:ext cx="57150" cy="190500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84885" y="2042160"/>
              <a:ext cx="23743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TB1 · Utente → Ingress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6790" y="2382202"/>
              <a:ext cx="20789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Superficie più esposta: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6790" y="2610802"/>
              <a:ext cx="21689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prompt injection, replay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6790" y="2839402"/>
              <a:ext cx="20789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e spoofing dell'utente.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4381500" y="1809750"/>
              <a:ext cx="3429000" cy="1905000"/>
            </a:xfrm>
            <a:custGeom>
              <a:avLst/>
              <a:gdLst/>
              <a:ahLst/>
              <a:cxnLst/>
              <a:rect l="l" t="t" r="r" b="b"/>
              <a:pathLst>
                <a:path w="3429000" h="1905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790700"/>
                  </a:lnTo>
                  <a:cubicBezTo>
                    <a:pt x="3429000" y="1853826"/>
                    <a:pt x="3377826" y="1905000"/>
                    <a:pt x="33147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1500" y="1809750"/>
              <a:ext cx="57150" cy="190500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04385" y="2042160"/>
              <a:ext cx="24931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TB2 · Edge/STT → Agenti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06290" y="2382202"/>
              <a:ext cx="20789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Rischio di manipolazione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6290" y="2610802"/>
              <a:ext cx="2141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dei partial transcript in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6290" y="2839402"/>
              <a:ext cx="2420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streaming verso gli agenti.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001000" y="1809750"/>
              <a:ext cx="3429000" cy="1905000"/>
            </a:xfrm>
            <a:custGeom>
              <a:avLst/>
              <a:gdLst/>
              <a:ahLst/>
              <a:cxnLst/>
              <a:rect l="l" t="t" r="r" b="b"/>
              <a:pathLst>
                <a:path w="3429000" h="1905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790700"/>
                  </a:lnTo>
                  <a:cubicBezTo>
                    <a:pt x="3429000" y="1853826"/>
                    <a:pt x="3377826" y="1905000"/>
                    <a:pt x="33147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19050">
              <a:solidFill>
                <a:srgbClr val="B8771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23885" y="2042160"/>
              <a:ext cx="29252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TB3 · Agenti → Control Plane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25790" y="2382202"/>
              <a:ext cx="22319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Confine critico: regolato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25790" y="2610802"/>
              <a:ext cx="26009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dall'Output Validator (M11),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25790" y="2839402"/>
              <a:ext cx="25109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unico punto di enforcement.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62000" y="3952875"/>
              <a:ext cx="3429000" cy="1905000"/>
            </a:xfrm>
            <a:custGeom>
              <a:avLst/>
              <a:gdLst/>
              <a:ahLst/>
              <a:cxnLst/>
              <a:rect l="l" t="t" r="r" b="b"/>
              <a:pathLst>
                <a:path w="3429000" h="1905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790700"/>
                  </a:lnTo>
                  <a:cubicBezTo>
                    <a:pt x="3429000" y="1853826"/>
                    <a:pt x="3377826" y="1905000"/>
                    <a:pt x="33147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3952875"/>
              <a:ext cx="57150" cy="1905000"/>
            </a:xfrm>
            <a:prstGeom prst="rect">
              <a:avLst/>
            </a:prstGeom>
            <a:solidFill>
              <a:srgbClr val="B8771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4885" y="4185285"/>
              <a:ext cx="33572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TB4 · Deep-Brain – RAG/Memoria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6790" y="4525328"/>
              <a:ext cx="2222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Confine di isolamento per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6790" y="4753928"/>
              <a:ext cx="2636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prevenire il context poisoning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6790" y="4982528"/>
              <a:ext cx="20609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di KB, FAISS e memoria.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4381500" y="3952875"/>
              <a:ext cx="3429000" cy="1905000"/>
            </a:xfrm>
            <a:custGeom>
              <a:avLst/>
              <a:gdLst/>
              <a:ahLst/>
              <a:cxnLst/>
              <a:rect l="l" t="t" r="r" b="b"/>
              <a:pathLst>
                <a:path w="3429000" h="1905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790700"/>
                  </a:lnTo>
                  <a:cubicBezTo>
                    <a:pt x="3429000" y="1853826"/>
                    <a:pt x="3377826" y="1905000"/>
                    <a:pt x="33147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381500" y="3952875"/>
              <a:ext cx="57150" cy="19050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4385" y="4185285"/>
              <a:ext cx="2428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TB5 · Pipeline → Worker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06290" y="4525328"/>
              <a:ext cx="1934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Protezione dei servizi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06290" y="4753928"/>
              <a:ext cx="22769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multimediali downstream: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6290" y="4982528"/>
              <a:ext cx="2285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TTS, voice cloning, video.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001000" y="3952875"/>
              <a:ext cx="3429000" cy="1905000"/>
            </a:xfrm>
            <a:custGeom>
              <a:avLst/>
              <a:gdLst/>
              <a:ahLst/>
              <a:cxnLst/>
              <a:rect l="l" t="t" r="r" b="b"/>
              <a:pathLst>
                <a:path w="3429000" h="1905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790700"/>
                  </a:lnTo>
                  <a:cubicBezTo>
                    <a:pt x="3429000" y="1853826"/>
                    <a:pt x="3377826" y="1905000"/>
                    <a:pt x="33147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001000" y="3952875"/>
              <a:ext cx="57150" cy="19050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23885" y="4185285"/>
              <a:ext cx="23959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TB6 · Worker → WebRTC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25790" y="4525328"/>
              <a:ext cx="18358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Protezione dei canali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5790" y="4753928"/>
              <a:ext cx="2123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multimediali finali verso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5790" y="4982528"/>
              <a:ext cx="22949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il dispositivo dell'utente.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07</a:t>
            </a: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08D3079C-91E9-2A29-C1ED-A1B0664BEE37}"/>
              </a:ext>
            </a:extLst>
          </p:cNvPr>
          <p:cNvSpPr/>
          <p:nvPr/>
        </p:nvSpPr>
        <p:spPr>
          <a:xfrm>
            <a:off x="725806" y="1008531"/>
            <a:ext cx="5815393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21464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ASSET MODEL · 1/2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3048162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Data Assets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62000" y="1809750"/>
            <a:ext cx="10668000" cy="3810000"/>
            <a:chOff x="762000" y="1809750"/>
            <a:chExt cx="10668000" cy="3810000"/>
          </a:xfrm>
        </p:grpSpPr>
        <p:sp>
          <p:nvSpPr>
            <p:cNvPr id="5" name="Freeform 5"/>
            <p:cNvSpPr/>
            <p:nvPr/>
          </p:nvSpPr>
          <p:spPr>
            <a:xfrm>
              <a:off x="762000" y="1809750"/>
              <a:ext cx="10668000" cy="1143000"/>
            </a:xfrm>
            <a:custGeom>
              <a:avLst/>
              <a:gdLst/>
              <a:ahLst/>
              <a:cxnLst/>
              <a:rect l="l" t="t" r="r" b="b"/>
              <a:pathLst>
                <a:path w="10668000" h="1143000">
                  <a:moveTo>
                    <a:pt x="114300" y="0"/>
                  </a:moveTo>
                  <a:lnTo>
                    <a:pt x="10553700" y="0"/>
                  </a:lnTo>
                  <a:cubicBezTo>
                    <a:pt x="10616826" y="0"/>
                    <a:pt x="10668000" y="51174"/>
                    <a:pt x="10668000" y="114300"/>
                  </a:cubicBezTo>
                  <a:lnTo>
                    <a:pt x="10668000" y="1028700"/>
                  </a:lnTo>
                  <a:cubicBezTo>
                    <a:pt x="10668000" y="1091826"/>
                    <a:pt x="10616826" y="1143000"/>
                    <a:pt x="10553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31558" y="2034064"/>
              <a:ext cx="44967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Flussi conversazionali &amp; I/O (D1–D3, D6)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3462" y="2336006"/>
              <a:ext cx="56414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Audio grezzo · trascrizioni parziali e totali · testi generati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3462" y="2640806"/>
              <a:ext cx="86764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Minacce: tampering del testo · prompt injection su token parziali · eavesdropping audio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762000" y="3143250"/>
              <a:ext cx="10668000" cy="1143000"/>
            </a:xfrm>
            <a:custGeom>
              <a:avLst/>
              <a:gdLst/>
              <a:ahLst/>
              <a:cxnLst/>
              <a:rect l="l" t="t" r="r" b="b"/>
              <a:pathLst>
                <a:path w="10668000" h="1143000">
                  <a:moveTo>
                    <a:pt x="114300" y="0"/>
                  </a:moveTo>
                  <a:lnTo>
                    <a:pt x="10553700" y="0"/>
                  </a:lnTo>
                  <a:cubicBezTo>
                    <a:pt x="10616826" y="0"/>
                    <a:pt x="10668000" y="51174"/>
                    <a:pt x="10668000" y="114300"/>
                  </a:cubicBezTo>
                  <a:lnTo>
                    <a:pt x="10668000" y="1028700"/>
                  </a:lnTo>
                  <a:cubicBezTo>
                    <a:pt x="10668000" y="1091826"/>
                    <a:pt x="10616826" y="1143000"/>
                    <a:pt x="10553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1558" y="3367564"/>
              <a:ext cx="56328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Identità &amp; artefatti multimediali (D5, D7–D9, D11)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3462" y="3669506"/>
              <a:ext cx="90264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Trigger posturali e gesti · identità, voce e stile dell'avatar · clip temporanee e stream WebRTC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3462" y="3974306"/>
              <a:ext cx="93548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Minacce: voice spoofing · manomissione postura e sguardi · esfiltrazione tratti di personalità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762000" y="4476750"/>
              <a:ext cx="10668000" cy="1143000"/>
            </a:xfrm>
            <a:custGeom>
              <a:avLst/>
              <a:gdLst/>
              <a:ahLst/>
              <a:cxnLst/>
              <a:rect l="l" t="t" r="r" b="b"/>
              <a:pathLst>
                <a:path w="10668000" h="1143000">
                  <a:moveTo>
                    <a:pt x="114300" y="0"/>
                  </a:moveTo>
                  <a:lnTo>
                    <a:pt x="10553700" y="0"/>
                  </a:lnTo>
                  <a:cubicBezTo>
                    <a:pt x="10616826" y="0"/>
                    <a:pt x="10668000" y="51174"/>
                    <a:pt x="10668000" y="114300"/>
                  </a:cubicBezTo>
                  <a:lnTo>
                    <a:pt x="10668000" y="1028700"/>
                  </a:lnTo>
                  <a:cubicBezTo>
                    <a:pt x="10668000" y="1091826"/>
                    <a:pt x="10616826" y="1143000"/>
                    <a:pt x="10553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1558" y="4701064"/>
              <a:ext cx="582798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Conoscenza, stato &amp; credenziali (D4, D10, D12–D13)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3462" y="5003006"/>
              <a:ext cx="93158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Indice RAG e memoria di contesto · stato di sessione e swap coordination · log di audit e credenziali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3462" y="5307806"/>
              <a:ext cx="95776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Minacce: poisoning di RAG e contesto · falsificazione/replay del Video Ready · escalation privilegi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08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A628FC1C-56DA-0D9A-8E5A-7927B2D5FCAD}"/>
              </a:ext>
            </a:extLst>
          </p:cNvPr>
          <p:cNvSpPr/>
          <p:nvPr/>
        </p:nvSpPr>
        <p:spPr>
          <a:xfrm>
            <a:off x="725807" y="1008530"/>
            <a:ext cx="2007562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21464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ASSET MODEL · 2/2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3304694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Model Assets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62000" y="1809750"/>
            <a:ext cx="10668000" cy="3810000"/>
            <a:chOff x="762000" y="1809750"/>
            <a:chExt cx="10668000" cy="3810000"/>
          </a:xfrm>
        </p:grpSpPr>
        <p:sp>
          <p:nvSpPr>
            <p:cNvPr id="5" name="Freeform 5"/>
            <p:cNvSpPr/>
            <p:nvPr/>
          </p:nvSpPr>
          <p:spPr>
            <a:xfrm>
              <a:off x="762000" y="1809750"/>
              <a:ext cx="10668000" cy="1143000"/>
            </a:xfrm>
            <a:custGeom>
              <a:avLst/>
              <a:gdLst/>
              <a:ahLst/>
              <a:cxnLst/>
              <a:rect l="l" t="t" r="r" b="b"/>
              <a:pathLst>
                <a:path w="10668000" h="1143000">
                  <a:moveTo>
                    <a:pt x="114300" y="0"/>
                  </a:moveTo>
                  <a:lnTo>
                    <a:pt x="10553700" y="0"/>
                  </a:lnTo>
                  <a:cubicBezTo>
                    <a:pt x="10616826" y="0"/>
                    <a:pt x="10668000" y="51174"/>
                    <a:pt x="10668000" y="114300"/>
                  </a:cubicBezTo>
                  <a:lnTo>
                    <a:pt x="10668000" y="1028700"/>
                  </a:lnTo>
                  <a:cubicBezTo>
                    <a:pt x="10668000" y="1091826"/>
                    <a:pt x="10616826" y="1143000"/>
                    <a:pt x="10553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31558" y="2034064"/>
              <a:ext cx="422128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Agenti decisionali Dual-Brain (M1–M3)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3462" y="2336006"/>
              <a:ext cx="71266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Fast-Brain (&lt;800 ms) · Deep-Brain (RAG) · system prompt comportamentali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3462" y="2640806"/>
              <a:ext cx="63169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Minacce: goal hijack · alterazione di filler e trigger · goal drift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762000" y="3143250"/>
              <a:ext cx="10668000" cy="1143000"/>
            </a:xfrm>
            <a:custGeom>
              <a:avLst/>
              <a:gdLst/>
              <a:ahLst/>
              <a:cxnLst/>
              <a:rect l="l" t="t" r="r" b="b"/>
              <a:pathLst>
                <a:path w="10668000" h="1143000">
                  <a:moveTo>
                    <a:pt x="114300" y="0"/>
                  </a:moveTo>
                  <a:lnTo>
                    <a:pt x="10553700" y="0"/>
                  </a:lnTo>
                  <a:cubicBezTo>
                    <a:pt x="10616826" y="0"/>
                    <a:pt x="10668000" y="51174"/>
                    <a:pt x="10668000" y="114300"/>
                  </a:cubicBezTo>
                  <a:lnTo>
                    <a:pt x="10668000" y="1028700"/>
                  </a:lnTo>
                  <a:cubicBezTo>
                    <a:pt x="10668000" y="1091826"/>
                    <a:pt x="10616826" y="1143000"/>
                    <a:pt x="10553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1558" y="3367564"/>
              <a:ext cx="45770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Modelli multimodali downstream (M4–M8)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3462" y="3669506"/>
              <a:ext cx="72423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VAD/STT · retriever FAISS · TTS e voice cloning · generazione video e lip-sync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3462" y="3974306"/>
              <a:ext cx="86561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Minacce: voice/video spoofing · DoS su rendering e sintesi · alterazione sync e lip-sync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762000" y="4476750"/>
              <a:ext cx="10668000" cy="1143000"/>
            </a:xfrm>
            <a:custGeom>
              <a:avLst/>
              <a:gdLst/>
              <a:ahLst/>
              <a:cxnLst/>
              <a:rect l="l" t="t" r="r" b="b"/>
              <a:pathLst>
                <a:path w="10668000" h="1143000">
                  <a:moveTo>
                    <a:pt x="114300" y="0"/>
                  </a:moveTo>
                  <a:lnTo>
                    <a:pt x="10553700" y="0"/>
                  </a:lnTo>
                  <a:cubicBezTo>
                    <a:pt x="10616826" y="0"/>
                    <a:pt x="10668000" y="51174"/>
                    <a:pt x="10668000" y="114300"/>
                  </a:cubicBezTo>
                  <a:lnTo>
                    <a:pt x="10668000" y="1028700"/>
                  </a:lnTo>
                  <a:cubicBezTo>
                    <a:pt x="10668000" y="1091826"/>
                    <a:pt x="10616826" y="1143000"/>
                    <a:pt x="10553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1558" y="4701064"/>
              <a:ext cx="43704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Control Plane &amp; Enforcement (M9–M11)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3462" y="5003006"/>
              <a:ext cx="57957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Request Router · Swap Manager · Validation Layer / Guardrail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3462" y="5307806"/>
              <a:ext cx="77852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Minacce: desincronizzazione dello swap · tampering o DoS del layer di guardrail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09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030B21A8-885A-02A3-8F1A-7A904A6C84DD}"/>
              </a:ext>
            </a:extLst>
          </p:cNvPr>
          <p:cNvSpPr/>
          <p:nvPr/>
        </p:nvSpPr>
        <p:spPr>
          <a:xfrm>
            <a:off x="725807" y="1008530"/>
            <a:ext cx="2232000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46982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MAPPATURA OWASP AGENTIC TOP 10 (2026)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887144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Applicabilità alla pipeline Dual-Brain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619250"/>
            <a:ext cx="133350" cy="133350"/>
          </a:xfrm>
          <a:prstGeom prst="rect">
            <a:avLst/>
          </a:prstGeom>
          <a:solidFill>
            <a:srgbClr val="C436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958215" y="1629728"/>
            <a:ext cx="3777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Alta</a:t>
            </a:r>
          </a:p>
        </p:txBody>
      </p:sp>
      <p:sp>
        <p:nvSpPr>
          <p:cNvPr id="7" name="Rectangle 7"/>
          <p:cNvSpPr/>
          <p:nvPr/>
        </p:nvSpPr>
        <p:spPr>
          <a:xfrm>
            <a:off x="1524000" y="1619250"/>
            <a:ext cx="133350" cy="13335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1720215" y="1629728"/>
            <a:ext cx="5127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Media</a:t>
            </a:r>
          </a:p>
        </p:txBody>
      </p:sp>
      <p:sp>
        <p:nvSpPr>
          <p:cNvPr id="9" name="Rectangle 9"/>
          <p:cNvSpPr/>
          <p:nvPr/>
        </p:nvSpPr>
        <p:spPr>
          <a:xfrm>
            <a:off x="2476500" y="1619250"/>
            <a:ext cx="133350" cy="13335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Box 10"/>
          <p:cNvSpPr txBox="1"/>
          <p:nvPr/>
        </p:nvSpPr>
        <p:spPr>
          <a:xfrm>
            <a:off x="2672715" y="1629728"/>
            <a:ext cx="1124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Condizionata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762000" y="1905000"/>
            <a:ext cx="11277600" cy="4343400"/>
            <a:chOff x="762000" y="1905000"/>
            <a:chExt cx="11277600" cy="4343400"/>
          </a:xfrm>
        </p:grpSpPr>
        <p:sp>
          <p:nvSpPr>
            <p:cNvPr id="11" name="Freeform 11"/>
            <p:cNvSpPr/>
            <p:nvPr/>
          </p:nvSpPr>
          <p:spPr>
            <a:xfrm>
              <a:off x="762000" y="190500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1905000"/>
              <a:ext cx="57150" cy="40005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5838" y="2040731"/>
              <a:ext cx="22361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ASI01 Agent Goal Hijack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81712" y="2040731"/>
              <a:ext cx="56607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chunk splitting / prompt injection deviano Fast e Deep-Brain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91008" y="204073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SC1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62000" y="234315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343150"/>
              <a:ext cx="57150" cy="400050"/>
            </a:xfrm>
            <a:prstGeom prst="rect">
              <a:avLst/>
            </a:prstGeom>
            <a:solidFill>
              <a:srgbClr val="B8771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5838" y="2478881"/>
              <a:ext cx="3127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ASI02 Tool Misuse &amp; Exploitation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81712" y="2478881"/>
              <a:ext cx="52460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servizi TTS/video invocati senza validazione sufficiente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91008" y="247888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SC2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762000" y="278130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2781300"/>
              <a:ext cx="57150" cy="40005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5838" y="2917031"/>
              <a:ext cx="30867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ASI03 Identity &amp; Privilege Abuse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81712" y="2917031"/>
              <a:ext cx="59578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token con scope eccessivo, confused deputy sull'Orchestratore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91008" y="291703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SC3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62000" y="321945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219450"/>
              <a:ext cx="57150" cy="40005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5838" y="3355181"/>
              <a:ext cx="25702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ASI04 Agentic Supply Chain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81712" y="3355181"/>
              <a:ext cx="45516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checkpoint, SDK o provider esterni compromessi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91008" y="335518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SC4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762000" y="365760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3657600"/>
              <a:ext cx="57150" cy="40005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5838" y="3793331"/>
              <a:ext cx="3228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ASI05 Unexpected Code Execution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81712" y="3793331"/>
              <a:ext cx="47252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applicabile solo se si introducono interpreti o eval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91008" y="379333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2B6CB0"/>
                  </a:solidFill>
                  <a:latin typeface="Aptos"/>
                  <a:ea typeface="Microsoft YaHei"/>
                  <a:cs typeface="Aptos"/>
                </a:rPr>
                <a:t>SC5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762000" y="409575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2000" y="4095750"/>
              <a:ext cx="57150" cy="40005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5838" y="4231481"/>
              <a:ext cx="33196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ASI06 Memory &amp; Context Poisoning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81712" y="4231481"/>
              <a:ext cx="59578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chunk malevoli in FAISS, feedback manipolati, impatto persistente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91008" y="423148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SC6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762000" y="453390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62000" y="4533900"/>
              <a:ext cx="57150" cy="40005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5838" y="4669631"/>
              <a:ext cx="4160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ASI07 Insecure Inter-Agent Communication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81712" y="4669631"/>
              <a:ext cx="5033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tampering/replay dei segnali di coordinamento e swap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591008" y="466963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SC7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762000" y="497205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62000" y="4972050"/>
              <a:ext cx="57150" cy="40005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5838" y="5107781"/>
              <a:ext cx="23981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ASI08 Cascading Failures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81712" y="5107781"/>
              <a:ext cx="53424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timeout e retry propagano guasti tra i percorsi paralleli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591008" y="510778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SC8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762000" y="541020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62000" y="5410200"/>
              <a:ext cx="57150" cy="40005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5838" y="5545931"/>
              <a:ext cx="37246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ASI09 Human-Agent Trust Exploitation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81712" y="5545931"/>
              <a:ext cx="57571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realismo e personalità dell'avatar amplificano output deviati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91008" y="554593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SC9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762000" y="584835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62000" y="5848350"/>
              <a:ext cx="57150" cy="400050"/>
            </a:xfrm>
            <a:prstGeom prst="rect">
              <a:avLst/>
            </a:prstGeom>
            <a:solidFill>
              <a:srgbClr val="B8771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5838" y="5984081"/>
              <a:ext cx="18816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ASI10 Rogue Agents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81712" y="5984081"/>
              <a:ext cx="45034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drift comportamentale persistente degli agenti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479619" y="5984081"/>
              <a:ext cx="4741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SC10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411855" y="6507480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10</a:t>
            </a:r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6F51D893-76AC-EDA5-B551-F854B4CF174C}"/>
              </a:ext>
            </a:extLst>
          </p:cNvPr>
          <p:cNvSpPr/>
          <p:nvPr/>
        </p:nvSpPr>
        <p:spPr>
          <a:xfrm>
            <a:off x="725806" y="1008530"/>
            <a:ext cx="6215767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22821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RISK PRIORITIZATION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1089804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Due fattori di valutazione, una matrice 3×3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667500" y="1809750"/>
            <a:ext cx="4762500" cy="4095750"/>
            <a:chOff x="6667500" y="1809750"/>
            <a:chExt cx="4762500" cy="4095750"/>
          </a:xfrm>
        </p:grpSpPr>
        <p:sp>
          <p:nvSpPr>
            <p:cNvPr id="5" name="Freeform 5"/>
            <p:cNvSpPr/>
            <p:nvPr/>
          </p:nvSpPr>
          <p:spPr>
            <a:xfrm>
              <a:off x="6667500" y="1809750"/>
              <a:ext cx="4762500" cy="1952625"/>
            </a:xfrm>
            <a:custGeom>
              <a:avLst/>
              <a:gdLst/>
              <a:ahLst/>
              <a:cxnLst/>
              <a:rect l="l" t="t" r="r" b="b"/>
              <a:pathLst>
                <a:path w="4762500" h="1952625">
                  <a:moveTo>
                    <a:pt x="133350" y="0"/>
                  </a:moveTo>
                  <a:lnTo>
                    <a:pt x="4629150" y="0"/>
                  </a:lnTo>
                  <a:cubicBezTo>
                    <a:pt x="4702797" y="0"/>
                    <a:pt x="4762500" y="59703"/>
                    <a:pt x="4762500" y="133350"/>
                  </a:cubicBezTo>
                  <a:lnTo>
                    <a:pt x="4762500" y="1819275"/>
                  </a:lnTo>
                  <a:cubicBezTo>
                    <a:pt x="4762500" y="1892922"/>
                    <a:pt x="4702797" y="1952625"/>
                    <a:pt x="4629150" y="1952625"/>
                  </a:cubicBezTo>
                  <a:lnTo>
                    <a:pt x="133350" y="1952625"/>
                  </a:lnTo>
                  <a:cubicBezTo>
                    <a:pt x="59703" y="1952625"/>
                    <a:pt x="0" y="1892922"/>
                    <a:pt x="0" y="1819275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89432" y="2034064"/>
              <a:ext cx="266048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Likelihood (probabilità)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892290" y="2325052"/>
              <a:ext cx="41851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Esprime la fattibilità di un attacco. Considera: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892290" y="2610802"/>
              <a:ext cx="3285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Accessibilità del vettore d'attacco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92290" y="2858452"/>
              <a:ext cx="30600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Privilegi e precondizioni richiesti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92290" y="3106102"/>
              <a:ext cx="19169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Complessità tecnica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92290" y="3353752"/>
              <a:ext cx="40321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Esposizione di Knowledge Base e supply chain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6667500" y="3952875"/>
              <a:ext cx="4762500" cy="1952625"/>
            </a:xfrm>
            <a:custGeom>
              <a:avLst/>
              <a:gdLst/>
              <a:ahLst/>
              <a:cxnLst/>
              <a:rect l="l" t="t" r="r" b="b"/>
              <a:pathLst>
                <a:path w="4762500" h="1952625">
                  <a:moveTo>
                    <a:pt x="133350" y="0"/>
                  </a:moveTo>
                  <a:lnTo>
                    <a:pt x="4629150" y="0"/>
                  </a:lnTo>
                  <a:cubicBezTo>
                    <a:pt x="4702797" y="0"/>
                    <a:pt x="4762500" y="59703"/>
                    <a:pt x="4762500" y="133350"/>
                  </a:cubicBezTo>
                  <a:lnTo>
                    <a:pt x="4762500" y="1819275"/>
                  </a:lnTo>
                  <a:cubicBezTo>
                    <a:pt x="4762500" y="1892922"/>
                    <a:pt x="4702797" y="1952625"/>
                    <a:pt x="4629150" y="1952625"/>
                  </a:cubicBezTo>
                  <a:lnTo>
                    <a:pt x="133350" y="1952625"/>
                  </a:lnTo>
                  <a:cubicBezTo>
                    <a:pt x="59703" y="1952625"/>
                    <a:pt x="0" y="1892922"/>
                    <a:pt x="0" y="1819275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89432" y="4177189"/>
              <a:ext cx="21784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Severity (impatto)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92290" y="4468178"/>
              <a:ext cx="43202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Esprime la gravità delle conseguenze. Considera: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92290" y="4753928"/>
              <a:ext cx="29970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Violazione delle proprietà CIA³-R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92290" y="5001578"/>
              <a:ext cx="20789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Persistenza del danno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92290" y="5249228"/>
              <a:ext cx="33030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Propagazione ai servizi downstream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92290" y="5496878"/>
              <a:ext cx="30330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Impatto sulla fiducia dell'utente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52400" y="1772602"/>
            <a:ext cx="5562600" cy="4430554"/>
            <a:chOff x="152400" y="1772602"/>
            <a:chExt cx="5562600" cy="4430554"/>
          </a:xfrm>
        </p:grpSpPr>
        <p:sp>
          <p:nvSpPr>
            <p:cNvPr id="20" name="Rectangle 20"/>
            <p:cNvSpPr/>
            <p:nvPr/>
          </p:nvSpPr>
          <p:spPr>
            <a:xfrm>
              <a:off x="1428750" y="2000250"/>
              <a:ext cx="1428750" cy="1238250"/>
            </a:xfrm>
            <a:prstGeom prst="rect">
              <a:avLst/>
            </a:pr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857500" y="2000250"/>
              <a:ext cx="1428750" cy="1238250"/>
            </a:xfrm>
            <a:prstGeom prst="rect">
              <a:avLst/>
            </a:pr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286250" y="2000250"/>
              <a:ext cx="1428750" cy="1238250"/>
            </a:xfrm>
            <a:prstGeom prst="rect">
              <a:avLst/>
            </a:prstGeom>
            <a:solidFill>
              <a:srgbClr val="E8A9A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428750" y="3238500"/>
              <a:ext cx="1428750" cy="1238250"/>
            </a:xfrm>
            <a:prstGeom prst="rect">
              <a:avLst/>
            </a:prstGeom>
            <a:solidFill>
              <a:srgbClr val="E4EED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857500" y="3238500"/>
              <a:ext cx="1428750" cy="1238250"/>
            </a:xfrm>
            <a:prstGeom prst="rect">
              <a:avLst/>
            </a:pr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286250" y="3238500"/>
              <a:ext cx="1428750" cy="1238250"/>
            </a:xfrm>
            <a:prstGeom prst="rect">
              <a:avLst/>
            </a:pr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428750" y="4476750"/>
              <a:ext cx="1428750" cy="1238250"/>
            </a:xfrm>
            <a:prstGeom prst="rect">
              <a:avLst/>
            </a:prstGeom>
            <a:solidFill>
              <a:srgbClr val="DCE8DC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857500" y="4476750"/>
              <a:ext cx="1428750" cy="1238250"/>
            </a:xfrm>
            <a:prstGeom prst="rect">
              <a:avLst/>
            </a:prstGeom>
            <a:solidFill>
              <a:srgbClr val="E4EED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286250" y="4476750"/>
              <a:ext cx="1428750" cy="1238250"/>
            </a:xfrm>
            <a:prstGeom prst="rect">
              <a:avLst/>
            </a:pr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51274" y="5974556"/>
              <a:ext cx="10412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SEVERITY 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82259" y="1772602"/>
              <a:ext cx="5217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Bassa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15510" y="1772602"/>
              <a:ext cx="5127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Media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11768" y="1772602"/>
              <a:ext cx="3777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Alta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9393" y="2553652"/>
              <a:ext cx="3777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Alta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1885" y="3791902"/>
              <a:ext cx="5127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Media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7384" y="5030152"/>
              <a:ext cx="5217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Bassa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 rot="-5400000">
              <a:off x="152400" y="3736181"/>
              <a:ext cx="914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LIKELIHOOD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4400550" y="2171700"/>
              <a:ext cx="1200150" cy="304800"/>
            </a:xfrm>
            <a:custGeom>
              <a:avLst/>
              <a:gdLst/>
              <a:ahLst/>
              <a:cxnLst/>
              <a:rect l="l" t="t" r="r" b="b"/>
              <a:pathLst>
                <a:path w="1200150" h="304800">
                  <a:moveTo>
                    <a:pt x="57150" y="0"/>
                  </a:moveTo>
                  <a:lnTo>
                    <a:pt x="1143000" y="0"/>
                  </a:lnTo>
                  <a:cubicBezTo>
                    <a:pt x="1174563" y="0"/>
                    <a:pt x="1200150" y="25587"/>
                    <a:pt x="1200150" y="57150"/>
                  </a:cubicBezTo>
                  <a:lnTo>
                    <a:pt x="1200150" y="247650"/>
                  </a:lnTo>
                  <a:cubicBezTo>
                    <a:pt x="1200150" y="279213"/>
                    <a:pt x="1174563" y="304800"/>
                    <a:pt x="1143000" y="304800"/>
                  </a:cubicBezTo>
                  <a:lnTo>
                    <a:pt x="57150" y="304800"/>
                  </a:lnTo>
                  <a:cubicBezTo>
                    <a:pt x="25587" y="304800"/>
                    <a:pt x="0" y="279213"/>
                    <a:pt x="0" y="2476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31346" y="2267902"/>
              <a:ext cx="3385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SC1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400550" y="2552700"/>
              <a:ext cx="1200150" cy="304800"/>
            </a:xfrm>
            <a:custGeom>
              <a:avLst/>
              <a:gdLst/>
              <a:ahLst/>
              <a:cxnLst/>
              <a:rect l="l" t="t" r="r" b="b"/>
              <a:pathLst>
                <a:path w="1200150" h="304800">
                  <a:moveTo>
                    <a:pt x="57150" y="0"/>
                  </a:moveTo>
                  <a:lnTo>
                    <a:pt x="1143000" y="0"/>
                  </a:lnTo>
                  <a:cubicBezTo>
                    <a:pt x="1174563" y="0"/>
                    <a:pt x="1200150" y="25587"/>
                    <a:pt x="1200150" y="57150"/>
                  </a:cubicBezTo>
                  <a:lnTo>
                    <a:pt x="1200150" y="247650"/>
                  </a:lnTo>
                  <a:cubicBezTo>
                    <a:pt x="1200150" y="279213"/>
                    <a:pt x="1174563" y="304800"/>
                    <a:pt x="1143000" y="304800"/>
                  </a:cubicBezTo>
                  <a:lnTo>
                    <a:pt x="57150" y="304800"/>
                  </a:lnTo>
                  <a:cubicBezTo>
                    <a:pt x="25587" y="304800"/>
                    <a:pt x="0" y="279213"/>
                    <a:pt x="0" y="2476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31346" y="2648902"/>
              <a:ext cx="3385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SC6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2971800" y="3352800"/>
              <a:ext cx="1200150" cy="285750"/>
            </a:xfrm>
            <a:custGeom>
              <a:avLst/>
              <a:gdLst/>
              <a:ahLst/>
              <a:cxnLst/>
              <a:rect l="l" t="t" r="r" b="b"/>
              <a:pathLst>
                <a:path w="1200150" h="285750">
                  <a:moveTo>
                    <a:pt x="57150" y="0"/>
                  </a:moveTo>
                  <a:lnTo>
                    <a:pt x="1143000" y="0"/>
                  </a:lnTo>
                  <a:cubicBezTo>
                    <a:pt x="1174563" y="0"/>
                    <a:pt x="1200150" y="25587"/>
                    <a:pt x="1200150" y="57150"/>
                  </a:cubicBezTo>
                  <a:lnTo>
                    <a:pt x="1200150" y="228600"/>
                  </a:lnTo>
                  <a:cubicBezTo>
                    <a:pt x="1200150" y="260163"/>
                    <a:pt x="1174563" y="285750"/>
                    <a:pt x="11430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B8771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02596" y="3439478"/>
              <a:ext cx="3385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SC3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2971800" y="3695700"/>
              <a:ext cx="1200150" cy="285750"/>
            </a:xfrm>
            <a:custGeom>
              <a:avLst/>
              <a:gdLst/>
              <a:ahLst/>
              <a:cxnLst/>
              <a:rect l="l" t="t" r="r" b="b"/>
              <a:pathLst>
                <a:path w="1200150" h="285750">
                  <a:moveTo>
                    <a:pt x="57150" y="0"/>
                  </a:moveTo>
                  <a:lnTo>
                    <a:pt x="1143000" y="0"/>
                  </a:lnTo>
                  <a:cubicBezTo>
                    <a:pt x="1174563" y="0"/>
                    <a:pt x="1200150" y="25587"/>
                    <a:pt x="1200150" y="57150"/>
                  </a:cubicBezTo>
                  <a:lnTo>
                    <a:pt x="1200150" y="228600"/>
                  </a:lnTo>
                  <a:cubicBezTo>
                    <a:pt x="1200150" y="260163"/>
                    <a:pt x="1174563" y="285750"/>
                    <a:pt x="11430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B8771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402596" y="3782378"/>
              <a:ext cx="3385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SC7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2971800" y="4038600"/>
              <a:ext cx="1200150" cy="285750"/>
            </a:xfrm>
            <a:custGeom>
              <a:avLst/>
              <a:gdLst/>
              <a:ahLst/>
              <a:cxnLst/>
              <a:rect l="l" t="t" r="r" b="b"/>
              <a:pathLst>
                <a:path w="1200150" h="285750">
                  <a:moveTo>
                    <a:pt x="57150" y="0"/>
                  </a:moveTo>
                  <a:lnTo>
                    <a:pt x="1143000" y="0"/>
                  </a:lnTo>
                  <a:cubicBezTo>
                    <a:pt x="1174563" y="0"/>
                    <a:pt x="1200150" y="25587"/>
                    <a:pt x="1200150" y="57150"/>
                  </a:cubicBezTo>
                  <a:lnTo>
                    <a:pt x="1200150" y="228600"/>
                  </a:lnTo>
                  <a:cubicBezTo>
                    <a:pt x="1200150" y="260163"/>
                    <a:pt x="1174563" y="285750"/>
                    <a:pt x="11430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B8771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02596" y="4125278"/>
              <a:ext cx="3385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SC9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1543050" y="4629150"/>
              <a:ext cx="1200150" cy="266700"/>
            </a:xfrm>
            <a:custGeom>
              <a:avLst/>
              <a:gdLst/>
              <a:ahLst/>
              <a:cxnLst/>
              <a:rect l="l" t="t" r="r" b="b"/>
              <a:pathLst>
                <a:path w="1200150" h="266700">
                  <a:moveTo>
                    <a:pt x="57150" y="0"/>
                  </a:moveTo>
                  <a:lnTo>
                    <a:pt x="1143000" y="0"/>
                  </a:lnTo>
                  <a:cubicBezTo>
                    <a:pt x="1174563" y="0"/>
                    <a:pt x="1200150" y="25587"/>
                    <a:pt x="1200150" y="57150"/>
                  </a:cubicBezTo>
                  <a:lnTo>
                    <a:pt x="1200150" y="209550"/>
                  </a:lnTo>
                  <a:cubicBezTo>
                    <a:pt x="1200150" y="241113"/>
                    <a:pt x="1174563" y="266700"/>
                    <a:pt x="114300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E7D46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713938" y="4696778"/>
              <a:ext cx="8583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SC2·SC10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1543050" y="3352800"/>
              <a:ext cx="1200150" cy="266700"/>
            </a:xfrm>
            <a:custGeom>
              <a:avLst/>
              <a:gdLst/>
              <a:ahLst/>
              <a:cxnLst/>
              <a:rect l="l" t="t" r="r" b="b"/>
              <a:pathLst>
                <a:path w="1200150" h="266700">
                  <a:moveTo>
                    <a:pt x="57150" y="0"/>
                  </a:moveTo>
                  <a:lnTo>
                    <a:pt x="1143000" y="0"/>
                  </a:lnTo>
                  <a:cubicBezTo>
                    <a:pt x="1174563" y="0"/>
                    <a:pt x="1200150" y="25587"/>
                    <a:pt x="1200150" y="57150"/>
                  </a:cubicBezTo>
                  <a:lnTo>
                    <a:pt x="1200150" y="209550"/>
                  </a:lnTo>
                  <a:cubicBezTo>
                    <a:pt x="1200150" y="241113"/>
                    <a:pt x="1174563" y="266700"/>
                    <a:pt x="114300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E7D46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765920" y="3420428"/>
              <a:ext cx="7544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SC4·SC8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11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23642094-7C4B-7AAA-4D41-3F8A2FD43A6F}"/>
              </a:ext>
            </a:extLst>
          </p:cNvPr>
          <p:cNvSpPr/>
          <p:nvPr/>
        </p:nvSpPr>
        <p:spPr>
          <a:xfrm>
            <a:off x="725806" y="1008531"/>
            <a:ext cx="7356310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28929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STRATEGIA DI MITIGAZIONE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10333672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Le sette precauzioni per sistemi agentici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762000" y="1809750"/>
            <a:ext cx="10897648" cy="4048125"/>
            <a:chOff x="762000" y="1809750"/>
            <a:chExt cx="10897648" cy="4048125"/>
          </a:xfrm>
        </p:grpSpPr>
        <p:sp>
          <p:nvSpPr>
            <p:cNvPr id="5" name="Freeform 5"/>
            <p:cNvSpPr/>
            <p:nvPr/>
          </p:nvSpPr>
          <p:spPr>
            <a:xfrm>
              <a:off x="762000" y="1809750"/>
              <a:ext cx="2571750" cy="1905000"/>
            </a:xfrm>
            <a:custGeom>
              <a:avLst/>
              <a:gdLst/>
              <a:ahLst/>
              <a:cxnLst/>
              <a:rect l="l" t="t" r="r" b="b"/>
              <a:pathLst>
                <a:path w="2571750" h="190500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1790700"/>
                  </a:lnTo>
                  <a:cubicBezTo>
                    <a:pt x="2571750" y="1853826"/>
                    <a:pt x="2520576" y="1905000"/>
                    <a:pt x="24574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85838" y="2050256"/>
              <a:ext cx="17702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P1 · Least Agency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86790" y="2382202"/>
              <a:ext cx="22769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Privilegio minimo su azioni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6790" y="2591752"/>
              <a:ext cx="1934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e memorie; autonomia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6790" y="2801302"/>
              <a:ext cx="21689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circoscritta al compito.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3476625" y="1809750"/>
              <a:ext cx="2571750" cy="1905000"/>
            </a:xfrm>
            <a:custGeom>
              <a:avLst/>
              <a:gdLst/>
              <a:ahLst/>
              <a:cxnLst/>
              <a:rect l="l" t="t" r="r" b="b"/>
              <a:pathLst>
                <a:path w="2571750" h="190500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1790700"/>
                  </a:lnTo>
                  <a:cubicBezTo>
                    <a:pt x="2571750" y="1853826"/>
                    <a:pt x="2520576" y="1905000"/>
                    <a:pt x="24574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0462" y="2050256"/>
              <a:ext cx="20133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P2 · Guardrail + HITL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1415" y="2382202"/>
              <a:ext cx="2321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Validazione deterministica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01415" y="2591752"/>
              <a:ext cx="27630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di I/O, schema strict, fallback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01415" y="2801302"/>
              <a:ext cx="25559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sicuro, approvazione umana.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6191250" y="1809750"/>
              <a:ext cx="2571750" cy="1905000"/>
            </a:xfrm>
            <a:custGeom>
              <a:avLst/>
              <a:gdLst/>
              <a:ahLst/>
              <a:cxnLst/>
              <a:rect l="l" t="t" r="r" b="b"/>
              <a:pathLst>
                <a:path w="2571750" h="190500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1790700"/>
                  </a:lnTo>
                  <a:cubicBezTo>
                    <a:pt x="2571750" y="1853826"/>
                    <a:pt x="2520576" y="1905000"/>
                    <a:pt x="24574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5088" y="2050256"/>
              <a:ext cx="15475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P3 · Sandboxing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6040" y="2382202"/>
              <a:ext cx="2141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Container isolati, policy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6040" y="2591752"/>
              <a:ext cx="23399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deny-by-default, memorie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6040" y="2801302"/>
              <a:ext cx="21689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segregate per sessione.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905875" y="1809750"/>
              <a:ext cx="2571750" cy="1905000"/>
            </a:xfrm>
            <a:custGeom>
              <a:avLst/>
              <a:gdLst/>
              <a:ahLst/>
              <a:cxnLst/>
              <a:rect l="l" t="t" r="r" b="b"/>
              <a:pathLst>
                <a:path w="2571750" h="190500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1790700"/>
                  </a:lnTo>
                  <a:cubicBezTo>
                    <a:pt x="2571750" y="1853826"/>
                    <a:pt x="2520576" y="1905000"/>
                    <a:pt x="24574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29712" y="2050256"/>
              <a:ext cx="15070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P4 · Audit Trail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30665" y="2382202"/>
              <a:ext cx="22319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Tracciabilità forense con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30665" y="2591752"/>
              <a:ext cx="22049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registrazione immutabile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30665" y="2801302"/>
              <a:ext cx="2024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dei metadati rilevanti.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762000" y="3952875"/>
              <a:ext cx="2571750" cy="1905000"/>
            </a:xfrm>
            <a:custGeom>
              <a:avLst/>
              <a:gdLst/>
              <a:ahLst/>
              <a:cxnLst/>
              <a:rect l="l" t="t" r="r" b="b"/>
              <a:pathLst>
                <a:path w="2571750" h="190500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1790700"/>
                  </a:lnTo>
                  <a:cubicBezTo>
                    <a:pt x="2571750" y="1853826"/>
                    <a:pt x="2520576" y="1905000"/>
                    <a:pt x="24574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5838" y="4193381"/>
              <a:ext cx="16690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P5 · Supply Chain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6790" y="4525328"/>
              <a:ext cx="2330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Registri approvati, hash 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6790" y="4734878"/>
              <a:ext cx="25649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firme su modelli e container;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6790" y="4944428"/>
              <a:ext cx="1727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scansioni continue.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3476625" y="3952875"/>
              <a:ext cx="2571750" cy="1905000"/>
            </a:xfrm>
            <a:custGeom>
              <a:avLst/>
              <a:gdLst/>
              <a:ahLst/>
              <a:cxnLst/>
              <a:rect l="l" t="t" r="r" b="b"/>
              <a:pathLst>
                <a:path w="2571750" h="190500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1790700"/>
                  </a:lnTo>
                  <a:cubicBezTo>
                    <a:pt x="2571750" y="1853826"/>
                    <a:pt x="2520576" y="1905000"/>
                    <a:pt x="24574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00462" y="4193381"/>
              <a:ext cx="17601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P6 · Monitoraggio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01415" y="4525328"/>
              <a:ext cx="2051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Osservabilità runtime,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01415" y="4734878"/>
              <a:ext cx="19529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rilevamento anomalie,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01415" y="4944428"/>
              <a:ext cx="2330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circuit breaker fail-safe.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191250" y="3952875"/>
              <a:ext cx="2571750" cy="1905000"/>
            </a:xfrm>
            <a:custGeom>
              <a:avLst/>
              <a:gdLst/>
              <a:ahLst/>
              <a:cxnLst/>
              <a:rect l="l" t="t" r="r" b="b"/>
              <a:pathLst>
                <a:path w="2571750" h="190500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1790700"/>
                  </a:lnTo>
                  <a:cubicBezTo>
                    <a:pt x="2571750" y="1853826"/>
                    <a:pt x="2520576" y="1905000"/>
                    <a:pt x="24574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15088" y="4193381"/>
              <a:ext cx="15576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P7 · Audit AIVSS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16040" y="4525328"/>
              <a:ext cx="2186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Valutazione periodica del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16040" y="4734878"/>
              <a:ext cx="23489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profilo di rischio con AIVSS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16040" y="4944428"/>
              <a:ext cx="1412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come checklist.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8905875" y="3952875"/>
              <a:ext cx="2571750" cy="1905000"/>
            </a:xfrm>
            <a:custGeom>
              <a:avLst/>
              <a:gdLst/>
              <a:ahLst/>
              <a:cxnLst/>
              <a:rect l="l" t="t" r="r" b="b"/>
              <a:pathLst>
                <a:path w="2571750" h="190500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1790700"/>
                  </a:lnTo>
                  <a:cubicBezTo>
                    <a:pt x="2571750" y="1853826"/>
                    <a:pt x="2520576" y="1905000"/>
                    <a:pt x="24574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B8771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29712" y="4260056"/>
              <a:ext cx="1446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Principio guida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30665" y="4592002"/>
              <a:ext cx="2528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Nessun output probabilistico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30665" y="4801552"/>
              <a:ext cx="2321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produce effetti su stato,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30665" y="5011102"/>
              <a:ext cx="23939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privilegi o risorse senza un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30665" y="5220652"/>
              <a:ext cx="2267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controllo deterministico.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12</a:t>
            </a:r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CFCA3C38-0259-E299-526B-3CBCA69E83FC}"/>
              </a:ext>
            </a:extLst>
          </p:cNvPr>
          <p:cNvSpPr/>
          <p:nvPr/>
        </p:nvSpPr>
        <p:spPr>
          <a:xfrm>
            <a:off x="725806" y="1008530"/>
            <a:ext cx="6786039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592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C4362E"/>
                </a:solidFill>
                <a:latin typeface="Segoe UI"/>
                <a:ea typeface="Microsoft YaHei"/>
                <a:cs typeface="Segoe UI"/>
              </a:rPr>
              <a:t>SCENARIO CRITICO · SC1 · ASI01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89660"/>
            <a:ext cx="660609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Goal Hijack &amp; Chunk Splitting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7712" y="1640681"/>
            <a:ext cx="17452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Proprietà violate: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809750" y="1600200"/>
            <a:ext cx="3498871" cy="264319"/>
            <a:chOff x="1809750" y="1600200"/>
            <a:chExt cx="3498871" cy="264319"/>
          </a:xfrm>
        </p:grpSpPr>
        <p:sp>
          <p:nvSpPr>
            <p:cNvPr id="6" name="Freeform 6"/>
            <p:cNvSpPr/>
            <p:nvPr/>
          </p:nvSpPr>
          <p:spPr>
            <a:xfrm>
              <a:off x="1809750" y="1600200"/>
              <a:ext cx="857250" cy="247650"/>
            </a:xfrm>
            <a:custGeom>
              <a:avLst/>
              <a:gdLst/>
              <a:ahLst/>
              <a:cxnLst/>
              <a:rect l="l" t="t" r="r" b="b"/>
              <a:pathLst>
                <a:path w="857250" h="247650">
                  <a:moveTo>
                    <a:pt x="123825" y="0"/>
                  </a:moveTo>
                  <a:lnTo>
                    <a:pt x="733425" y="0"/>
                  </a:lnTo>
                  <a:cubicBezTo>
                    <a:pt x="801812" y="0"/>
                    <a:pt x="857250" y="55438"/>
                    <a:pt x="857250" y="123825"/>
                  </a:cubicBezTo>
                  <a:lnTo>
                    <a:pt x="857250" y="123825"/>
                  </a:lnTo>
                  <a:cubicBezTo>
                    <a:pt x="857250" y="192212"/>
                    <a:pt x="801812" y="247650"/>
                    <a:pt x="7334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35456" y="1666399"/>
              <a:ext cx="8058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Integrity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2762250" y="1600200"/>
              <a:ext cx="1238250" cy="247650"/>
            </a:xfrm>
            <a:custGeom>
              <a:avLst/>
              <a:gdLst/>
              <a:ahLst/>
              <a:cxnLst/>
              <a:rect l="l" t="t" r="r" b="b"/>
              <a:pathLst>
                <a:path w="1238250" h="247650">
                  <a:moveTo>
                    <a:pt x="123825" y="0"/>
                  </a:moveTo>
                  <a:lnTo>
                    <a:pt x="1114425" y="0"/>
                  </a:lnTo>
                  <a:cubicBezTo>
                    <a:pt x="1182812" y="0"/>
                    <a:pt x="1238250" y="55438"/>
                    <a:pt x="1238250" y="123825"/>
                  </a:cubicBezTo>
                  <a:lnTo>
                    <a:pt x="1238250" y="123825"/>
                  </a:lnTo>
                  <a:cubicBezTo>
                    <a:pt x="1238250" y="192212"/>
                    <a:pt x="1182812" y="247650"/>
                    <a:pt x="11144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37114" y="1666399"/>
              <a:ext cx="12885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Authentication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95750" y="1600200"/>
              <a:ext cx="1190625" cy="247650"/>
            </a:xfrm>
            <a:custGeom>
              <a:avLst/>
              <a:gdLst/>
              <a:ahLst/>
              <a:cxnLst/>
              <a:rect l="l" t="t" r="r" b="b"/>
              <a:pathLst>
                <a:path w="1190625" h="247650">
                  <a:moveTo>
                    <a:pt x="123825" y="0"/>
                  </a:moveTo>
                  <a:lnTo>
                    <a:pt x="1066800" y="0"/>
                  </a:lnTo>
                  <a:cubicBezTo>
                    <a:pt x="1135187" y="0"/>
                    <a:pt x="1190625" y="55438"/>
                    <a:pt x="1190625" y="123825"/>
                  </a:cubicBezTo>
                  <a:lnTo>
                    <a:pt x="1190625" y="123825"/>
                  </a:lnTo>
                  <a:cubicBezTo>
                    <a:pt x="1190625" y="192212"/>
                    <a:pt x="1135187" y="247650"/>
                    <a:pt x="1066800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63979" y="1666399"/>
              <a:ext cx="12446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Accountability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762000" y="2095500"/>
            <a:ext cx="5143500" cy="3905250"/>
          </a:xfrm>
          <a:custGeom>
            <a:avLst/>
            <a:gdLst/>
            <a:ahLst/>
            <a:cxnLst/>
            <a:rect l="l" t="t" r="r" b="b"/>
            <a:pathLst>
              <a:path w="5143500" h="3905250">
                <a:moveTo>
                  <a:pt x="133350" y="0"/>
                </a:moveTo>
                <a:lnTo>
                  <a:pt x="5010150" y="0"/>
                </a:lnTo>
                <a:cubicBezTo>
                  <a:pt x="5083797" y="0"/>
                  <a:pt x="5143500" y="59703"/>
                  <a:pt x="5143500" y="133350"/>
                </a:cubicBezTo>
                <a:lnTo>
                  <a:pt x="5143500" y="3771900"/>
                </a:lnTo>
                <a:cubicBezTo>
                  <a:pt x="5143500" y="3845547"/>
                  <a:pt x="5083797" y="3905250"/>
                  <a:pt x="501015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Box 14"/>
          <p:cNvSpPr txBox="1"/>
          <p:nvPr/>
        </p:nvSpPr>
        <p:spPr>
          <a:xfrm>
            <a:off x="1031558" y="2357914"/>
            <a:ext cx="254572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C4362E"/>
                </a:solidFill>
                <a:latin typeface="Segoe UI"/>
                <a:ea typeface="Microsoft YaHei"/>
                <a:cs typeface="Segoe UI"/>
              </a:rPr>
              <a:t>Meccanismo di attacco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33462" y="2717006"/>
            <a:ext cx="4387691" cy="2762250"/>
            <a:chOff x="1033462" y="2717006"/>
            <a:chExt cx="4387691" cy="2762250"/>
          </a:xfrm>
        </p:grpSpPr>
        <p:sp>
          <p:nvSpPr>
            <p:cNvPr id="15" name="TextBox 15"/>
            <p:cNvSpPr txBox="1"/>
            <p:nvPr/>
          </p:nvSpPr>
          <p:spPr>
            <a:xfrm>
              <a:off x="1033462" y="2717006"/>
              <a:ext cx="39440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L'avversario usa chunk splitting su token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3462" y="2964656"/>
              <a:ext cx="34136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parziali o prompt injection sul testo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3212306"/>
              <a:ext cx="15137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completo / RAG.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3462" y="3612356"/>
              <a:ext cx="40983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Il Fast-Brain (&lt;800 ms) esegue l'istruzione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3462" y="3860006"/>
              <a:ext cx="40308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deviando filler e trigger comportamentali.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3462" y="4260056"/>
              <a:ext cx="39440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Il Deep-Brain genera risposte dannose che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4507706"/>
              <a:ext cx="35197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vengono propagate alla sintesi video.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5022056"/>
              <a:ext cx="4223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Vettori: input utente, trascrizioni parziali,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3462" y="5250656"/>
              <a:ext cx="43876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contenuti recuperati dal RAG (D1–D6, M1–M3).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6191250" y="2095500"/>
            <a:ext cx="5238750" cy="3905250"/>
          </a:xfrm>
          <a:custGeom>
            <a:avLst/>
            <a:gdLst/>
            <a:ahLst/>
            <a:cxnLst/>
            <a:rect l="l" t="t" r="r" b="b"/>
            <a:pathLst>
              <a:path w="5238750" h="3905250">
                <a:moveTo>
                  <a:pt x="133350" y="0"/>
                </a:moveTo>
                <a:lnTo>
                  <a:pt x="5105400" y="0"/>
                </a:lnTo>
                <a:cubicBezTo>
                  <a:pt x="5179047" y="0"/>
                  <a:pt x="5238750" y="59703"/>
                  <a:pt x="5238750" y="133350"/>
                </a:cubicBezTo>
                <a:lnTo>
                  <a:pt x="5238750" y="3771900"/>
                </a:lnTo>
                <a:cubicBezTo>
                  <a:pt x="5238750" y="3845547"/>
                  <a:pt x="5179047" y="3905250"/>
                  <a:pt x="510540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2E7D4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Box 26"/>
          <p:cNvSpPr txBox="1"/>
          <p:nvPr/>
        </p:nvSpPr>
        <p:spPr>
          <a:xfrm>
            <a:off x="6460808" y="2357914"/>
            <a:ext cx="15357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2E7D46"/>
                </a:solidFill>
                <a:latin typeface="Segoe UI"/>
                <a:ea typeface="Microsoft YaHei"/>
                <a:cs typeface="Segoe UI"/>
              </a:rPr>
              <a:t>Contromisure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6462712" y="2717006"/>
            <a:ext cx="4967299" cy="2419350"/>
            <a:chOff x="6462712" y="2717006"/>
            <a:chExt cx="4967299" cy="2419350"/>
          </a:xfrm>
        </p:grpSpPr>
        <p:sp>
          <p:nvSpPr>
            <p:cNvPr id="27" name="TextBox 27"/>
            <p:cNvSpPr txBox="1"/>
            <p:nvPr/>
          </p:nvSpPr>
          <p:spPr>
            <a:xfrm>
              <a:off x="6462712" y="2717006"/>
              <a:ext cx="49672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P1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Fast-Brain isolato da memoria e tool downstream;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2712" y="2964656"/>
              <a:ext cx="42816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trigger gestuali vincolati ad allowlist chiusa.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2712" y="3364706"/>
              <a:ext cx="38003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P2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M11 valida schema e semantica di I/O;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2712" y="3612356"/>
              <a:ext cx="38379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fallback statico su violazione o timeout.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2712" y="4012406"/>
              <a:ext cx="40318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P3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Workload separati per Fast/Deep-Brain;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2712" y="4260056"/>
              <a:ext cx="4397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Knowledge Base rigorosamente in sola lettura.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2712" y="4660106"/>
              <a:ext cx="42020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P4+P6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Tracciamento immutabile degli eventi 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2712" y="4907756"/>
              <a:ext cx="41948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circuit breaker runtime su anomalie o drift.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13</a:t>
            </a: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8ABE81BA-3480-B1CA-A16A-9E5FC98998AD}"/>
              </a:ext>
            </a:extLst>
          </p:cNvPr>
          <p:cNvSpPr/>
          <p:nvPr/>
        </p:nvSpPr>
        <p:spPr>
          <a:xfrm>
            <a:off x="725806" y="1008531"/>
            <a:ext cx="4809755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592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C4362E"/>
                </a:solidFill>
                <a:latin typeface="Segoe UI"/>
                <a:ea typeface="Microsoft YaHei"/>
                <a:cs typeface="Segoe UI"/>
              </a:rPr>
              <a:t>SCENARIO CRITICO · SC6 · ASI06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89660"/>
            <a:ext cx="660609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Memory &amp; Context Poisoning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7712" y="1640681"/>
            <a:ext cx="17452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Proprietà violate: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809750" y="1600200"/>
            <a:ext cx="4759705" cy="264319"/>
            <a:chOff x="1809750" y="1600200"/>
            <a:chExt cx="4759705" cy="264319"/>
          </a:xfrm>
        </p:grpSpPr>
        <p:sp>
          <p:nvSpPr>
            <p:cNvPr id="6" name="Freeform 6"/>
            <p:cNvSpPr/>
            <p:nvPr/>
          </p:nvSpPr>
          <p:spPr>
            <a:xfrm>
              <a:off x="1809750" y="1600200"/>
              <a:ext cx="857250" cy="247650"/>
            </a:xfrm>
            <a:custGeom>
              <a:avLst/>
              <a:gdLst/>
              <a:ahLst/>
              <a:cxnLst/>
              <a:rect l="l" t="t" r="r" b="b"/>
              <a:pathLst>
                <a:path w="857250" h="247650">
                  <a:moveTo>
                    <a:pt x="123825" y="0"/>
                  </a:moveTo>
                  <a:lnTo>
                    <a:pt x="733425" y="0"/>
                  </a:lnTo>
                  <a:cubicBezTo>
                    <a:pt x="801812" y="0"/>
                    <a:pt x="857250" y="55438"/>
                    <a:pt x="857250" y="123825"/>
                  </a:cubicBezTo>
                  <a:lnTo>
                    <a:pt x="857250" y="123825"/>
                  </a:lnTo>
                  <a:cubicBezTo>
                    <a:pt x="857250" y="192212"/>
                    <a:pt x="801812" y="247650"/>
                    <a:pt x="7334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35456" y="1666399"/>
              <a:ext cx="8058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Integrity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2762250" y="1600200"/>
              <a:ext cx="1143000" cy="247650"/>
            </a:xfrm>
            <a:custGeom>
              <a:avLst/>
              <a:gdLst/>
              <a:ahLst/>
              <a:cxnLst/>
              <a:rect l="l" t="t" r="r" b="b"/>
              <a:pathLst>
                <a:path w="1143000" h="247650">
                  <a:moveTo>
                    <a:pt x="123825" y="0"/>
                  </a:moveTo>
                  <a:lnTo>
                    <a:pt x="1019175" y="0"/>
                  </a:lnTo>
                  <a:cubicBezTo>
                    <a:pt x="1087562" y="0"/>
                    <a:pt x="1143000" y="55438"/>
                    <a:pt x="1143000" y="123825"/>
                  </a:cubicBezTo>
                  <a:lnTo>
                    <a:pt x="1143000" y="123825"/>
                  </a:lnTo>
                  <a:cubicBezTo>
                    <a:pt x="1143000" y="192212"/>
                    <a:pt x="1087562" y="247650"/>
                    <a:pt x="10191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85100" y="1666399"/>
              <a:ext cx="12972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Confidentiality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00500" y="1600200"/>
              <a:ext cx="1190625" cy="247650"/>
            </a:xfrm>
            <a:custGeom>
              <a:avLst/>
              <a:gdLst/>
              <a:ahLst/>
              <a:cxnLst/>
              <a:rect l="l" t="t" r="r" b="b"/>
              <a:pathLst>
                <a:path w="1190625" h="247650">
                  <a:moveTo>
                    <a:pt x="123825" y="0"/>
                  </a:moveTo>
                  <a:lnTo>
                    <a:pt x="1066800" y="0"/>
                  </a:lnTo>
                  <a:cubicBezTo>
                    <a:pt x="1135187" y="0"/>
                    <a:pt x="1190625" y="55438"/>
                    <a:pt x="1190625" y="123825"/>
                  </a:cubicBezTo>
                  <a:lnTo>
                    <a:pt x="1190625" y="123825"/>
                  </a:lnTo>
                  <a:cubicBezTo>
                    <a:pt x="1190625" y="192212"/>
                    <a:pt x="1135187" y="247650"/>
                    <a:pt x="1066800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68729" y="1666399"/>
              <a:ext cx="12446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Accountability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286375" y="1600200"/>
              <a:ext cx="1190625" cy="247650"/>
            </a:xfrm>
            <a:custGeom>
              <a:avLst/>
              <a:gdLst/>
              <a:ahLst/>
              <a:cxnLst/>
              <a:rect l="l" t="t" r="r" b="b"/>
              <a:pathLst>
                <a:path w="1190625" h="247650">
                  <a:moveTo>
                    <a:pt x="123825" y="0"/>
                  </a:moveTo>
                  <a:lnTo>
                    <a:pt x="1066800" y="0"/>
                  </a:lnTo>
                  <a:cubicBezTo>
                    <a:pt x="1135187" y="0"/>
                    <a:pt x="1190625" y="55438"/>
                    <a:pt x="1190625" y="123825"/>
                  </a:cubicBezTo>
                  <a:lnTo>
                    <a:pt x="1190625" y="123825"/>
                  </a:lnTo>
                  <a:cubicBezTo>
                    <a:pt x="1190625" y="192212"/>
                    <a:pt x="1135187" y="247650"/>
                    <a:pt x="1066800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84395" y="1666399"/>
              <a:ext cx="13850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Non-repudiation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762000" y="2095500"/>
            <a:ext cx="5143500" cy="3905250"/>
          </a:xfrm>
          <a:custGeom>
            <a:avLst/>
            <a:gdLst/>
            <a:ahLst/>
            <a:cxnLst/>
            <a:rect l="l" t="t" r="r" b="b"/>
            <a:pathLst>
              <a:path w="5143500" h="3905250">
                <a:moveTo>
                  <a:pt x="133350" y="0"/>
                </a:moveTo>
                <a:lnTo>
                  <a:pt x="5010150" y="0"/>
                </a:lnTo>
                <a:cubicBezTo>
                  <a:pt x="5083797" y="0"/>
                  <a:pt x="5143500" y="59703"/>
                  <a:pt x="5143500" y="133350"/>
                </a:cubicBezTo>
                <a:lnTo>
                  <a:pt x="5143500" y="3771900"/>
                </a:lnTo>
                <a:cubicBezTo>
                  <a:pt x="5143500" y="3845547"/>
                  <a:pt x="5083797" y="3905250"/>
                  <a:pt x="501015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1031558" y="2357914"/>
            <a:ext cx="254572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C4362E"/>
                </a:solidFill>
                <a:latin typeface="Segoe UI"/>
                <a:ea typeface="Microsoft YaHei"/>
                <a:cs typeface="Segoe UI"/>
              </a:rPr>
              <a:t>Meccanismo di attacco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33462" y="2717006"/>
            <a:ext cx="4378047" cy="2762250"/>
            <a:chOff x="1033462" y="2717006"/>
            <a:chExt cx="4378047" cy="2762250"/>
          </a:xfrm>
        </p:grpSpPr>
        <p:sp>
          <p:nvSpPr>
            <p:cNvPr id="17" name="TextBox 17"/>
            <p:cNvSpPr txBox="1"/>
            <p:nvPr/>
          </p:nvSpPr>
          <p:spPr>
            <a:xfrm>
              <a:off x="1033462" y="2717006"/>
              <a:ext cx="43780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L'avversario inietta chunk malevoli nell'indice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3462" y="2964656"/>
              <a:ext cx="3722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FAISS o altera i feedback (D12) tramite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3462" y="3212306"/>
              <a:ext cx="16294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account multipli.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3462" y="3612356"/>
              <a:ext cx="37126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Il contenuto avvelenato viene promosso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860006"/>
              <a:ext cx="42816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stabilmente in memoria (D4) e recuperato dal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4107656"/>
              <a:ext cx="30375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Deep-Brain nei turni successivi.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3462" y="4507706"/>
              <a:ext cx="40405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Risultato: risposte non sicure con impatto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3462" y="4755356"/>
              <a:ext cx="29121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persistente e cross-sessione.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5250656"/>
              <a:ext cx="37415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Asset coinvolti: D4, D12, M2, M4, M11.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6191250" y="2095500"/>
            <a:ext cx="5238750" cy="3905250"/>
          </a:xfrm>
          <a:custGeom>
            <a:avLst/>
            <a:gdLst/>
            <a:ahLst/>
            <a:cxnLst/>
            <a:rect l="l" t="t" r="r" b="b"/>
            <a:pathLst>
              <a:path w="5238750" h="3905250">
                <a:moveTo>
                  <a:pt x="133350" y="0"/>
                </a:moveTo>
                <a:lnTo>
                  <a:pt x="5105400" y="0"/>
                </a:lnTo>
                <a:cubicBezTo>
                  <a:pt x="5179047" y="0"/>
                  <a:pt x="5238750" y="59703"/>
                  <a:pt x="5238750" y="133350"/>
                </a:cubicBezTo>
                <a:lnTo>
                  <a:pt x="5238750" y="3771900"/>
                </a:lnTo>
                <a:cubicBezTo>
                  <a:pt x="5238750" y="3845547"/>
                  <a:pt x="5179047" y="3905250"/>
                  <a:pt x="510540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2E7D4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Box 28"/>
          <p:cNvSpPr txBox="1"/>
          <p:nvPr/>
        </p:nvSpPr>
        <p:spPr>
          <a:xfrm>
            <a:off x="6460808" y="2357914"/>
            <a:ext cx="15357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2E7D46"/>
                </a:solidFill>
                <a:latin typeface="Segoe UI"/>
                <a:ea typeface="Microsoft YaHei"/>
                <a:cs typeface="Segoe UI"/>
              </a:rPr>
              <a:t>Contromisure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462712" y="2717006"/>
            <a:ext cx="4850606" cy="2419350"/>
            <a:chOff x="6462712" y="2717006"/>
            <a:chExt cx="4850606" cy="2419350"/>
          </a:xfrm>
        </p:grpSpPr>
        <p:sp>
          <p:nvSpPr>
            <p:cNvPr id="29" name="TextBox 29"/>
            <p:cNvSpPr txBox="1"/>
            <p:nvPr/>
          </p:nvSpPr>
          <p:spPr>
            <a:xfrm>
              <a:off x="6462712" y="2717006"/>
              <a:ext cx="41475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P1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Deep-Brain (M2) e Retriever (M4) privi di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2712" y="2964656"/>
              <a:ext cx="45612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permessi di scrittura diretta su KB e few-shot.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2712" y="3364706"/>
              <a:ext cx="41571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P2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Rate-limiting sui feedback e approvazione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2712" y="3612356"/>
              <a:ext cx="42333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umana obbligatoria per temi ad alto impatto.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2712" y="4012406"/>
              <a:ext cx="39160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P3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Memoria segregata per sessione; FAISS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2712" y="4260056"/>
              <a:ext cx="27674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read-only durante il serving.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2712" y="4660106"/>
              <a:ext cx="46842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P4+P6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Audit log versionato di ogni delta (rollback)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2712" y="4907756"/>
              <a:ext cx="48506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e monitoraggio statistico delle anomalie di ranking.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14</a:t>
            </a: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57C37263-E417-B10C-9F54-11E06A9BE963}"/>
              </a:ext>
            </a:extLst>
          </p:cNvPr>
          <p:cNvSpPr/>
          <p:nvPr/>
        </p:nvSpPr>
        <p:spPr>
          <a:xfrm>
            <a:off x="725806" y="1008531"/>
            <a:ext cx="4809755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284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SCENARIO ALTO · SC3 · ASI03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89660"/>
            <a:ext cx="604712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Identity &amp; Privilege Abuse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7712" y="1640681"/>
            <a:ext cx="17452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Proprietà violate: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84614" y="1600200"/>
            <a:ext cx="5048007" cy="264319"/>
            <a:chOff x="1784614" y="1600200"/>
            <a:chExt cx="5048007" cy="264319"/>
          </a:xfrm>
        </p:grpSpPr>
        <p:sp>
          <p:nvSpPr>
            <p:cNvPr id="6" name="Freeform 6"/>
            <p:cNvSpPr/>
            <p:nvPr/>
          </p:nvSpPr>
          <p:spPr>
            <a:xfrm>
              <a:off x="1809750" y="1600200"/>
              <a:ext cx="1238250" cy="247650"/>
            </a:xfrm>
            <a:custGeom>
              <a:avLst/>
              <a:gdLst/>
              <a:ahLst/>
              <a:cxnLst/>
              <a:rect l="l" t="t" r="r" b="b"/>
              <a:pathLst>
                <a:path w="1238250" h="247650">
                  <a:moveTo>
                    <a:pt x="123825" y="0"/>
                  </a:moveTo>
                  <a:lnTo>
                    <a:pt x="1114425" y="0"/>
                  </a:lnTo>
                  <a:cubicBezTo>
                    <a:pt x="1182812" y="0"/>
                    <a:pt x="1238250" y="55438"/>
                    <a:pt x="1238250" y="123825"/>
                  </a:cubicBezTo>
                  <a:lnTo>
                    <a:pt x="1238250" y="123825"/>
                  </a:lnTo>
                  <a:cubicBezTo>
                    <a:pt x="1238250" y="192212"/>
                    <a:pt x="1182812" y="247650"/>
                    <a:pt x="11144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84614" y="1666399"/>
              <a:ext cx="12885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Authentication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3143250" y="1600200"/>
              <a:ext cx="1143000" cy="247650"/>
            </a:xfrm>
            <a:custGeom>
              <a:avLst/>
              <a:gdLst/>
              <a:ahLst/>
              <a:cxnLst/>
              <a:rect l="l" t="t" r="r" b="b"/>
              <a:pathLst>
                <a:path w="1143000" h="247650">
                  <a:moveTo>
                    <a:pt x="123825" y="0"/>
                  </a:moveTo>
                  <a:lnTo>
                    <a:pt x="1019175" y="0"/>
                  </a:lnTo>
                  <a:cubicBezTo>
                    <a:pt x="1087562" y="0"/>
                    <a:pt x="1143000" y="55438"/>
                    <a:pt x="1143000" y="123825"/>
                  </a:cubicBezTo>
                  <a:lnTo>
                    <a:pt x="1143000" y="123825"/>
                  </a:lnTo>
                  <a:cubicBezTo>
                    <a:pt x="1143000" y="192212"/>
                    <a:pt x="1087562" y="247650"/>
                    <a:pt x="10191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18757" y="1666399"/>
              <a:ext cx="1191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Authorization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381500" y="1600200"/>
              <a:ext cx="1143000" cy="247650"/>
            </a:xfrm>
            <a:custGeom>
              <a:avLst/>
              <a:gdLst/>
              <a:ahLst/>
              <a:cxnLst/>
              <a:rect l="l" t="t" r="r" b="b"/>
              <a:pathLst>
                <a:path w="1143000" h="247650">
                  <a:moveTo>
                    <a:pt x="123825" y="0"/>
                  </a:moveTo>
                  <a:lnTo>
                    <a:pt x="1019175" y="0"/>
                  </a:lnTo>
                  <a:cubicBezTo>
                    <a:pt x="1087562" y="0"/>
                    <a:pt x="1143000" y="55438"/>
                    <a:pt x="1143000" y="123825"/>
                  </a:cubicBezTo>
                  <a:lnTo>
                    <a:pt x="1143000" y="123825"/>
                  </a:lnTo>
                  <a:cubicBezTo>
                    <a:pt x="1143000" y="192212"/>
                    <a:pt x="1087562" y="247650"/>
                    <a:pt x="10191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04350" y="1666399"/>
              <a:ext cx="12972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Confidentiality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619750" y="1600200"/>
              <a:ext cx="1190625" cy="247650"/>
            </a:xfrm>
            <a:custGeom>
              <a:avLst/>
              <a:gdLst/>
              <a:ahLst/>
              <a:cxnLst/>
              <a:rect l="l" t="t" r="r" b="b"/>
              <a:pathLst>
                <a:path w="1190625" h="247650">
                  <a:moveTo>
                    <a:pt x="123825" y="0"/>
                  </a:moveTo>
                  <a:lnTo>
                    <a:pt x="1066800" y="0"/>
                  </a:lnTo>
                  <a:cubicBezTo>
                    <a:pt x="1135187" y="0"/>
                    <a:pt x="1190625" y="55438"/>
                    <a:pt x="1190625" y="123825"/>
                  </a:cubicBezTo>
                  <a:lnTo>
                    <a:pt x="1190625" y="123825"/>
                  </a:lnTo>
                  <a:cubicBezTo>
                    <a:pt x="1190625" y="192212"/>
                    <a:pt x="1135187" y="247650"/>
                    <a:pt x="1066800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87979" y="1666399"/>
              <a:ext cx="12446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Accountability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762000" y="2095500"/>
            <a:ext cx="5143500" cy="3905250"/>
          </a:xfrm>
          <a:custGeom>
            <a:avLst/>
            <a:gdLst/>
            <a:ahLst/>
            <a:cxnLst/>
            <a:rect l="l" t="t" r="r" b="b"/>
            <a:pathLst>
              <a:path w="5143500" h="3905250">
                <a:moveTo>
                  <a:pt x="133350" y="0"/>
                </a:moveTo>
                <a:lnTo>
                  <a:pt x="5010150" y="0"/>
                </a:lnTo>
                <a:cubicBezTo>
                  <a:pt x="5083797" y="0"/>
                  <a:pt x="5143500" y="59703"/>
                  <a:pt x="5143500" y="133350"/>
                </a:cubicBezTo>
                <a:lnTo>
                  <a:pt x="5143500" y="3771900"/>
                </a:lnTo>
                <a:cubicBezTo>
                  <a:pt x="5143500" y="3845547"/>
                  <a:pt x="5083797" y="3905250"/>
                  <a:pt x="501015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1031558" y="2357914"/>
            <a:ext cx="254572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Meccanismo di attacco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33462" y="2717006"/>
            <a:ext cx="4156234" cy="2762250"/>
            <a:chOff x="1033462" y="2717006"/>
            <a:chExt cx="4156234" cy="2762250"/>
          </a:xfrm>
        </p:grpSpPr>
        <p:sp>
          <p:nvSpPr>
            <p:cNvPr id="17" name="TextBox 17"/>
            <p:cNvSpPr txBox="1"/>
            <p:nvPr/>
          </p:nvSpPr>
          <p:spPr>
            <a:xfrm>
              <a:off x="1033462" y="2717006"/>
              <a:ext cx="38090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L'avversario usa un componente a basso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3462" y="2964656"/>
              <a:ext cx="40115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privilegio con token dallo scope eccessivo.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3462" y="3364706"/>
              <a:ext cx="41562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L'Orchestratore (M9), agendo da confused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3462" y="3612356"/>
              <a:ext cx="39826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deputy, esegue la chiamata senza validare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860006"/>
              <a:ext cx="2015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sessione o job (D10).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4260056"/>
              <a:ext cx="37994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Risultato: esfiltrazione di dati e output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3462" y="4507706"/>
              <a:ext cx="21792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video/audio illegittimi.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3462" y="5022056"/>
              <a:ext cx="32496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Asset coinvolti: D4, D8, D10, D13,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5250656"/>
              <a:ext cx="20441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M1, M2, M6, M7, M9.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6191250" y="2095500"/>
            <a:ext cx="5238750" cy="3905250"/>
          </a:xfrm>
          <a:custGeom>
            <a:avLst/>
            <a:gdLst/>
            <a:ahLst/>
            <a:cxnLst/>
            <a:rect l="l" t="t" r="r" b="b"/>
            <a:pathLst>
              <a:path w="5238750" h="3905250">
                <a:moveTo>
                  <a:pt x="133350" y="0"/>
                </a:moveTo>
                <a:lnTo>
                  <a:pt x="5105400" y="0"/>
                </a:lnTo>
                <a:cubicBezTo>
                  <a:pt x="5179047" y="0"/>
                  <a:pt x="5238750" y="59703"/>
                  <a:pt x="5238750" y="133350"/>
                </a:cubicBezTo>
                <a:lnTo>
                  <a:pt x="5238750" y="3771900"/>
                </a:lnTo>
                <a:cubicBezTo>
                  <a:pt x="5238750" y="3845547"/>
                  <a:pt x="5179047" y="3905250"/>
                  <a:pt x="510540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2E7D4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Box 28"/>
          <p:cNvSpPr txBox="1"/>
          <p:nvPr/>
        </p:nvSpPr>
        <p:spPr>
          <a:xfrm>
            <a:off x="6460808" y="2357914"/>
            <a:ext cx="15357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2E7D46"/>
                </a:solidFill>
                <a:latin typeface="Segoe UI"/>
                <a:ea typeface="Microsoft YaHei"/>
                <a:cs typeface="Segoe UI"/>
              </a:rPr>
              <a:t>Contromisure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6462712" y="2717006"/>
            <a:ext cx="4551640" cy="2667000"/>
            <a:chOff x="6462712" y="2717006"/>
            <a:chExt cx="4551640" cy="2667000"/>
          </a:xfrm>
        </p:grpSpPr>
        <p:sp>
          <p:nvSpPr>
            <p:cNvPr id="29" name="TextBox 29"/>
            <p:cNvSpPr txBox="1"/>
            <p:nvPr/>
          </p:nvSpPr>
          <p:spPr>
            <a:xfrm>
              <a:off x="6462712" y="2717006"/>
              <a:ext cx="43307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P1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Segregazione delle identità tecniche (D13);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2712" y="2964656"/>
              <a:ext cx="45516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nessuna ereditarietà di privilegi dal Fast-Brain.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2712" y="3364706"/>
              <a:ext cx="41186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P2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Validazione deterministica obbligatoria di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2712" y="3612356"/>
              <a:ext cx="39054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sessione, job ID (D10) e azione richiesta.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2712" y="4012406"/>
              <a:ext cx="45333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P3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Workload identity isolate, token short-lived,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2712" y="4260056"/>
              <a:ext cx="34811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accesso a D8 vincolato al singolo job.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2712" y="4660106"/>
              <a:ext cx="42565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P4+P6+P7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Audit della catena di delega, revoca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2712" y="4907756"/>
              <a:ext cx="43105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immediata dei token, revisione periodica delle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2712" y="5155406"/>
              <a:ext cx="24878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matrici di autorizzazione.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15</a:t>
            </a: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9B117D46-49F3-82D8-FCF2-31FB996BEEF8}"/>
              </a:ext>
            </a:extLst>
          </p:cNvPr>
          <p:cNvSpPr/>
          <p:nvPr/>
        </p:nvSpPr>
        <p:spPr>
          <a:xfrm>
            <a:off x="725806" y="1008531"/>
            <a:ext cx="4290297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284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SCENARIO ALTO · SC7 · ASI07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89660"/>
            <a:ext cx="86232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Insecure Inter-Agent Communication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7712" y="1640681"/>
            <a:ext cx="17452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Proprietà violate: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784614" y="1600200"/>
            <a:ext cx="5793414" cy="264319"/>
            <a:chOff x="1784614" y="1600200"/>
            <a:chExt cx="5793414" cy="264319"/>
          </a:xfrm>
        </p:grpSpPr>
        <p:sp>
          <p:nvSpPr>
            <p:cNvPr id="6" name="Freeform 6"/>
            <p:cNvSpPr/>
            <p:nvPr/>
          </p:nvSpPr>
          <p:spPr>
            <a:xfrm>
              <a:off x="1809750" y="1600200"/>
              <a:ext cx="1238250" cy="247650"/>
            </a:xfrm>
            <a:custGeom>
              <a:avLst/>
              <a:gdLst/>
              <a:ahLst/>
              <a:cxnLst/>
              <a:rect l="l" t="t" r="r" b="b"/>
              <a:pathLst>
                <a:path w="1238250" h="247650">
                  <a:moveTo>
                    <a:pt x="123825" y="0"/>
                  </a:moveTo>
                  <a:lnTo>
                    <a:pt x="1114425" y="0"/>
                  </a:lnTo>
                  <a:cubicBezTo>
                    <a:pt x="1182812" y="0"/>
                    <a:pt x="1238250" y="55438"/>
                    <a:pt x="1238250" y="123825"/>
                  </a:cubicBezTo>
                  <a:lnTo>
                    <a:pt x="1238250" y="123825"/>
                  </a:lnTo>
                  <a:cubicBezTo>
                    <a:pt x="1238250" y="192212"/>
                    <a:pt x="1182812" y="247650"/>
                    <a:pt x="11144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84614" y="1666399"/>
              <a:ext cx="12885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Authentication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3143250" y="1600200"/>
              <a:ext cx="857250" cy="247650"/>
            </a:xfrm>
            <a:custGeom>
              <a:avLst/>
              <a:gdLst/>
              <a:ahLst/>
              <a:cxnLst/>
              <a:rect l="l" t="t" r="r" b="b"/>
              <a:pathLst>
                <a:path w="857250" h="247650">
                  <a:moveTo>
                    <a:pt x="123825" y="0"/>
                  </a:moveTo>
                  <a:lnTo>
                    <a:pt x="733425" y="0"/>
                  </a:lnTo>
                  <a:cubicBezTo>
                    <a:pt x="801812" y="0"/>
                    <a:pt x="857250" y="55438"/>
                    <a:pt x="857250" y="123825"/>
                  </a:cubicBezTo>
                  <a:lnTo>
                    <a:pt x="857250" y="123825"/>
                  </a:lnTo>
                  <a:cubicBezTo>
                    <a:pt x="857250" y="192212"/>
                    <a:pt x="801812" y="247650"/>
                    <a:pt x="7334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68956" y="1666399"/>
              <a:ext cx="8058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Integrity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95750" y="1600200"/>
              <a:ext cx="1190625" cy="247650"/>
            </a:xfrm>
            <a:custGeom>
              <a:avLst/>
              <a:gdLst/>
              <a:ahLst/>
              <a:cxnLst/>
              <a:rect l="l" t="t" r="r" b="b"/>
              <a:pathLst>
                <a:path w="1190625" h="247650">
                  <a:moveTo>
                    <a:pt x="123825" y="0"/>
                  </a:moveTo>
                  <a:lnTo>
                    <a:pt x="1066800" y="0"/>
                  </a:lnTo>
                  <a:cubicBezTo>
                    <a:pt x="1135187" y="0"/>
                    <a:pt x="1190625" y="55438"/>
                    <a:pt x="1190625" y="123825"/>
                  </a:cubicBezTo>
                  <a:lnTo>
                    <a:pt x="1190625" y="123825"/>
                  </a:lnTo>
                  <a:cubicBezTo>
                    <a:pt x="1190625" y="192212"/>
                    <a:pt x="1135187" y="247650"/>
                    <a:pt x="1066800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63979" y="1666399"/>
              <a:ext cx="12446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Accountability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81625" y="1600200"/>
              <a:ext cx="1143000" cy="247650"/>
            </a:xfrm>
            <a:custGeom>
              <a:avLst/>
              <a:gdLst/>
              <a:ahLst/>
              <a:cxnLst/>
              <a:rect l="l" t="t" r="r" b="b"/>
              <a:pathLst>
                <a:path w="1143000" h="247650">
                  <a:moveTo>
                    <a:pt x="123825" y="0"/>
                  </a:moveTo>
                  <a:lnTo>
                    <a:pt x="1019175" y="0"/>
                  </a:lnTo>
                  <a:cubicBezTo>
                    <a:pt x="1087562" y="0"/>
                    <a:pt x="1143000" y="55438"/>
                    <a:pt x="1143000" y="123825"/>
                  </a:cubicBezTo>
                  <a:lnTo>
                    <a:pt x="1143000" y="123825"/>
                  </a:lnTo>
                  <a:cubicBezTo>
                    <a:pt x="1143000" y="192212"/>
                    <a:pt x="1087562" y="247650"/>
                    <a:pt x="10191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04475" y="1666399"/>
              <a:ext cx="12972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Confidentiality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619875" y="1600200"/>
              <a:ext cx="952500" cy="247650"/>
            </a:xfrm>
            <a:custGeom>
              <a:avLst/>
              <a:gdLst/>
              <a:ahLst/>
              <a:cxnLst/>
              <a:rect l="l" t="t" r="r" b="b"/>
              <a:pathLst>
                <a:path w="952500" h="247650">
                  <a:moveTo>
                    <a:pt x="123825" y="0"/>
                  </a:moveTo>
                  <a:lnTo>
                    <a:pt x="828675" y="0"/>
                  </a:lnTo>
                  <a:cubicBezTo>
                    <a:pt x="897062" y="0"/>
                    <a:pt x="952500" y="55438"/>
                    <a:pt x="952500" y="123825"/>
                  </a:cubicBezTo>
                  <a:lnTo>
                    <a:pt x="952500" y="123825"/>
                  </a:lnTo>
                  <a:cubicBezTo>
                    <a:pt x="952500" y="192212"/>
                    <a:pt x="897062" y="247650"/>
                    <a:pt x="8286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4221" y="1666399"/>
              <a:ext cx="9638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Availability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762000" y="2095500"/>
            <a:ext cx="5143500" cy="3905250"/>
          </a:xfrm>
          <a:custGeom>
            <a:avLst/>
            <a:gdLst/>
            <a:ahLst/>
            <a:cxnLst/>
            <a:rect l="l" t="t" r="r" b="b"/>
            <a:pathLst>
              <a:path w="5143500" h="3905250">
                <a:moveTo>
                  <a:pt x="133350" y="0"/>
                </a:moveTo>
                <a:lnTo>
                  <a:pt x="5010150" y="0"/>
                </a:lnTo>
                <a:cubicBezTo>
                  <a:pt x="5083797" y="0"/>
                  <a:pt x="5143500" y="59703"/>
                  <a:pt x="5143500" y="133350"/>
                </a:cubicBezTo>
                <a:lnTo>
                  <a:pt x="5143500" y="3771900"/>
                </a:lnTo>
                <a:cubicBezTo>
                  <a:pt x="5143500" y="3845547"/>
                  <a:pt x="5083797" y="3905250"/>
                  <a:pt x="501015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Box 18"/>
          <p:cNvSpPr txBox="1"/>
          <p:nvPr/>
        </p:nvSpPr>
        <p:spPr>
          <a:xfrm>
            <a:off x="1031558" y="2357914"/>
            <a:ext cx="254572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Meccanismo di attacco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33462" y="2717006"/>
            <a:ext cx="4705945" cy="2533650"/>
            <a:chOff x="1033462" y="2717006"/>
            <a:chExt cx="4705945" cy="2533650"/>
          </a:xfrm>
        </p:grpSpPr>
        <p:sp>
          <p:nvSpPr>
            <p:cNvPr id="19" name="TextBox 19"/>
            <p:cNvSpPr txBox="1"/>
            <p:nvPr/>
          </p:nvSpPr>
          <p:spPr>
            <a:xfrm>
              <a:off x="1033462" y="2717006"/>
              <a:ext cx="47059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L'avversario intercetta, altera o ripete i segnali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3462" y="2964656"/>
              <a:ext cx="30182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interni di coordinamento (D10).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364706"/>
              <a:ext cx="4291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M9 e M10 validano la sola sintassi, omettendo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3612356"/>
              <a:ext cx="38476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verifiche di freshness e session binding.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3462" y="4012406"/>
              <a:ext cx="42526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Lo Swap Manager può scambiare stream video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3462" y="4260056"/>
              <a:ext cx="41080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tra job diversi: esposizione cross-sessione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4507706"/>
              <a:ext cx="24106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o glitch visivi all'utente.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3462" y="5022056"/>
              <a:ext cx="41273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Asset coinvolti: D2, D5, D10, D13, M9–M11.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6191250" y="2095500"/>
            <a:ext cx="5238750" cy="3905250"/>
          </a:xfrm>
          <a:custGeom>
            <a:avLst/>
            <a:gdLst/>
            <a:ahLst/>
            <a:cxnLst/>
            <a:rect l="l" t="t" r="r" b="b"/>
            <a:pathLst>
              <a:path w="5238750" h="3905250">
                <a:moveTo>
                  <a:pt x="133350" y="0"/>
                </a:moveTo>
                <a:lnTo>
                  <a:pt x="5105400" y="0"/>
                </a:lnTo>
                <a:cubicBezTo>
                  <a:pt x="5179047" y="0"/>
                  <a:pt x="5238750" y="59703"/>
                  <a:pt x="5238750" y="133350"/>
                </a:cubicBezTo>
                <a:lnTo>
                  <a:pt x="5238750" y="3771900"/>
                </a:lnTo>
                <a:cubicBezTo>
                  <a:pt x="5238750" y="3845547"/>
                  <a:pt x="5179047" y="3905250"/>
                  <a:pt x="510540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2E7D4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Box 29"/>
          <p:cNvSpPr txBox="1"/>
          <p:nvPr/>
        </p:nvSpPr>
        <p:spPr>
          <a:xfrm>
            <a:off x="6460808" y="2357914"/>
            <a:ext cx="15357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2E7D46"/>
                </a:solidFill>
                <a:latin typeface="Segoe UI"/>
                <a:ea typeface="Microsoft YaHei"/>
                <a:cs typeface="Segoe UI"/>
              </a:rPr>
              <a:t>Contromisure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462712" y="2717006"/>
            <a:ext cx="5014555" cy="2667000"/>
            <a:chOff x="6462712" y="2717006"/>
            <a:chExt cx="5014555" cy="2667000"/>
          </a:xfrm>
        </p:grpSpPr>
        <p:sp>
          <p:nvSpPr>
            <p:cNvPr id="30" name="TextBox 30"/>
            <p:cNvSpPr txBox="1"/>
            <p:nvPr/>
          </p:nvSpPr>
          <p:spPr>
            <a:xfrm>
              <a:off x="6462712" y="2717006"/>
              <a:ext cx="39643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P1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Topic e code isolati; solo i worker video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2712" y="2964656"/>
              <a:ext cx="36740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autorizzati pubblicano segnali di swap.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2712" y="3364706"/>
              <a:ext cx="3829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P2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Validazione (M11) di macchina a stati,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2712" y="3612356"/>
              <a:ext cx="41755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monotonicità dei sequence number, finestre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2712" y="3860006"/>
              <a:ext cx="40115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di freshness e vincolo rigido sessione/job.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2712" y="4260056"/>
              <a:ext cx="41186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P3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Piano di controllo isolato: mTLS e payload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2712" y="4507706"/>
              <a:ext cx="25360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firmati con token per-job.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2712" y="4907756"/>
              <a:ext cx="45844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P4+P6+P7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Audit delle transizioni, circuit breaker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2712" y="5155406"/>
              <a:ext cx="50145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fail-safe, test periodici di messaggi fuori sequenza.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16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AF529635-8F06-0282-799C-D5F457E3B2F7}"/>
              </a:ext>
            </a:extLst>
          </p:cNvPr>
          <p:cNvSpPr/>
          <p:nvPr/>
        </p:nvSpPr>
        <p:spPr>
          <a:xfrm>
            <a:off x="725806" y="1008531"/>
            <a:ext cx="6009291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284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SCENARIO ALTO · SC9 · ASI09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89660"/>
            <a:ext cx="757821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Human-Agent Trust Exploitation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7712" y="1640681"/>
            <a:ext cx="17452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Proprietà violate: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809750" y="1600200"/>
            <a:ext cx="4737121" cy="264319"/>
            <a:chOff x="1809750" y="1600200"/>
            <a:chExt cx="4737121" cy="264319"/>
          </a:xfrm>
        </p:grpSpPr>
        <p:sp>
          <p:nvSpPr>
            <p:cNvPr id="6" name="Freeform 6"/>
            <p:cNvSpPr/>
            <p:nvPr/>
          </p:nvSpPr>
          <p:spPr>
            <a:xfrm>
              <a:off x="1809750" y="1600200"/>
              <a:ext cx="857250" cy="247650"/>
            </a:xfrm>
            <a:custGeom>
              <a:avLst/>
              <a:gdLst/>
              <a:ahLst/>
              <a:cxnLst/>
              <a:rect l="l" t="t" r="r" b="b"/>
              <a:pathLst>
                <a:path w="857250" h="247650">
                  <a:moveTo>
                    <a:pt x="123825" y="0"/>
                  </a:moveTo>
                  <a:lnTo>
                    <a:pt x="733425" y="0"/>
                  </a:lnTo>
                  <a:cubicBezTo>
                    <a:pt x="801812" y="0"/>
                    <a:pt x="857250" y="55438"/>
                    <a:pt x="857250" y="123825"/>
                  </a:cubicBezTo>
                  <a:lnTo>
                    <a:pt x="857250" y="123825"/>
                  </a:lnTo>
                  <a:cubicBezTo>
                    <a:pt x="857250" y="192212"/>
                    <a:pt x="801812" y="247650"/>
                    <a:pt x="7334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35456" y="1666399"/>
              <a:ext cx="8058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Integrity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2762250" y="1600200"/>
              <a:ext cx="1143000" cy="247650"/>
            </a:xfrm>
            <a:custGeom>
              <a:avLst/>
              <a:gdLst/>
              <a:ahLst/>
              <a:cxnLst/>
              <a:rect l="l" t="t" r="r" b="b"/>
              <a:pathLst>
                <a:path w="1143000" h="247650">
                  <a:moveTo>
                    <a:pt x="123825" y="0"/>
                  </a:moveTo>
                  <a:lnTo>
                    <a:pt x="1019175" y="0"/>
                  </a:lnTo>
                  <a:cubicBezTo>
                    <a:pt x="1087562" y="0"/>
                    <a:pt x="1143000" y="55438"/>
                    <a:pt x="1143000" y="123825"/>
                  </a:cubicBezTo>
                  <a:lnTo>
                    <a:pt x="1143000" y="123825"/>
                  </a:lnTo>
                  <a:cubicBezTo>
                    <a:pt x="1143000" y="192212"/>
                    <a:pt x="1087562" y="247650"/>
                    <a:pt x="10191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85100" y="1666399"/>
              <a:ext cx="12972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Confidentiality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00500" y="1600200"/>
              <a:ext cx="1238250" cy="247650"/>
            </a:xfrm>
            <a:custGeom>
              <a:avLst/>
              <a:gdLst/>
              <a:ahLst/>
              <a:cxnLst/>
              <a:rect l="l" t="t" r="r" b="b"/>
              <a:pathLst>
                <a:path w="1238250" h="247650">
                  <a:moveTo>
                    <a:pt x="123825" y="0"/>
                  </a:moveTo>
                  <a:lnTo>
                    <a:pt x="1114425" y="0"/>
                  </a:lnTo>
                  <a:cubicBezTo>
                    <a:pt x="1182812" y="0"/>
                    <a:pt x="1238250" y="55438"/>
                    <a:pt x="1238250" y="123825"/>
                  </a:cubicBezTo>
                  <a:lnTo>
                    <a:pt x="1238250" y="123825"/>
                  </a:lnTo>
                  <a:cubicBezTo>
                    <a:pt x="1238250" y="192212"/>
                    <a:pt x="1182812" y="247650"/>
                    <a:pt x="11144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75364" y="1666399"/>
              <a:ext cx="12885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Authentication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0" y="1600200"/>
              <a:ext cx="1190625" cy="247650"/>
            </a:xfrm>
            <a:custGeom>
              <a:avLst/>
              <a:gdLst/>
              <a:ahLst/>
              <a:cxnLst/>
              <a:rect l="l" t="t" r="r" b="b"/>
              <a:pathLst>
                <a:path w="1190625" h="247650">
                  <a:moveTo>
                    <a:pt x="123825" y="0"/>
                  </a:moveTo>
                  <a:lnTo>
                    <a:pt x="1066800" y="0"/>
                  </a:lnTo>
                  <a:cubicBezTo>
                    <a:pt x="1135187" y="0"/>
                    <a:pt x="1190625" y="55438"/>
                    <a:pt x="1190625" y="123825"/>
                  </a:cubicBezTo>
                  <a:lnTo>
                    <a:pt x="1190625" y="123825"/>
                  </a:lnTo>
                  <a:cubicBezTo>
                    <a:pt x="1190625" y="192212"/>
                    <a:pt x="1135187" y="247650"/>
                    <a:pt x="1066800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02229" y="1666399"/>
              <a:ext cx="12446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Accountability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762000" y="2095500"/>
            <a:ext cx="5143500" cy="3905250"/>
          </a:xfrm>
          <a:custGeom>
            <a:avLst/>
            <a:gdLst/>
            <a:ahLst/>
            <a:cxnLst/>
            <a:rect l="l" t="t" r="r" b="b"/>
            <a:pathLst>
              <a:path w="5143500" h="3905250">
                <a:moveTo>
                  <a:pt x="133350" y="0"/>
                </a:moveTo>
                <a:lnTo>
                  <a:pt x="5010150" y="0"/>
                </a:lnTo>
                <a:cubicBezTo>
                  <a:pt x="5083797" y="0"/>
                  <a:pt x="5143500" y="59703"/>
                  <a:pt x="5143500" y="133350"/>
                </a:cubicBezTo>
                <a:lnTo>
                  <a:pt x="5143500" y="3771900"/>
                </a:lnTo>
                <a:cubicBezTo>
                  <a:pt x="5143500" y="3845547"/>
                  <a:pt x="5083797" y="3905250"/>
                  <a:pt x="501015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1031558" y="2357914"/>
            <a:ext cx="254572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Meccanismo di attacco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33462" y="2717006"/>
            <a:ext cx="3818692" cy="2762250"/>
            <a:chOff x="1033462" y="2717006"/>
            <a:chExt cx="3818692" cy="2762250"/>
          </a:xfrm>
        </p:grpSpPr>
        <p:sp>
          <p:nvSpPr>
            <p:cNvPr id="17" name="TextBox 17"/>
            <p:cNvSpPr txBox="1"/>
            <p:nvPr/>
          </p:nvSpPr>
          <p:spPr>
            <a:xfrm>
              <a:off x="1033462" y="2717006"/>
              <a:ext cx="3577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 seguito di una deviazione a monte, il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3462" y="2964656"/>
              <a:ext cx="38186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Deep-Brain emette output pericolosi con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3462" y="3212306"/>
              <a:ext cx="26999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il tono materno dell'avatar.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3462" y="3612356"/>
              <a:ext cx="36547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Il realismo di voce e video (D8, M6–M7)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860006"/>
              <a:ext cx="37801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disarma le difese cognitive dell'utente.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4260056"/>
              <a:ext cx="375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Risultato: l'utente cede dati sensibili o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3462" y="4507706"/>
              <a:ext cx="29893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attua consigli sanitari dannosi.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3462" y="5022056"/>
              <a:ext cx="34618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Asset coinvolti: D1, D3, D6–D8, D11,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5250656"/>
              <a:ext cx="17355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M3, M6, M7, M11.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6191250" y="2095500"/>
            <a:ext cx="5238750" cy="3905250"/>
          </a:xfrm>
          <a:custGeom>
            <a:avLst/>
            <a:gdLst/>
            <a:ahLst/>
            <a:cxnLst/>
            <a:rect l="l" t="t" r="r" b="b"/>
            <a:pathLst>
              <a:path w="5238750" h="3905250">
                <a:moveTo>
                  <a:pt x="133350" y="0"/>
                </a:moveTo>
                <a:lnTo>
                  <a:pt x="5105400" y="0"/>
                </a:lnTo>
                <a:cubicBezTo>
                  <a:pt x="5179047" y="0"/>
                  <a:pt x="5238750" y="59703"/>
                  <a:pt x="5238750" y="133350"/>
                </a:cubicBezTo>
                <a:lnTo>
                  <a:pt x="5238750" y="3771900"/>
                </a:lnTo>
                <a:cubicBezTo>
                  <a:pt x="5238750" y="3845547"/>
                  <a:pt x="5179047" y="3905250"/>
                  <a:pt x="510540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2E7D4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Box 28"/>
          <p:cNvSpPr txBox="1"/>
          <p:nvPr/>
        </p:nvSpPr>
        <p:spPr>
          <a:xfrm>
            <a:off x="6460808" y="2357914"/>
            <a:ext cx="15357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2E7D46"/>
                </a:solidFill>
                <a:latin typeface="Segoe UI"/>
                <a:ea typeface="Microsoft YaHei"/>
                <a:cs typeface="Segoe UI"/>
              </a:rPr>
              <a:t>Contromisure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6462712" y="2717006"/>
            <a:ext cx="4763810" cy="2667000"/>
            <a:chOff x="6462712" y="2717006"/>
            <a:chExt cx="4763810" cy="2667000"/>
          </a:xfrm>
        </p:grpSpPr>
        <p:sp>
          <p:nvSpPr>
            <p:cNvPr id="29" name="TextBox 29"/>
            <p:cNvSpPr txBox="1"/>
            <p:nvPr/>
          </p:nvSpPr>
          <p:spPr>
            <a:xfrm>
              <a:off x="6462712" y="2717006"/>
              <a:ext cx="43404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P1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Divieto di richiedere dati personali; dominio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2712" y="2964656"/>
              <a:ext cx="4291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vincolato, tratti identitari (D7) inalterabili.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2712" y="3364706"/>
              <a:ext cx="43500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P2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Guardrail M11 semantico pre-sintesi contro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2712" y="3612356"/>
              <a:ext cx="4657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richieste indebite; disclaimer visivi su salute/AI.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2712" y="4012406"/>
              <a:ext cx="44368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P3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Asset biometrici (D8) e rendering accessibili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2712" y="4260056"/>
              <a:ext cx="39922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solo tramite token crittografici dedicati.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2712" y="4660106"/>
              <a:ext cx="44976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P4+P6+P7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Audit immutabile dei flussi I/O, blocco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2712" y="4907756"/>
              <a:ext cx="47638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runtime su anomalie di tono/registro, red teaming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2712" y="5155406"/>
              <a:ext cx="20731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socio-tecnico ciclico.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17</a:t>
            </a: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ABEAF1F5-1054-1C06-5E5F-D63F9A916CEC}"/>
              </a:ext>
            </a:extLst>
          </p:cNvPr>
          <p:cNvSpPr/>
          <p:nvPr/>
        </p:nvSpPr>
        <p:spPr>
          <a:xfrm>
            <a:off x="725806" y="1008531"/>
            <a:ext cx="5252207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5821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SECURE ARCHITECTURE PROPOSTA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10667164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Quattro enforcement point architetturali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62000" y="1809750"/>
            <a:ext cx="10668000" cy="3048000"/>
            <a:chOff x="762000" y="1809750"/>
            <a:chExt cx="10668000" cy="3048000"/>
          </a:xfrm>
        </p:grpSpPr>
        <p:sp>
          <p:nvSpPr>
            <p:cNvPr id="5" name="Freeform 5"/>
            <p:cNvSpPr/>
            <p:nvPr/>
          </p:nvSpPr>
          <p:spPr>
            <a:xfrm>
              <a:off x="762000" y="1809750"/>
              <a:ext cx="5238750" cy="1428750"/>
            </a:xfrm>
            <a:custGeom>
              <a:avLst/>
              <a:gdLst/>
              <a:ahLst/>
              <a:cxnLst/>
              <a:rect l="l" t="t" r="r" b="b"/>
              <a:pathLst>
                <a:path w="5238750" h="1428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295400"/>
                  </a:lnTo>
                  <a:cubicBezTo>
                    <a:pt x="5238750" y="1369047"/>
                    <a:pt x="5179047" y="1428750"/>
                    <a:pt x="5105400" y="1428750"/>
                  </a:cubicBezTo>
                  <a:lnTo>
                    <a:pt x="133350" y="1428750"/>
                  </a:lnTo>
                  <a:cubicBezTo>
                    <a:pt x="59703" y="1428750"/>
                    <a:pt x="0" y="1369047"/>
                    <a:pt x="0" y="1295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31558" y="2034064"/>
              <a:ext cx="453114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Security enforcement ai trust boundary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3462" y="2374106"/>
              <a:ext cx="4146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M11 valida input e output agentici prima che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3462" y="2621756"/>
              <a:ext cx="37318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possano produrre effetti downstream.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6191250" y="1809750"/>
              <a:ext cx="5238750" cy="1428750"/>
            </a:xfrm>
            <a:custGeom>
              <a:avLst/>
              <a:gdLst/>
              <a:ahLst/>
              <a:cxnLst/>
              <a:rect l="l" t="t" r="r" b="b"/>
              <a:pathLst>
                <a:path w="5238750" h="1428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295400"/>
                  </a:lnTo>
                  <a:cubicBezTo>
                    <a:pt x="5238750" y="1369047"/>
                    <a:pt x="5179047" y="1428750"/>
                    <a:pt x="5105400" y="1428750"/>
                  </a:cubicBezTo>
                  <a:lnTo>
                    <a:pt x="133350" y="1428750"/>
                  </a:lnTo>
                  <a:cubicBezTo>
                    <a:pt x="59703" y="1428750"/>
                    <a:pt x="0" y="1369047"/>
                    <a:pt x="0" y="1295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60808" y="2034064"/>
              <a:ext cx="31195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2B6CB0"/>
                  </a:solidFill>
                  <a:latin typeface="Segoe UI"/>
                  <a:ea typeface="Microsoft YaHei"/>
                  <a:cs typeface="Segoe UI"/>
                </a:rPr>
                <a:t>Piano di controllo affidabile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62712" y="2374106"/>
              <a:ext cx="45998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Session ID, Job ID, sequence number e timestamp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62712" y="2621756"/>
              <a:ext cx="47252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sono gestiti dall'Orchestratore, non dal modello.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762000" y="3429000"/>
              <a:ext cx="5238750" cy="1428750"/>
            </a:xfrm>
            <a:custGeom>
              <a:avLst/>
              <a:gdLst/>
              <a:ahLst/>
              <a:cxnLst/>
              <a:rect l="l" t="t" r="r" b="b"/>
              <a:pathLst>
                <a:path w="5238750" h="1428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295400"/>
                  </a:lnTo>
                  <a:cubicBezTo>
                    <a:pt x="5238750" y="1369047"/>
                    <a:pt x="5179047" y="1428750"/>
                    <a:pt x="5105400" y="1428750"/>
                  </a:cubicBezTo>
                  <a:lnTo>
                    <a:pt x="133350" y="1428750"/>
                  </a:lnTo>
                  <a:cubicBezTo>
                    <a:pt x="59703" y="1428750"/>
                    <a:pt x="0" y="1369047"/>
                    <a:pt x="0" y="1295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1558" y="3653314"/>
              <a:ext cx="36704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Isolamento delle risorse critiche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3462" y="3993356"/>
              <a:ext cx="49856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Knowledge Base read-only nel serving; aggiornamenti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3462" y="4241006"/>
              <a:ext cx="52845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su percorso separato con validazione, versioning, HITL.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191250" y="3429000"/>
              <a:ext cx="5238750" cy="1428750"/>
            </a:xfrm>
            <a:custGeom>
              <a:avLst/>
              <a:gdLst/>
              <a:ahLst/>
              <a:cxnLst/>
              <a:rect l="l" t="t" r="r" b="b"/>
              <a:pathLst>
                <a:path w="5238750" h="1428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295400"/>
                  </a:lnTo>
                  <a:cubicBezTo>
                    <a:pt x="5238750" y="1369047"/>
                    <a:pt x="5179047" y="1428750"/>
                    <a:pt x="5105400" y="1428750"/>
                  </a:cubicBezTo>
                  <a:lnTo>
                    <a:pt x="133350" y="1428750"/>
                  </a:lnTo>
                  <a:cubicBezTo>
                    <a:pt x="59703" y="1428750"/>
                    <a:pt x="0" y="1369047"/>
                    <a:pt x="0" y="1295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0808" y="3653314"/>
              <a:ext cx="34982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2B6CB0"/>
                  </a:solidFill>
                  <a:latin typeface="Segoe UI"/>
                  <a:ea typeface="Microsoft YaHei"/>
                  <a:cs typeface="Segoe UI"/>
                </a:rPr>
                <a:t>Azioni downstream autenticate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2712" y="3993356"/>
              <a:ext cx="49374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Workload identity, mTLS e autorizzazione per azione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2712" y="4241006"/>
              <a:ext cx="49277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proteggono i servizi multimediali e lo Swap Manager.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762000" y="5143500"/>
            <a:ext cx="10668000" cy="857250"/>
          </a:xfrm>
          <a:custGeom>
            <a:avLst/>
            <a:gdLst/>
            <a:ahLst/>
            <a:cxnLst/>
            <a:rect l="l" t="t" r="r" b="b"/>
            <a:pathLst>
              <a:path w="10668000" h="857250">
                <a:moveTo>
                  <a:pt x="133350" y="0"/>
                </a:moveTo>
                <a:lnTo>
                  <a:pt x="10534650" y="0"/>
                </a:lnTo>
                <a:cubicBezTo>
                  <a:pt x="10608297" y="0"/>
                  <a:pt x="10668000" y="59703"/>
                  <a:pt x="10668000" y="133350"/>
                </a:cubicBezTo>
                <a:lnTo>
                  <a:pt x="10668000" y="723900"/>
                </a:lnTo>
                <a:cubicBezTo>
                  <a:pt x="10668000" y="797547"/>
                  <a:pt x="10608297" y="857250"/>
                  <a:pt x="10534650" y="857250"/>
                </a:cubicBezTo>
                <a:lnTo>
                  <a:pt x="133350" y="857250"/>
                </a:lnTo>
                <a:cubicBezTo>
                  <a:pt x="59703" y="857250"/>
                  <a:pt x="0" y="797547"/>
                  <a:pt x="0" y="723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1A1D23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Box 23"/>
          <p:cNvSpPr txBox="1"/>
          <p:nvPr/>
        </p:nvSpPr>
        <p:spPr>
          <a:xfrm>
            <a:off x="1031558" y="5367814"/>
            <a:ext cx="442785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GENERATION PLANE ≠ ENFORCEMENT PLANE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3462" y="5669756"/>
            <a:ext cx="11006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C9D1D9"/>
                </a:solidFill>
                <a:latin typeface="Aptos"/>
                <a:ea typeface="Microsoft YaHei"/>
                <a:cs typeface="Aptos"/>
              </a:rPr>
              <a:t>Gli agenti generano contenuti; stato, privilegi e transizioni restano sotto controllo deterministico esterno al modello.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18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2E5D254D-4956-C2AD-81E3-5F4863E0F8A2}"/>
              </a:ext>
            </a:extLst>
          </p:cNvPr>
          <p:cNvSpPr/>
          <p:nvPr/>
        </p:nvSpPr>
        <p:spPr>
          <a:xfrm>
            <a:off x="725806" y="1008531"/>
            <a:ext cx="6953188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4599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TRADE-OFF SICUREZZA–LATENZA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1110326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La latenza si ottimizza collocando i controlli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905000"/>
            <a:ext cx="10668000" cy="2762250"/>
            <a:chOff x="762000" y="1905000"/>
            <a:chExt cx="10668000" cy="2762250"/>
          </a:xfrm>
        </p:grpSpPr>
        <p:sp>
          <p:nvSpPr>
            <p:cNvPr id="5" name="Freeform 5"/>
            <p:cNvSpPr/>
            <p:nvPr/>
          </p:nvSpPr>
          <p:spPr>
            <a:xfrm>
              <a:off x="762000" y="1905000"/>
              <a:ext cx="3400425" cy="2762250"/>
            </a:xfrm>
            <a:custGeom>
              <a:avLst/>
              <a:gdLst/>
              <a:ahLst/>
              <a:cxnLst/>
              <a:rect l="l" t="t" r="r" b="b"/>
              <a:pathLst>
                <a:path w="3400425" h="2762250">
                  <a:moveTo>
                    <a:pt x="133350" y="0"/>
                  </a:moveTo>
                  <a:lnTo>
                    <a:pt x="3267075" y="0"/>
                  </a:lnTo>
                  <a:cubicBezTo>
                    <a:pt x="3340722" y="0"/>
                    <a:pt x="3400425" y="59703"/>
                    <a:pt x="3400425" y="133350"/>
                  </a:cubicBezTo>
                  <a:lnTo>
                    <a:pt x="3400425" y="2628900"/>
                  </a:lnTo>
                  <a:cubicBezTo>
                    <a:pt x="3400425" y="2702547"/>
                    <a:pt x="3340722" y="2762250"/>
                    <a:pt x="3267075" y="2762250"/>
                  </a:cubicBezTo>
                  <a:lnTo>
                    <a:pt x="133350" y="2762250"/>
                  </a:lnTo>
                  <a:cubicBezTo>
                    <a:pt x="59703" y="2762250"/>
                    <a:pt x="0" y="2702547"/>
                    <a:pt x="0" y="2628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19050">
              <a:solidFill>
                <a:srgbClr val="B8771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32510" y="2175510"/>
              <a:ext cx="21799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FAST PATH · &lt; 800 ms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3462" y="2469356"/>
              <a:ext cx="26228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Controlli sincroni e leggeri: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3462" y="2774156"/>
              <a:ext cx="20827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session / job binding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3462" y="3040856"/>
              <a:ext cx="21792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schema JSON ed enum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3462" y="3307556"/>
              <a:ext cx="25263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sequence number e stato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3462" y="3574256"/>
              <a:ext cx="22370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goal integrity leggero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3462" y="3955256"/>
              <a:ext cx="30857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Errore o timeout → filler statico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462" y="4183856"/>
              <a:ext cx="2728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preventivamente approvato.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400550" y="1905000"/>
              <a:ext cx="3400425" cy="2762250"/>
            </a:xfrm>
            <a:custGeom>
              <a:avLst/>
              <a:gdLst/>
              <a:ahLst/>
              <a:cxnLst/>
              <a:rect l="l" t="t" r="r" b="b"/>
              <a:pathLst>
                <a:path w="3400425" h="2762250">
                  <a:moveTo>
                    <a:pt x="133350" y="0"/>
                  </a:moveTo>
                  <a:lnTo>
                    <a:pt x="3267075" y="0"/>
                  </a:lnTo>
                  <a:cubicBezTo>
                    <a:pt x="3340722" y="0"/>
                    <a:pt x="3400425" y="59703"/>
                    <a:pt x="3400425" y="133350"/>
                  </a:cubicBezTo>
                  <a:lnTo>
                    <a:pt x="3400425" y="2628900"/>
                  </a:lnTo>
                  <a:cubicBezTo>
                    <a:pt x="3400425" y="2702547"/>
                    <a:pt x="3340722" y="2762250"/>
                    <a:pt x="3267075" y="2762250"/>
                  </a:cubicBezTo>
                  <a:lnTo>
                    <a:pt x="133350" y="2762250"/>
                  </a:lnTo>
                  <a:cubicBezTo>
                    <a:pt x="59703" y="2762250"/>
                    <a:pt x="0" y="2702547"/>
                    <a:pt x="0" y="2628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19050">
              <a:solidFill>
                <a:srgbClr val="2B6CB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71060" y="2175510"/>
              <a:ext cx="18019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B6CB0"/>
                  </a:solidFill>
                  <a:latin typeface="Segoe UI"/>
                  <a:ea typeface="Microsoft YaHei"/>
                  <a:cs typeface="Segoe UI"/>
                </a:rPr>
                <a:t>BACKGROUND PATH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72012" y="2469356"/>
              <a:ext cx="25070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Controlli più approfonditi: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72012" y="2774156"/>
              <a:ext cx="24974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validazione contesto RAG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72012" y="3040856"/>
              <a:ext cx="19380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Deep Output Guard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72012" y="3307556"/>
              <a:ext cx="19573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controlli semantici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72012" y="3955256"/>
              <a:ext cx="21792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Risposta non validata 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72012" y="4183856"/>
              <a:ext cx="27096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nessuna sintesi audio/video.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8029575" y="1905000"/>
              <a:ext cx="3400425" cy="2762250"/>
            </a:xfrm>
            <a:custGeom>
              <a:avLst/>
              <a:gdLst/>
              <a:ahLst/>
              <a:cxnLst/>
              <a:rect l="l" t="t" r="r" b="b"/>
              <a:pathLst>
                <a:path w="3400425" h="2762250">
                  <a:moveTo>
                    <a:pt x="133350" y="0"/>
                  </a:moveTo>
                  <a:lnTo>
                    <a:pt x="3267075" y="0"/>
                  </a:lnTo>
                  <a:cubicBezTo>
                    <a:pt x="3340722" y="0"/>
                    <a:pt x="3400425" y="59703"/>
                    <a:pt x="3400425" y="133350"/>
                  </a:cubicBezTo>
                  <a:lnTo>
                    <a:pt x="3400425" y="2628900"/>
                  </a:lnTo>
                  <a:cubicBezTo>
                    <a:pt x="3400425" y="2702547"/>
                    <a:pt x="3340722" y="2762250"/>
                    <a:pt x="3267075" y="2762250"/>
                  </a:cubicBezTo>
                  <a:lnTo>
                    <a:pt x="133350" y="2762250"/>
                  </a:lnTo>
                  <a:cubicBezTo>
                    <a:pt x="59703" y="2762250"/>
                    <a:pt x="0" y="2702547"/>
                    <a:pt x="0" y="2628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00085" y="2175510"/>
              <a:ext cx="22015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ASINCRONO / OFFLINE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01038" y="2469356"/>
              <a:ext cx="25553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Fuori dal percorso critico: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01038" y="2774156"/>
              <a:ext cx="25938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audit e anomaly detection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01038" y="3040856"/>
              <a:ext cx="20634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HITL su modifiche KB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01038" y="3307556"/>
              <a:ext cx="24395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SBOM / AIBOM, scanning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01038" y="3574256"/>
              <a:ext cx="22177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red teaming periodico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1038" y="3955256"/>
              <a:ext cx="23720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Nessun impatto sul turno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01038" y="4183856"/>
              <a:ext cx="16294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conversazionale.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762000" y="5048250"/>
            <a:ext cx="10668000" cy="857250"/>
          </a:xfrm>
          <a:custGeom>
            <a:avLst/>
            <a:gdLst/>
            <a:ahLst/>
            <a:cxnLst/>
            <a:rect l="l" t="t" r="r" b="b"/>
            <a:pathLst>
              <a:path w="10668000" h="857250">
                <a:moveTo>
                  <a:pt x="133350" y="0"/>
                </a:moveTo>
                <a:lnTo>
                  <a:pt x="10534650" y="0"/>
                </a:lnTo>
                <a:cubicBezTo>
                  <a:pt x="10608297" y="0"/>
                  <a:pt x="10668000" y="59703"/>
                  <a:pt x="10668000" y="133350"/>
                </a:cubicBezTo>
                <a:lnTo>
                  <a:pt x="10668000" y="723900"/>
                </a:lnTo>
                <a:cubicBezTo>
                  <a:pt x="10668000" y="797547"/>
                  <a:pt x="10608297" y="857250"/>
                  <a:pt x="10534650" y="857250"/>
                </a:cubicBezTo>
                <a:lnTo>
                  <a:pt x="133350" y="857250"/>
                </a:lnTo>
                <a:cubicBezTo>
                  <a:pt x="59703" y="857250"/>
                  <a:pt x="0" y="797547"/>
                  <a:pt x="0" y="723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Box 33"/>
          <p:cNvSpPr txBox="1"/>
          <p:nvPr/>
        </p:nvSpPr>
        <p:spPr>
          <a:xfrm>
            <a:off x="1032510" y="5280660"/>
            <a:ext cx="9906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Comportamento fail-safe: la qualità del servizio può degradare, la sicurezza non viene bypassata.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3462" y="5555456"/>
            <a:ext cx="106177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Una verifica fallita non equivale a un'autorizzazione; l'overhead del Fast Path sarà misurato sperimentalmente.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19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9073F690-0EA4-276A-AD73-3D934A858F83}"/>
              </a:ext>
            </a:extLst>
          </p:cNvPr>
          <p:cNvSpPr/>
          <p:nvPr/>
        </p:nvSpPr>
        <p:spPr>
          <a:xfrm>
            <a:off x="725805" y="1008531"/>
            <a:ext cx="7425137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0182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VALIDAZIONE SPERIMENTALE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825576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Piano di test per i cinque scenari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7712" y="1612106"/>
            <a:ext cx="95376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Ambiente isolato e versionato · soglie quantitative definite a priori · confronto protetto vs baseline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762000" y="1952625"/>
            <a:ext cx="10668000" cy="3771900"/>
            <a:chOff x="762000" y="1952625"/>
            <a:chExt cx="10668000" cy="3771900"/>
          </a:xfrm>
        </p:grpSpPr>
        <p:sp>
          <p:nvSpPr>
            <p:cNvPr id="6" name="Rectangle 6"/>
            <p:cNvSpPr/>
            <p:nvPr/>
          </p:nvSpPr>
          <p:spPr>
            <a:xfrm>
              <a:off x="762000" y="1952625"/>
              <a:ext cx="10668000" cy="342900"/>
            </a:xfrm>
            <a:prstGeom prst="rect">
              <a:avLst/>
            </a:prstGeom>
            <a:solidFill>
              <a:srgbClr val="E9EDF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39165" y="2067878"/>
              <a:ext cx="8111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Scenario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987165" y="2067878"/>
              <a:ext cx="4425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Test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06665" y="2067878"/>
              <a:ext cx="22382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Criterio di accettazione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295525"/>
              <a:ext cx="10668000" cy="6858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9165" y="245840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SC1 Goal Hijack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87165" y="2458402"/>
              <a:ext cx="3942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injection diretta/indiretta, chunk splitting,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87165" y="2667952"/>
              <a:ext cx="2213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prompt in arabo/dialetto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06665" y="2458402"/>
              <a:ext cx="31860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nessun output deviato downstream;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06665" y="2667952"/>
              <a:ext cx="25559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overhead Fast Path misurato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981325"/>
              <a:ext cx="1066800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9165" y="3144202"/>
              <a:ext cx="12364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SC6 Poisoning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87165" y="3144202"/>
              <a:ext cx="3600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chunk avversariali in copia isolata FAISS,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87165" y="3353752"/>
              <a:ext cx="16288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feedback sintetici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06665" y="3144202"/>
              <a:ext cx="29610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nessuna promozione su KB attiva;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6665" y="3353752"/>
              <a:ext cx="23579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isolamento cross-sessione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3667125"/>
              <a:ext cx="10668000" cy="6858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9165" y="3830002"/>
              <a:ext cx="17656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SC3 Privilege Abuse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87165" y="3830002"/>
              <a:ext cx="31320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negative testing con token errati 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87165" y="4039552"/>
              <a:ext cx="2222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audience non autorizzata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06665" y="3830002"/>
              <a:ext cx="2528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zero azioni non autorizzate;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06665" y="4039552"/>
              <a:ext cx="21329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attribuzione certa a log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4352925"/>
              <a:ext cx="1066800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9165" y="4515802"/>
              <a:ext cx="17940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SC7 Message Replay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87165" y="4515802"/>
              <a:ext cx="3447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manipolazione sequence number, replay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87165" y="4725352"/>
              <a:ext cx="31140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timestamp, falsi Video Ready Signal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06665" y="4515802"/>
              <a:ext cx="29790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zero modifiche indebite allo stato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06665" y="4725352"/>
              <a:ext cx="17008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dello Swap Manager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" y="5038725"/>
              <a:ext cx="10668000" cy="6858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9165" y="5201602"/>
              <a:ext cx="16050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SC9 Trust Exploit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87165" y="5201602"/>
              <a:ext cx="36991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sollecitazioni verso prescrizioni sanitarie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87165" y="5411152"/>
              <a:ext cx="20969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o raccolta dati sensibili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06665" y="5201602"/>
              <a:ext cx="34831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blocco totale pre-sintesi vocale/video;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06665" y="541115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disclaimer attivi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747712" y="6069806"/>
            <a:ext cx="82935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Metriche: Attack Success Rate · detection rate · falsi positivi · overhead di latenza Δt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20</a:t>
            </a: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DCBBB742-9E70-46CC-C453-52BD466E1389}"/>
              </a:ext>
            </a:extLst>
          </p:cNvPr>
          <p:cNvSpPr/>
          <p:nvPr/>
        </p:nvSpPr>
        <p:spPr>
          <a:xfrm>
            <a:off x="725806" y="1008530"/>
            <a:ext cx="5484304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8399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VALUTAZIONE DEL RISCHIO RESIDUO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774269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Cosa cambia dopo le mitigazioni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62000" y="1905000"/>
            <a:ext cx="10668000" cy="2905125"/>
            <a:chOff x="762000" y="1905000"/>
            <a:chExt cx="10668000" cy="2905125"/>
          </a:xfrm>
        </p:grpSpPr>
        <p:sp>
          <p:nvSpPr>
            <p:cNvPr id="5" name="Freeform 5"/>
            <p:cNvSpPr/>
            <p:nvPr/>
          </p:nvSpPr>
          <p:spPr>
            <a:xfrm>
              <a:off x="762000" y="1905000"/>
              <a:ext cx="5238750" cy="1428750"/>
            </a:xfrm>
            <a:custGeom>
              <a:avLst/>
              <a:gdLst/>
              <a:ahLst/>
              <a:cxnLst/>
              <a:rect l="l" t="t" r="r" b="b"/>
              <a:pathLst>
                <a:path w="5238750" h="1428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295400"/>
                  </a:lnTo>
                  <a:cubicBezTo>
                    <a:pt x="5238750" y="1369047"/>
                    <a:pt x="5179047" y="1428750"/>
                    <a:pt x="5105400" y="1428750"/>
                  </a:cubicBezTo>
                  <a:lnTo>
                    <a:pt x="133350" y="1428750"/>
                  </a:lnTo>
                  <a:cubicBezTo>
                    <a:pt x="59703" y="1428750"/>
                    <a:pt x="0" y="1369047"/>
                    <a:pt x="0" y="1295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19050">
              <a:solidFill>
                <a:srgbClr val="2E7D46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30605" y="2187892"/>
              <a:ext cx="15532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E7D46"/>
                  </a:solidFill>
                  <a:latin typeface="Segoe UI"/>
                  <a:ea typeface="Microsoft YaHei"/>
                  <a:cs typeface="Segoe UI"/>
                </a:rPr>
                <a:t>↓ LIKELIHOOD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2510" y="2556510"/>
              <a:ext cx="47522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I controlli riducono la probabilità che l'attacco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2510" y="2804160"/>
              <a:ext cx="3013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produca effetti downstream.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6191250" y="1905000"/>
              <a:ext cx="5238750" cy="1428750"/>
            </a:xfrm>
            <a:custGeom>
              <a:avLst/>
              <a:gdLst/>
              <a:ahLst/>
              <a:cxnLst/>
              <a:rect l="l" t="t" r="r" b="b"/>
              <a:pathLst>
                <a:path w="5238750" h="1428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295400"/>
                  </a:lnTo>
                  <a:cubicBezTo>
                    <a:pt x="5238750" y="1369047"/>
                    <a:pt x="5179047" y="1428750"/>
                    <a:pt x="5105400" y="1428750"/>
                  </a:cubicBezTo>
                  <a:lnTo>
                    <a:pt x="133350" y="1428750"/>
                  </a:lnTo>
                  <a:cubicBezTo>
                    <a:pt x="59703" y="1428750"/>
                    <a:pt x="0" y="1369047"/>
                    <a:pt x="0" y="1295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19050">
              <a:solidFill>
                <a:srgbClr val="C4362E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59855" y="2187892"/>
              <a:ext cx="25739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C4362E"/>
                  </a:solidFill>
                  <a:latin typeface="Segoe UI"/>
                  <a:ea typeface="Microsoft YaHei"/>
                  <a:cs typeface="Segoe UI"/>
                </a:rPr>
                <a:t>SEVERITY ANCORA ALTA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61760" y="2556510"/>
              <a:ext cx="43098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Se un controllo viene bypassato, l'impatto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61760" y="2804160"/>
              <a:ext cx="31268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potenziale resta significativo.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762000" y="3571875"/>
              <a:ext cx="10668000" cy="1238250"/>
            </a:xfrm>
            <a:custGeom>
              <a:avLst/>
              <a:gdLst/>
              <a:ahLst/>
              <a:cxnLst/>
              <a:rect l="l" t="t" r="r" b="b"/>
              <a:pathLst>
                <a:path w="10668000" h="1238250">
                  <a:moveTo>
                    <a:pt x="133350" y="0"/>
                  </a:moveTo>
                  <a:lnTo>
                    <a:pt x="10534650" y="0"/>
                  </a:lnTo>
                  <a:cubicBezTo>
                    <a:pt x="10608297" y="0"/>
                    <a:pt x="10668000" y="59703"/>
                    <a:pt x="10668000" y="133350"/>
                  </a:cubicBezTo>
                  <a:lnTo>
                    <a:pt x="10668000" y="1104900"/>
                  </a:lnTo>
                  <a:cubicBezTo>
                    <a:pt x="10668000" y="1178547"/>
                    <a:pt x="10608297" y="1238250"/>
                    <a:pt x="10534650" y="1238250"/>
                  </a:cubicBezTo>
                  <a:lnTo>
                    <a:pt x="133350" y="1238250"/>
                  </a:lnTo>
                  <a:cubicBezTo>
                    <a:pt x="59703" y="1238250"/>
                    <a:pt x="0" y="1178547"/>
                    <a:pt x="0" y="1104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19050">
              <a:solidFill>
                <a:srgbClr val="B8771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0605" y="3854768"/>
              <a:ext cx="36797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SC1 RESTA IL RISCHIO PRINCIPALE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2510" y="4213860"/>
              <a:ext cx="9288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La difesa da input linguistici avversariali dipende anche da controlli semantici probabilistici,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2510" y="4461510"/>
              <a:ext cx="77971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la cui efficacia sul Fast Path è il punto aperto più delicato dell'architettura.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762000" y="5095875"/>
            <a:ext cx="10668000" cy="857250"/>
          </a:xfrm>
          <a:custGeom>
            <a:avLst/>
            <a:gdLst/>
            <a:ahLst/>
            <a:cxnLst/>
            <a:rect l="l" t="t" r="r" b="b"/>
            <a:pathLst>
              <a:path w="10668000" h="857250">
                <a:moveTo>
                  <a:pt x="133350" y="0"/>
                </a:moveTo>
                <a:lnTo>
                  <a:pt x="10534650" y="0"/>
                </a:lnTo>
                <a:cubicBezTo>
                  <a:pt x="10608297" y="0"/>
                  <a:pt x="10668000" y="59703"/>
                  <a:pt x="10668000" y="133350"/>
                </a:cubicBezTo>
                <a:lnTo>
                  <a:pt x="10668000" y="723900"/>
                </a:lnTo>
                <a:cubicBezTo>
                  <a:pt x="10668000" y="797547"/>
                  <a:pt x="10608297" y="857250"/>
                  <a:pt x="10534650" y="857250"/>
                </a:cubicBezTo>
                <a:lnTo>
                  <a:pt x="133350" y="857250"/>
                </a:lnTo>
                <a:cubicBezTo>
                  <a:pt x="59703" y="857250"/>
                  <a:pt x="0" y="797547"/>
                  <a:pt x="0" y="723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Box 19"/>
          <p:cNvSpPr txBox="1"/>
          <p:nvPr/>
        </p:nvSpPr>
        <p:spPr>
          <a:xfrm>
            <a:off x="1032510" y="5318760"/>
            <a:ext cx="84349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Valutazione preliminare, non risultato sperimentale: il rischio residuo dovrà essere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2510" y="5566410"/>
            <a:ext cx="55854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confermato o rivisto attraverso il piano di validazione.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21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67E83B69-AD16-9593-5160-39675B528EAF}"/>
              </a:ext>
            </a:extLst>
          </p:cNvPr>
          <p:cNvSpPr/>
          <p:nvPr/>
        </p:nvSpPr>
        <p:spPr>
          <a:xfrm>
            <a:off x="725806" y="1008530"/>
            <a:ext cx="5484304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13215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LIMITAZIONI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740920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Sei limiti dichiarati del lavoro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62000" y="1809750"/>
            <a:ext cx="11277600" cy="3714750"/>
            <a:chOff x="762000" y="1809750"/>
            <a:chExt cx="11277600" cy="3714750"/>
          </a:xfrm>
        </p:grpSpPr>
        <p:sp>
          <p:nvSpPr>
            <p:cNvPr id="5" name="Freeform 5"/>
            <p:cNvSpPr/>
            <p:nvPr/>
          </p:nvSpPr>
          <p:spPr>
            <a:xfrm>
              <a:off x="762000" y="1809750"/>
              <a:ext cx="5238750" cy="1143000"/>
            </a:xfrm>
            <a:custGeom>
              <a:avLst/>
              <a:gdLst/>
              <a:ahLst/>
              <a:cxnLst/>
              <a:rect l="l" t="t" r="r" b="b"/>
              <a:pathLst>
                <a:path w="5238750" h="1143000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1028700"/>
                  </a:lnTo>
                  <a:cubicBezTo>
                    <a:pt x="5238750" y="1091826"/>
                    <a:pt x="5187576" y="1143000"/>
                    <a:pt x="512445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32510" y="2080260"/>
              <a:ext cx="33464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1 · Assenza di risultati empirici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3462" y="2393156"/>
              <a:ext cx="51206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Efficacia e overhead dei controlli ancora da misurare.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6191250" y="1809750"/>
              <a:ext cx="5238750" cy="1143000"/>
            </a:xfrm>
            <a:custGeom>
              <a:avLst/>
              <a:gdLst/>
              <a:ahLst/>
              <a:cxnLst/>
              <a:rect l="l" t="t" r="r" b="b"/>
              <a:pathLst>
                <a:path w="5238750" h="1143000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1028700"/>
                  </a:lnTo>
                  <a:cubicBezTo>
                    <a:pt x="5238750" y="1091826"/>
                    <a:pt x="5187576" y="1143000"/>
                    <a:pt x="512445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61760" y="2080260"/>
              <a:ext cx="39621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2 · Valutazione qualitativa del rischio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62712" y="2393156"/>
              <a:ext cx="55768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Likelihood e Severity su scala qualitativa, non quantitativa.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762000" y="3095625"/>
              <a:ext cx="5238750" cy="1143000"/>
            </a:xfrm>
            <a:custGeom>
              <a:avLst/>
              <a:gdLst/>
              <a:ahLst/>
              <a:cxnLst/>
              <a:rect l="l" t="t" r="r" b="b"/>
              <a:pathLst>
                <a:path w="5238750" h="1143000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1028700"/>
                  </a:lnTo>
                  <a:cubicBezTo>
                    <a:pt x="5238750" y="1091826"/>
                    <a:pt x="5187576" y="1143000"/>
                    <a:pt x="512445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2510" y="3366135"/>
              <a:ext cx="37893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3 · Dipendenza dall'implementazione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462" y="3679031"/>
              <a:ext cx="45998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Dipende da provider, protocolli e configurazioni.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191250" y="3095625"/>
              <a:ext cx="5238750" cy="1143000"/>
            </a:xfrm>
            <a:custGeom>
              <a:avLst/>
              <a:gdLst/>
              <a:ahLst/>
              <a:cxnLst/>
              <a:rect l="l" t="t" r="r" b="b"/>
              <a:pathLst>
                <a:path w="5238750" h="1143000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1028700"/>
                  </a:lnTo>
                  <a:cubicBezTo>
                    <a:pt x="5238750" y="1091826"/>
                    <a:pt x="5187576" y="1143000"/>
                    <a:pt x="512445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1760" y="3366135"/>
              <a:ext cx="39945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4 · Robustezza dei controlli semantici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2712" y="3679031"/>
              <a:ext cx="50917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Gli attacchi possono evolvere in risposta ai guardrail.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762000" y="4381500"/>
              <a:ext cx="5238750" cy="1143000"/>
            </a:xfrm>
            <a:custGeom>
              <a:avLst/>
              <a:gdLst/>
              <a:ahLst/>
              <a:cxnLst/>
              <a:rect l="l" t="t" r="r" b="b"/>
              <a:pathLst>
                <a:path w="5238750" h="1143000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1028700"/>
                  </a:lnTo>
                  <a:cubicBezTo>
                    <a:pt x="5238750" y="1091826"/>
                    <a:pt x="5187576" y="1143000"/>
                    <a:pt x="512445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2510" y="4652010"/>
              <a:ext cx="31304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5 · Componente socio-tecnica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3462" y="4964906"/>
              <a:ext cx="331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SC9 richiede studi con utenti reali.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191250" y="4381500"/>
              <a:ext cx="5238750" cy="1143000"/>
            </a:xfrm>
            <a:custGeom>
              <a:avLst/>
              <a:gdLst/>
              <a:ahLst/>
              <a:cxnLst/>
              <a:rect l="l" t="t" r="r" b="b"/>
              <a:pathLst>
                <a:path w="5238750" h="1143000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1028700"/>
                  </a:lnTo>
                  <a:cubicBezTo>
                    <a:pt x="5238750" y="1091826"/>
                    <a:pt x="5187576" y="1143000"/>
                    <a:pt x="512445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1760" y="4652010"/>
              <a:ext cx="34761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6 · Supply chain e servizi esterni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2712" y="4964906"/>
              <a:ext cx="55064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Il rischio dei provider rimane in parte fuori dal perimetro.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46760" y="6014085"/>
            <a:ext cx="112928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A4149"/>
                </a:solidFill>
                <a:latin typeface="Aptos"/>
                <a:ea typeface="Microsoft YaHei"/>
                <a:cs typeface="Aptos"/>
              </a:rPr>
              <a:t>Il threat model non è statico: nuove capacità, tool o livelli di autonomia richiedono una nuova iterazione dell'analisi.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22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01301035-5167-EBC4-AF86-B2F1F3B37AA8}"/>
              </a:ext>
            </a:extLst>
          </p:cNvPr>
          <p:cNvSpPr/>
          <p:nvPr/>
        </p:nvSpPr>
        <p:spPr>
          <a:xfrm>
            <a:off x="725806" y="1008530"/>
            <a:ext cx="5006400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14051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CONCLUSIONI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7050062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Quattro risultati del lavoro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62000" y="1857375"/>
            <a:ext cx="10668000" cy="4000500"/>
            <a:chOff x="762000" y="1857375"/>
            <a:chExt cx="10668000" cy="4000500"/>
          </a:xfrm>
        </p:grpSpPr>
        <p:sp>
          <p:nvSpPr>
            <p:cNvPr id="5" name="Freeform 5"/>
            <p:cNvSpPr/>
            <p:nvPr/>
          </p:nvSpPr>
          <p:spPr>
            <a:xfrm>
              <a:off x="762000" y="1857375"/>
              <a:ext cx="5238750" cy="1905000"/>
            </a:xfrm>
            <a:custGeom>
              <a:avLst/>
              <a:gdLst/>
              <a:ahLst/>
              <a:cxnLst/>
              <a:rect l="l" t="t" r="r" b="b"/>
              <a:pathLst>
                <a:path w="5238750" h="190500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771650"/>
                  </a:lnTo>
                  <a:cubicBezTo>
                    <a:pt x="5238750" y="1845297"/>
                    <a:pt x="5179047" y="1905000"/>
                    <a:pt x="5105400" y="1905000"/>
                  </a:cubicBezTo>
                  <a:lnTo>
                    <a:pt x="133350" y="1905000"/>
                  </a:lnTo>
                  <a:cubicBezTo>
                    <a:pt x="59703" y="1905000"/>
                    <a:pt x="0" y="1845297"/>
                    <a:pt x="0" y="1771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24890" y="2110740"/>
              <a:ext cx="2239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11605" y="2159318"/>
              <a:ext cx="38498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Threat modeling asset-centered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3462" y="2564606"/>
              <a:ext cx="41369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STRIDE-AI, CIA³-R e OWASP Agentic integrati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3462" y="2812256"/>
              <a:ext cx="43684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per collegare asset, trust boundary e scenari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3462" y="3059906"/>
              <a:ext cx="37415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d'attacco concreti sulla pipeline reale.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6191250" y="1857375"/>
              <a:ext cx="5238750" cy="1905000"/>
            </a:xfrm>
            <a:custGeom>
              <a:avLst/>
              <a:gdLst/>
              <a:ahLst/>
              <a:cxnLst/>
              <a:rect l="l" t="t" r="r" b="b"/>
              <a:pathLst>
                <a:path w="5238750" h="190500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771650"/>
                  </a:lnTo>
                  <a:cubicBezTo>
                    <a:pt x="5238750" y="1845297"/>
                    <a:pt x="5179047" y="1905000"/>
                    <a:pt x="5105400" y="1905000"/>
                  </a:cubicBezTo>
                  <a:lnTo>
                    <a:pt x="133350" y="1905000"/>
                  </a:lnTo>
                  <a:cubicBezTo>
                    <a:pt x="59703" y="1905000"/>
                    <a:pt x="0" y="1845297"/>
                    <a:pt x="0" y="1771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54140" y="2110740"/>
              <a:ext cx="2239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40855" y="2159318"/>
              <a:ext cx="32422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Rischi prioritari individuati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2712" y="2564606"/>
              <a:ext cx="39826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5 scenari principali: 2 critici (Goal Hijack,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2712" y="2812256"/>
              <a:ext cx="4146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Memory Poisoning) e 3 alti (Privilege Abuse,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2712" y="3059906"/>
              <a:ext cx="35486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Message Replay, Trust Exploitation).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762000" y="3952875"/>
              <a:ext cx="5238750" cy="1905000"/>
            </a:xfrm>
            <a:custGeom>
              <a:avLst/>
              <a:gdLst/>
              <a:ahLst/>
              <a:cxnLst/>
              <a:rect l="l" t="t" r="r" b="b"/>
              <a:pathLst>
                <a:path w="5238750" h="190500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771650"/>
                  </a:lnTo>
                  <a:cubicBezTo>
                    <a:pt x="5238750" y="1845297"/>
                    <a:pt x="5179047" y="1905000"/>
                    <a:pt x="5105400" y="1905000"/>
                  </a:cubicBezTo>
                  <a:lnTo>
                    <a:pt x="133350" y="1905000"/>
                  </a:lnTo>
                  <a:cubicBezTo>
                    <a:pt x="59703" y="1905000"/>
                    <a:pt x="0" y="1845297"/>
                    <a:pt x="0" y="1771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4890" y="4206240"/>
              <a:ext cx="2239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11605" y="4254818"/>
              <a:ext cx="24524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Secure architecture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3462" y="4660106"/>
              <a:ext cx="49181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Le sette precauzioni tradotte in controlli concreti: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4907756"/>
              <a:ext cx="43876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gli output probabilistici non producono effetti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5155406"/>
              <a:ext cx="39729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su stato, privilegi o risorse downstream.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191250" y="3952875"/>
              <a:ext cx="5238750" cy="1905000"/>
            </a:xfrm>
            <a:custGeom>
              <a:avLst/>
              <a:gdLst/>
              <a:ahLst/>
              <a:cxnLst/>
              <a:rect l="l" t="t" r="r" b="b"/>
              <a:pathLst>
                <a:path w="5238750" h="190500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771650"/>
                  </a:lnTo>
                  <a:cubicBezTo>
                    <a:pt x="5238750" y="1845297"/>
                    <a:pt x="5179047" y="1905000"/>
                    <a:pt x="5105400" y="1905000"/>
                  </a:cubicBezTo>
                  <a:lnTo>
                    <a:pt x="133350" y="1905000"/>
                  </a:lnTo>
                  <a:cubicBezTo>
                    <a:pt x="59703" y="1905000"/>
                    <a:pt x="0" y="1845297"/>
                    <a:pt x="0" y="1771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54140" y="4206240"/>
              <a:ext cx="2239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40855" y="4254818"/>
              <a:ext cx="42022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Sicurezza compatibile col real-time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2712" y="4660106"/>
              <a:ext cx="45323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Security control placement: controlli essenziali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2712" y="4907756"/>
              <a:ext cx="4223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sincroni sul Fast Path, verifiche onerose sul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2712" y="5155406"/>
              <a:ext cx="3297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Background Path o fuori dal turno.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23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D49B5001-32C3-49B2-73F1-D623DB1B1C8A}"/>
              </a:ext>
            </a:extLst>
          </p:cNvPr>
          <p:cNvSpPr/>
          <p:nvPr/>
        </p:nvSpPr>
        <p:spPr>
          <a:xfrm>
            <a:off x="725806" y="1008530"/>
            <a:ext cx="4535666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3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421273" y="2562225"/>
            <a:ext cx="9349454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5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Grazie per l'attenzione</a:t>
            </a:r>
          </a:p>
        </p:txBody>
      </p:sp>
      <p:sp>
        <p:nvSpPr>
          <p:cNvPr id="6" name="Line 6"/>
          <p:cNvSpPr/>
          <p:nvPr/>
        </p:nvSpPr>
        <p:spPr>
          <a:xfrm>
            <a:off x="5143500" y="3679062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2274570" y="3991048"/>
            <a:ext cx="7642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Alessio Bonora · Marta Finazzi — Sicurezza delle Architetture Data Intensive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2728</Words>
  <Application>Microsoft Office PowerPoint</Application>
  <PresentationFormat>Widescreen</PresentationFormat>
  <Paragraphs>523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Alessio Bonora</dc:creator>
  <cp:keywords/>
  <dc:description>generated using python-pptx</dc:description>
  <cp:lastModifiedBy>Alessio Bonora</cp:lastModifiedBy>
  <cp:revision>4</cp:revision>
  <dcterms:created xsi:type="dcterms:W3CDTF">2013-01-27T09:14:16Z</dcterms:created>
  <dcterms:modified xsi:type="dcterms:W3CDTF">2026-09-17T08:51:10Z</dcterms:modified>
  <cp:category/>
</cp:coreProperties>
</file>